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Liter" panose="020005030300000200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3"/>
    <p:restoredTop sz="94610"/>
  </p:normalViewPr>
  <p:slideViewPr>
    <p:cSldViewPr snapToGrid="0" snapToObjects="1">
      <p:cViewPr>
        <p:scale>
          <a:sx n="100" d="100"/>
          <a:sy n="100" d="100"/>
        </p:scale>
        <p:origin x="1984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092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b01a0cd77d21b11a2339c12e8a6c2cce286a3b94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695" b="69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09675"/>
            <a:ext cx="2676525" cy="381000"/>
          </a:xfrm>
          <a:custGeom>
            <a:avLst/>
            <a:gdLst/>
            <a:ahLst/>
            <a:cxnLst/>
            <a:rect l="l" t="t" r="r" b="b"/>
            <a:pathLst>
              <a:path w="2676525" h="381000">
                <a:moveTo>
                  <a:pt x="190500" y="0"/>
                </a:moveTo>
                <a:lnTo>
                  <a:pt x="2486025" y="0"/>
                </a:lnTo>
                <a:cubicBezTo>
                  <a:pt x="2591165" y="0"/>
                  <a:pt x="2676525" y="85360"/>
                  <a:pt x="2676525" y="190500"/>
                </a:cubicBezTo>
                <a:lnTo>
                  <a:pt x="2676525" y="190500"/>
                </a:lnTo>
                <a:cubicBezTo>
                  <a:pt x="2676525" y="295640"/>
                  <a:pt x="2591165" y="381000"/>
                  <a:pt x="248602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309688"/>
            <a:ext cx="24367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Processing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47875"/>
            <a:ext cx="6134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Analysis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NLP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909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Multi-Class Text Classification for Emotion Detection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19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6"/>
          <p:cNvSpPr/>
          <p:nvPr/>
        </p:nvSpPr>
        <p:spPr>
          <a:xfrm>
            <a:off x="526256" y="5334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5248275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500" y="5438775"/>
            <a:ext cx="1104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 Vectorization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05050" y="519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Shape 10"/>
          <p:cNvSpPr/>
          <p:nvPr/>
        </p:nvSpPr>
        <p:spPr>
          <a:xfrm>
            <a:off x="2450306" y="5334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2876550" y="524827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Evaluation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876550" y="5438775"/>
            <a:ext cx="129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SVC Performance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3"/>
          <p:cNvSpPr/>
          <p:nvPr/>
        </p:nvSpPr>
        <p:spPr>
          <a:xfrm>
            <a:off x="529010" y="16383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900" y="1562100"/>
            <a:ext cx="478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4900" y="1905000"/>
            <a:ext cx="4762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value of automated sentiment analysis for organizations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6528122" y="16383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24700" y="1562100"/>
            <a:ext cx="371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24700" y="1905000"/>
            <a:ext cx="3695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in analyzing unstructured text data at scale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0051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507281" y="3119438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4900" y="3043238"/>
            <a:ext cx="4229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" y="3386138"/>
            <a:ext cx="4210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an end-to-end NLP pipeline for emotion classification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30051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6527229" y="3119438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24700" y="3043238"/>
            <a:ext cx="3000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Understanding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24700" y="3386138"/>
            <a:ext cx="2981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exploration and quality assessment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4238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508918" y="43529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" y="427672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Evaluation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" y="4619625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classifier performance across metrics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4238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6526188" y="4352925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24700" y="4276725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24700" y="4619625"/>
            <a:ext cx="2295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findings from the analysis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4721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516210" y="558641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4900" y="5510213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Conclusions &amp; Recommendations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04900" y="5853113"/>
            <a:ext cx="436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guidance for implementation and future improvements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/ Business Context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Value of Automated Sentiment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238375"/>
            <a:ext cx="6829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619375"/>
            <a:ext cx="6810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organizations collect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volumes of unstructured textual data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from customer feedback, social media posts, support tickets, and online reviews. Manual analysis is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time-consuming, inconsistent, and difficult to scale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3590925"/>
            <a:ext cx="6829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Solution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3971925"/>
            <a:ext cx="6810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builds an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Natural Language Processing solution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automatically classifies text into four emotion categories: </a:t>
            </a:r>
            <a:r>
              <a:rPr lang="en-US" sz="1200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200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negative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200" b="1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r>
              <a:rPr lang="en-US" sz="1200" b="1" dirty="0">
                <a:solidFill>
                  <a:srgbClr val="D08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unknown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4695825"/>
            <a:ext cx="6829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5076825"/>
            <a:ext cx="6810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automating text classification, organizations can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 satisfaction trends, identify neutral messages, filter ambiguous content, and prioritize responses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high-impact feedback.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26598" y="1404938"/>
            <a:ext cx="4381500" cy="1533525"/>
          </a:xfrm>
          <a:custGeom>
            <a:avLst/>
            <a:gdLst/>
            <a:ahLst/>
            <a:cxnLst/>
            <a:rect l="l" t="t" r="r" b="b"/>
            <a:pathLst>
              <a:path w="4381500" h="1533525">
                <a:moveTo>
                  <a:pt x="152402" y="0"/>
                </a:moveTo>
                <a:lnTo>
                  <a:pt x="4229098" y="0"/>
                </a:lnTo>
                <a:cubicBezTo>
                  <a:pt x="4313211" y="0"/>
                  <a:pt x="4381500" y="68289"/>
                  <a:pt x="4381500" y="152402"/>
                </a:cubicBezTo>
                <a:lnTo>
                  <a:pt x="4381500" y="1381123"/>
                </a:lnTo>
                <a:cubicBezTo>
                  <a:pt x="4381500" y="1465236"/>
                  <a:pt x="4313211" y="1533525"/>
                  <a:pt x="4229098" y="1533525"/>
                </a:cubicBezTo>
                <a:lnTo>
                  <a:pt x="152402" y="1533525"/>
                </a:lnTo>
                <a:cubicBezTo>
                  <a:pt x="68289" y="1533525"/>
                  <a:pt x="0" y="1465236"/>
                  <a:pt x="0" y="13811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5996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781404" y="1771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8269560" y="173355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Understanding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59960" y="2247900"/>
            <a:ext cx="3990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rapid comprehension of public and customer sentiment at scale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26598" y="3138488"/>
            <a:ext cx="4381500" cy="1533525"/>
          </a:xfrm>
          <a:custGeom>
            <a:avLst/>
            <a:gdLst/>
            <a:ahLst/>
            <a:cxnLst/>
            <a:rect l="l" t="t" r="r" b="b"/>
            <a:pathLst>
              <a:path w="4381500" h="1533525">
                <a:moveTo>
                  <a:pt x="152402" y="0"/>
                </a:moveTo>
                <a:lnTo>
                  <a:pt x="4229098" y="0"/>
                </a:lnTo>
                <a:cubicBezTo>
                  <a:pt x="4313211" y="0"/>
                  <a:pt x="4381500" y="68289"/>
                  <a:pt x="4381500" y="152402"/>
                </a:cubicBezTo>
                <a:lnTo>
                  <a:pt x="4381500" y="1381123"/>
                </a:lnTo>
                <a:cubicBezTo>
                  <a:pt x="4381500" y="1465236"/>
                  <a:pt x="4313211" y="1533525"/>
                  <a:pt x="4229098" y="1533525"/>
                </a:cubicBezTo>
                <a:lnTo>
                  <a:pt x="152402" y="1533525"/>
                </a:lnTo>
                <a:cubicBezTo>
                  <a:pt x="68289" y="1533525"/>
                  <a:pt x="0" y="1465236"/>
                  <a:pt x="0" y="13811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59960" y="3371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769498" y="3505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8269560" y="3467100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UX Monitoring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59960" y="3981450"/>
            <a:ext cx="3990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tracking of user experience through continuous sentiment tracking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26598" y="4872038"/>
            <a:ext cx="4381500" cy="1533525"/>
          </a:xfrm>
          <a:custGeom>
            <a:avLst/>
            <a:gdLst/>
            <a:ahLst/>
            <a:cxnLst/>
            <a:rect l="l" t="t" r="r" b="b"/>
            <a:pathLst>
              <a:path w="4381500" h="1533525">
                <a:moveTo>
                  <a:pt x="152402" y="0"/>
                </a:moveTo>
                <a:lnTo>
                  <a:pt x="4229098" y="0"/>
                </a:lnTo>
                <a:cubicBezTo>
                  <a:pt x="4313211" y="0"/>
                  <a:pt x="4381500" y="68289"/>
                  <a:pt x="4381500" y="152402"/>
                </a:cubicBezTo>
                <a:lnTo>
                  <a:pt x="4381500" y="1381123"/>
                </a:lnTo>
                <a:cubicBezTo>
                  <a:pt x="4381500" y="1465236"/>
                  <a:pt x="4313211" y="1533525"/>
                  <a:pt x="4229098" y="1533525"/>
                </a:cubicBezTo>
                <a:lnTo>
                  <a:pt x="152402" y="1533525"/>
                </a:lnTo>
                <a:cubicBezTo>
                  <a:pt x="68289" y="1533525"/>
                  <a:pt x="0" y="1465236"/>
                  <a:pt x="0" y="13811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59960" y="5105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817123" y="5238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8269560" y="520065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Decisions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59960" y="5715000"/>
            <a:ext cx="3990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strategic decision-making through actionable insights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 of Text Analysis at Scale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6719" y="1295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3"/>
          <p:cNvSpPr/>
          <p:nvPr/>
        </p:nvSpPr>
        <p:spPr>
          <a:xfrm>
            <a:off x="619125" y="12573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Unstructured Data Complexity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600200"/>
            <a:ext cx="5638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Organizations rely on large volumes of unstructured text data to understand customer opinions. However, this data is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 to analyze at scale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because it is noisy, inconsistent, and highly variable in language, structure, and quality.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25336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619125" y="249555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Imbalance Issue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2838450"/>
            <a:ext cx="5638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dataset exhibits a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class imbalance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with the "none" category representing a significantly larger proportion compared to other classes. This makes it difficult to build models that perform reliably across all categories, especially for minority classes.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2906" y="40195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10815" y="20315"/>
                </a:moveTo>
                <a:cubicBezTo>
                  <a:pt x="215466" y="15664"/>
                  <a:pt x="215466" y="8111"/>
                  <a:pt x="210815" y="3460"/>
                </a:cubicBezTo>
                <a:cubicBezTo>
                  <a:pt x="206164" y="-1191"/>
                  <a:pt x="198611" y="-1191"/>
                  <a:pt x="193960" y="3460"/>
                </a:cubicBezTo>
                <a:lnTo>
                  <a:pt x="122523" y="74898"/>
                </a:lnTo>
                <a:lnTo>
                  <a:pt x="109612" y="61987"/>
                </a:lnTo>
                <a:cubicBezTo>
                  <a:pt x="108049" y="60424"/>
                  <a:pt x="105891" y="59531"/>
                  <a:pt x="103659" y="59531"/>
                </a:cubicBezTo>
                <a:cubicBezTo>
                  <a:pt x="99008" y="59531"/>
                  <a:pt x="95250" y="63289"/>
                  <a:pt x="95250" y="67940"/>
                </a:cubicBezTo>
                <a:lnTo>
                  <a:pt x="95250" y="78767"/>
                </a:lnTo>
                <a:lnTo>
                  <a:pt x="135545" y="119063"/>
                </a:lnTo>
                <a:lnTo>
                  <a:pt x="146372" y="119063"/>
                </a:lnTo>
                <a:cubicBezTo>
                  <a:pt x="151023" y="119063"/>
                  <a:pt x="154781" y="115305"/>
                  <a:pt x="154781" y="110654"/>
                </a:cubicBezTo>
                <a:cubicBezTo>
                  <a:pt x="154781" y="108421"/>
                  <a:pt x="153888" y="106263"/>
                  <a:pt x="152326" y="104701"/>
                </a:cubicBezTo>
                <a:lnTo>
                  <a:pt x="139415" y="91790"/>
                </a:lnTo>
                <a:lnTo>
                  <a:pt x="210852" y="20352"/>
                </a:lnTo>
                <a:close/>
                <a:moveTo>
                  <a:pt x="126913" y="131490"/>
                </a:moveTo>
                <a:lnTo>
                  <a:pt x="82823" y="87399"/>
                </a:lnTo>
                <a:cubicBezTo>
                  <a:pt x="66935" y="86023"/>
                  <a:pt x="51122" y="91753"/>
                  <a:pt x="39737" y="103138"/>
                </a:cubicBezTo>
                <a:lnTo>
                  <a:pt x="36761" y="106114"/>
                </a:lnTo>
                <a:cubicBezTo>
                  <a:pt x="28463" y="114412"/>
                  <a:pt x="23812" y="125648"/>
                  <a:pt x="23812" y="137368"/>
                </a:cubicBezTo>
                <a:cubicBezTo>
                  <a:pt x="23812" y="139898"/>
                  <a:pt x="26454" y="141536"/>
                  <a:pt x="28724" y="140419"/>
                </a:cubicBezTo>
                <a:lnTo>
                  <a:pt x="47737" y="130932"/>
                </a:lnTo>
                <a:cubicBezTo>
                  <a:pt x="49597" y="130001"/>
                  <a:pt x="51271" y="132457"/>
                  <a:pt x="49746" y="133871"/>
                </a:cubicBezTo>
                <a:lnTo>
                  <a:pt x="2716" y="176138"/>
                </a:lnTo>
                <a:cubicBezTo>
                  <a:pt x="1005" y="177701"/>
                  <a:pt x="0" y="179933"/>
                  <a:pt x="0" y="182277"/>
                </a:cubicBezTo>
                <a:cubicBezTo>
                  <a:pt x="0" y="186817"/>
                  <a:pt x="3683" y="190500"/>
                  <a:pt x="8223" y="190500"/>
                </a:cubicBezTo>
                <a:lnTo>
                  <a:pt x="72703" y="190500"/>
                </a:lnTo>
                <a:cubicBezTo>
                  <a:pt x="87139" y="190500"/>
                  <a:pt x="100943" y="184770"/>
                  <a:pt x="111175" y="174575"/>
                </a:cubicBezTo>
                <a:cubicBezTo>
                  <a:pt x="122560" y="163190"/>
                  <a:pt x="128253" y="147377"/>
                  <a:pt x="126913" y="13149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619125" y="398145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 Concerns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1000" y="4324350"/>
            <a:ext cx="5638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text contains noise such as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irrelevant tokens and informal language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which can negatively affect model performance if not properly cleaned and transformed into meaningful numerical representations.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3163" y="1262063"/>
            <a:ext cx="5553075" cy="2733675"/>
          </a:xfrm>
          <a:custGeom>
            <a:avLst/>
            <a:gdLst/>
            <a:ahLst/>
            <a:cxnLst/>
            <a:rect l="l" t="t" r="r" b="b"/>
            <a:pathLst>
              <a:path w="5553075" h="2733675">
                <a:moveTo>
                  <a:pt x="152402" y="0"/>
                </a:moveTo>
                <a:lnTo>
                  <a:pt x="5400673" y="0"/>
                </a:lnTo>
                <a:cubicBezTo>
                  <a:pt x="5484842" y="0"/>
                  <a:pt x="5553075" y="68233"/>
                  <a:pt x="5553075" y="152402"/>
                </a:cubicBezTo>
                <a:lnTo>
                  <a:pt x="5553075" y="2581273"/>
                </a:lnTo>
                <a:cubicBezTo>
                  <a:pt x="5553075" y="2665442"/>
                  <a:pt x="5484842" y="2733675"/>
                  <a:pt x="5400673" y="2733675"/>
                </a:cubicBezTo>
                <a:lnTo>
                  <a:pt x="152402" y="2733675"/>
                </a:lnTo>
                <a:cubicBezTo>
                  <a:pt x="68233" y="2733675"/>
                  <a:pt x="0" y="2665442"/>
                  <a:pt x="0" y="258127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86525" y="1495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Shape 13"/>
          <p:cNvSpPr/>
          <p:nvPr/>
        </p:nvSpPr>
        <p:spPr>
          <a:xfrm>
            <a:off x="6600825" y="1609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981825" y="1552575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Challenge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86525" y="2028825"/>
            <a:ext cx="516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and evaluate an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NLP pipeline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can reliably: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86525" y="2447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50819" y="25050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Text 18"/>
          <p:cNvSpPr/>
          <p:nvPr/>
        </p:nvSpPr>
        <p:spPr>
          <a:xfrm>
            <a:off x="6829425" y="2428875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raw text into structured features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86525" y="2809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50819" y="28670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6829425" y="2790825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Accurately perform multi-class emotion classification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86525" y="3171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50819" y="32289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6829425" y="3152775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Mitigate effects of class imbalance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86525" y="3533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50819" y="35909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6829425" y="351472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Minimize information leakage during evaluation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53163" y="5262563"/>
            <a:ext cx="5553075" cy="1209675"/>
          </a:xfrm>
          <a:custGeom>
            <a:avLst/>
            <a:gdLst/>
            <a:ahLst/>
            <a:cxnLst/>
            <a:rect l="l" t="t" r="r" b="b"/>
            <a:pathLst>
              <a:path w="5553075" h="1209675">
                <a:moveTo>
                  <a:pt x="152395" y="0"/>
                </a:moveTo>
                <a:lnTo>
                  <a:pt x="5400680" y="0"/>
                </a:lnTo>
                <a:cubicBezTo>
                  <a:pt x="5484789" y="0"/>
                  <a:pt x="5553075" y="68286"/>
                  <a:pt x="5553075" y="152395"/>
                </a:cubicBezTo>
                <a:lnTo>
                  <a:pt x="5553075" y="1057280"/>
                </a:lnTo>
                <a:cubicBezTo>
                  <a:pt x="5553075" y="1141389"/>
                  <a:pt x="5484789" y="1209675"/>
                  <a:pt x="5400680" y="1209675"/>
                </a:cubicBezTo>
                <a:lnTo>
                  <a:pt x="152395" y="1209675"/>
                </a:lnTo>
                <a:cubicBezTo>
                  <a:pt x="68286" y="1209675"/>
                  <a:pt x="0" y="1141389"/>
                  <a:pt x="0" y="105728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86525" y="5495925"/>
            <a:ext cx="5162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</a:t>
            </a: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Establish a robust and reproducible workflow for text preprocessing, feature extraction, and supervised learning that generalizes well to unseen data and supports real-world business use cases.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Project Objectives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a Comprehensive NLP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04938"/>
            <a:ext cx="11420475" cy="1571625"/>
          </a:xfrm>
          <a:custGeom>
            <a:avLst/>
            <a:gdLst/>
            <a:ahLst/>
            <a:cxnLst/>
            <a:rect l="l" t="t" r="r" b="b"/>
            <a:pathLst>
              <a:path w="11420475" h="1571625">
                <a:moveTo>
                  <a:pt x="152400" y="0"/>
                </a:moveTo>
                <a:lnTo>
                  <a:pt x="11268075" y="0"/>
                </a:lnTo>
                <a:cubicBezTo>
                  <a:pt x="11352243" y="0"/>
                  <a:pt x="11420475" y="68232"/>
                  <a:pt x="11420475" y="152400"/>
                </a:cubicBezTo>
                <a:lnTo>
                  <a:pt x="11420475" y="1419225"/>
                </a:lnTo>
                <a:cubicBezTo>
                  <a:pt x="11420475" y="1503393"/>
                  <a:pt x="11352243" y="1571625"/>
                  <a:pt x="11268075" y="1571625"/>
                </a:cubicBezTo>
                <a:lnTo>
                  <a:pt x="152400" y="1571625"/>
                </a:lnTo>
                <a:cubicBezTo>
                  <a:pt x="68232" y="1571625"/>
                  <a:pt x="0" y="1503393"/>
                  <a:pt x="0" y="1419225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752475" y="1771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28725" y="171450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247900"/>
            <a:ext cx="11029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an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Natural Language Processing pipeline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automated multi-class text classification that accurately categorizes text data into positive, negative, none, and unknown emotion classes, and evaluates the performance of different machine learning models on an imbalanced dataset.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3171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5300" y="3286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322897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 Objectives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743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514350" y="36671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Explore dataset structure and emotion label distribution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42767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514350" y="4200525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and preprocess raw text by removing noise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4581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514350" y="4505325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text using TF-IDF vectorization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886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" y="48101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ML pipelines integrating vectorization and classification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54197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514350" y="53435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and evaluate Logistic Regression, Naïve Bayes, and Linear SVM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5953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514350" y="58769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 performance using accuracy, precision, recall, and F1-score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67200" y="3171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81500" y="3286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0"/>
                </a:moveTo>
                <a:cubicBezTo>
                  <a:pt x="44500" y="0"/>
                  <a:pt x="38100" y="6400"/>
                  <a:pt x="38100" y="14288"/>
                </a:cubicBezTo>
                <a:lnTo>
                  <a:pt x="38100" y="76200"/>
                </a:lnTo>
                <a:cubicBezTo>
                  <a:pt x="38100" y="84088"/>
                  <a:pt x="44500" y="90488"/>
                  <a:pt x="52388" y="90488"/>
                </a:cubicBezTo>
                <a:lnTo>
                  <a:pt x="71438" y="90488"/>
                </a:lnTo>
                <a:cubicBezTo>
                  <a:pt x="79325" y="90488"/>
                  <a:pt x="85725" y="84088"/>
                  <a:pt x="85725" y="76200"/>
                </a:cubicBezTo>
                <a:lnTo>
                  <a:pt x="85725" y="57150"/>
                </a:lnTo>
                <a:lnTo>
                  <a:pt x="95250" y="57150"/>
                </a:lnTo>
                <a:cubicBezTo>
                  <a:pt x="116294" y="57150"/>
                  <a:pt x="133350" y="74206"/>
                  <a:pt x="133350" y="95250"/>
                </a:cubicBezTo>
                <a:cubicBezTo>
                  <a:pt x="133350" y="116294"/>
                  <a:pt x="116294" y="133350"/>
                  <a:pt x="95250" y="133350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42875" y="152400"/>
                </a:lnTo>
                <a:cubicBezTo>
                  <a:pt x="148144" y="152400"/>
                  <a:pt x="152400" y="148144"/>
                  <a:pt x="152400" y="142875"/>
                </a:cubicBezTo>
                <a:cubicBezTo>
                  <a:pt x="152400" y="137606"/>
                  <a:pt x="148144" y="133350"/>
                  <a:pt x="142875" y="133350"/>
                </a:cubicBezTo>
                <a:lnTo>
                  <a:pt x="137845" y="133350"/>
                </a:lnTo>
                <a:cubicBezTo>
                  <a:pt x="146893" y="123230"/>
                  <a:pt x="152400" y="109895"/>
                  <a:pt x="152400" y="95250"/>
                </a:cubicBezTo>
                <a:cubicBezTo>
                  <a:pt x="152400" y="63698"/>
                  <a:pt x="126802" y="38100"/>
                  <a:pt x="95250" y="38100"/>
                </a:cubicBezTo>
                <a:lnTo>
                  <a:pt x="85725" y="38100"/>
                </a:lnTo>
                <a:lnTo>
                  <a:pt x="85725" y="14288"/>
                </a:lnTo>
                <a:cubicBezTo>
                  <a:pt x="85725" y="6400"/>
                  <a:pt x="79325" y="0"/>
                  <a:pt x="71438" y="0"/>
                </a:cubicBezTo>
                <a:lnTo>
                  <a:pt x="52388" y="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88106" y="119062"/>
                </a:lnTo>
                <a:cubicBezTo>
                  <a:pt x="92065" y="119062"/>
                  <a:pt x="95250" y="115878"/>
                  <a:pt x="95250" y="111919"/>
                </a:cubicBezTo>
                <a:cubicBezTo>
                  <a:pt x="95250" y="107960"/>
                  <a:pt x="92065" y="104775"/>
                  <a:pt x="88106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4762500" y="3228975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67200" y="3743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4400550" y="36671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Investigate how different linear classifiers perform on imbalanced multi-class problems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67200" y="42767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Text 28"/>
          <p:cNvSpPr/>
          <p:nvPr/>
        </p:nvSpPr>
        <p:spPr>
          <a:xfrm>
            <a:off x="4400550" y="42005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Examine TF-IDF feature engineering effects, including n-grams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67200" y="4810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Text 30"/>
          <p:cNvSpPr/>
          <p:nvPr/>
        </p:nvSpPr>
        <p:spPr>
          <a:xfrm>
            <a:off x="4400550" y="47339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Determine which model provides the most balanced and reliable performance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53400" y="3171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286750" y="32861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Text 33"/>
          <p:cNvSpPr/>
          <p:nvPr/>
        </p:nvSpPr>
        <p:spPr>
          <a:xfrm>
            <a:off x="8648700" y="3228975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Criteria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53400" y="3743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8286750" y="36671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Models correctly perform multi-class emotion classification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53400" y="42767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8286750" y="42005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least one model demonstrates improved balanced performance across minority classes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53400" y="4810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9"/>
          <p:cNvSpPr/>
          <p:nvPr/>
        </p:nvSpPr>
        <p:spPr>
          <a:xfrm>
            <a:off x="8286750" y="4733925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avoids data leakage by separating training and testing data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Data Understanding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Exploration and Quality Assessment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576388"/>
            <a:ext cx="5553075" cy="1819275"/>
          </a:xfrm>
          <a:custGeom>
            <a:avLst/>
            <a:gdLst/>
            <a:ahLst/>
            <a:cxnLst/>
            <a:rect l="l" t="t" r="r" b="b"/>
            <a:pathLst>
              <a:path w="5553075" h="1819275">
                <a:moveTo>
                  <a:pt x="152401" y="0"/>
                </a:moveTo>
                <a:lnTo>
                  <a:pt x="5400674" y="0"/>
                </a:lnTo>
                <a:cubicBezTo>
                  <a:pt x="5484843" y="0"/>
                  <a:pt x="5553075" y="68232"/>
                  <a:pt x="5553075" y="152401"/>
                </a:cubicBezTo>
                <a:lnTo>
                  <a:pt x="5553075" y="1666874"/>
                </a:lnTo>
                <a:cubicBezTo>
                  <a:pt x="5553075" y="1751043"/>
                  <a:pt x="5484843" y="1819275"/>
                  <a:pt x="5400674" y="1819275"/>
                </a:cubicBezTo>
                <a:lnTo>
                  <a:pt x="152401" y="1819275"/>
                </a:lnTo>
                <a:cubicBezTo>
                  <a:pt x="68232" y="1819275"/>
                  <a:pt x="0" y="1751043"/>
                  <a:pt x="0" y="1666874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809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764381" y="19431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28725" y="1905000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Source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419350"/>
            <a:ext cx="5162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uses a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of tweets from Data.World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build a model that classifies the presence and polarity of emotions directed at brands or products.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3595688"/>
            <a:ext cx="5553075" cy="2562225"/>
          </a:xfrm>
          <a:custGeom>
            <a:avLst/>
            <a:gdLst/>
            <a:ahLst/>
            <a:cxnLst/>
            <a:rect l="l" t="t" r="r" b="b"/>
            <a:pathLst>
              <a:path w="5553075" h="2562225">
                <a:moveTo>
                  <a:pt x="152401" y="0"/>
                </a:moveTo>
                <a:lnTo>
                  <a:pt x="5400674" y="0"/>
                </a:lnTo>
                <a:cubicBezTo>
                  <a:pt x="5484786" y="0"/>
                  <a:pt x="5553075" y="68289"/>
                  <a:pt x="5553075" y="152401"/>
                </a:cubicBezTo>
                <a:lnTo>
                  <a:pt x="5553075" y="2409824"/>
                </a:lnTo>
                <a:cubicBezTo>
                  <a:pt x="5553075" y="2493936"/>
                  <a:pt x="5484786" y="2562225"/>
                  <a:pt x="5400674" y="2562225"/>
                </a:cubicBezTo>
                <a:lnTo>
                  <a:pt x="152401" y="2562225"/>
                </a:lnTo>
                <a:cubicBezTo>
                  <a:pt x="68289" y="2562225"/>
                  <a:pt x="0" y="2493936"/>
                  <a:pt x="0" y="2409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125" y="3829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Shape 9"/>
          <p:cNvSpPr/>
          <p:nvPr/>
        </p:nvSpPr>
        <p:spPr>
          <a:xfrm>
            <a:off x="752475" y="3962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28725" y="392430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Components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449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5325" y="4572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1438"/>
                </a:moveTo>
                <a:cubicBezTo>
                  <a:pt x="152400" y="110877"/>
                  <a:pt x="118289" y="142875"/>
                  <a:pt x="76200" y="142875"/>
                </a:cubicBezTo>
                <a:cubicBezTo>
                  <a:pt x="65157" y="142875"/>
                  <a:pt x="54679" y="140672"/>
                  <a:pt x="45214" y="136714"/>
                </a:cubicBezTo>
                <a:lnTo>
                  <a:pt x="9971" y="151834"/>
                </a:lnTo>
                <a:cubicBezTo>
                  <a:pt x="7174" y="153025"/>
                  <a:pt x="3959" y="152340"/>
                  <a:pt x="1905" y="150108"/>
                </a:cubicBezTo>
                <a:cubicBezTo>
                  <a:pt x="-149" y="147876"/>
                  <a:pt x="-595" y="144601"/>
                  <a:pt x="833" y="141923"/>
                </a:cubicBezTo>
                <a:lnTo>
                  <a:pt x="15359" y="114479"/>
                </a:lnTo>
                <a:cubicBezTo>
                  <a:pt x="5715" y="102483"/>
                  <a:pt x="0" y="87600"/>
                  <a:pt x="0" y="71438"/>
                </a:cubicBezTo>
                <a:cubicBezTo>
                  <a:pt x="0" y="31998"/>
                  <a:pt x="34111" y="0"/>
                  <a:pt x="76200" y="0"/>
                </a:cubicBezTo>
                <a:cubicBezTo>
                  <a:pt x="118289" y="0"/>
                  <a:pt x="152400" y="31998"/>
                  <a:pt x="152400" y="714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1038225" y="443865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Tweet Text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8225" y="4667250"/>
            <a:ext cx="208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Unprocessed social media content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" y="5029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5325" y="5105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674" y="28575"/>
                </a:moveTo>
                <a:lnTo>
                  <a:pt x="9674" y="73075"/>
                </a:lnTo>
                <a:cubicBezTo>
                  <a:pt x="9674" y="78135"/>
                  <a:pt x="11668" y="82987"/>
                  <a:pt x="15240" y="86558"/>
                </a:cubicBezTo>
                <a:lnTo>
                  <a:pt x="72390" y="143708"/>
                </a:lnTo>
                <a:cubicBezTo>
                  <a:pt x="79831" y="151150"/>
                  <a:pt x="91886" y="151150"/>
                  <a:pt x="99328" y="143708"/>
                </a:cubicBezTo>
                <a:lnTo>
                  <a:pt x="143828" y="99209"/>
                </a:lnTo>
                <a:cubicBezTo>
                  <a:pt x="151269" y="91767"/>
                  <a:pt x="151269" y="79712"/>
                  <a:pt x="143828" y="72271"/>
                </a:cubicBezTo>
                <a:lnTo>
                  <a:pt x="86678" y="15121"/>
                </a:lnTo>
                <a:cubicBezTo>
                  <a:pt x="83106" y="11519"/>
                  <a:pt x="78284" y="9525"/>
                  <a:pt x="73223" y="9525"/>
                </a:cubicBezTo>
                <a:lnTo>
                  <a:pt x="28724" y="9525"/>
                </a:lnTo>
                <a:cubicBezTo>
                  <a:pt x="18217" y="9525"/>
                  <a:pt x="9674" y="18068"/>
                  <a:pt x="9674" y="28575"/>
                </a:cubicBezTo>
                <a:close/>
                <a:moveTo>
                  <a:pt x="43011" y="33338"/>
                </a:moveTo>
                <a:cubicBezTo>
                  <a:pt x="48268" y="33338"/>
                  <a:pt x="52536" y="37606"/>
                  <a:pt x="52536" y="42863"/>
                </a:cubicBezTo>
                <a:cubicBezTo>
                  <a:pt x="52536" y="48119"/>
                  <a:pt x="48268" y="52388"/>
                  <a:pt x="43011" y="52388"/>
                </a:cubicBezTo>
                <a:cubicBezTo>
                  <a:pt x="37754" y="52388"/>
                  <a:pt x="33486" y="48119"/>
                  <a:pt x="33486" y="42863"/>
                </a:cubicBezTo>
                <a:cubicBezTo>
                  <a:pt x="33486" y="37606"/>
                  <a:pt x="37754" y="33338"/>
                  <a:pt x="43011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1038225" y="49720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Brand/Product Reference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38225" y="5200650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entity mentioned in tweet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125" y="556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95325" y="5638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232" y="95816"/>
                </a:moveTo>
                <a:cubicBezTo>
                  <a:pt x="55305" y="104150"/>
                  <a:pt x="65127" y="109537"/>
                  <a:pt x="76200" y="109537"/>
                </a:cubicBezTo>
                <a:cubicBezTo>
                  <a:pt x="87273" y="109537"/>
                  <a:pt x="97095" y="104150"/>
                  <a:pt x="103168" y="95816"/>
                </a:cubicBezTo>
                <a:cubicBezTo>
                  <a:pt x="105489" y="92631"/>
                  <a:pt x="109954" y="91916"/>
                  <a:pt x="113139" y="94238"/>
                </a:cubicBezTo>
                <a:cubicBezTo>
                  <a:pt x="116324" y="96560"/>
                  <a:pt x="117038" y="101025"/>
                  <a:pt x="114717" y="104209"/>
                </a:cubicBezTo>
                <a:cubicBezTo>
                  <a:pt x="106055" y="116086"/>
                  <a:pt x="92035" y="123825"/>
                  <a:pt x="76200" y="123825"/>
                </a:cubicBezTo>
                <a:cubicBezTo>
                  <a:pt x="60365" y="123825"/>
                  <a:pt x="46345" y="116086"/>
                  <a:pt x="37683" y="104209"/>
                </a:cubicBezTo>
                <a:cubicBezTo>
                  <a:pt x="35362" y="101025"/>
                  <a:pt x="36076" y="96560"/>
                  <a:pt x="39261" y="94238"/>
                </a:cubicBezTo>
                <a:cubicBezTo>
                  <a:pt x="42446" y="91916"/>
                  <a:pt x="46911" y="92631"/>
                  <a:pt x="49232" y="95816"/>
                </a:cubicBezTo>
                <a:close/>
                <a:moveTo>
                  <a:pt x="42863" y="61912"/>
                </a:moveTo>
                <a:cubicBezTo>
                  <a:pt x="42863" y="56656"/>
                  <a:pt x="47131" y="52388"/>
                  <a:pt x="52388" y="52388"/>
                </a:cubicBezTo>
                <a:cubicBezTo>
                  <a:pt x="57644" y="52388"/>
                  <a:pt x="61912" y="56656"/>
                  <a:pt x="61912" y="61912"/>
                </a:cubicBezTo>
                <a:cubicBezTo>
                  <a:pt x="61912" y="67169"/>
                  <a:pt x="57644" y="71438"/>
                  <a:pt x="52388" y="71438"/>
                </a:cubicBezTo>
                <a:cubicBezTo>
                  <a:pt x="47131" y="71438"/>
                  <a:pt x="42863" y="67169"/>
                  <a:pt x="42863" y="61912"/>
                </a:cubicBezTo>
                <a:close/>
                <a:moveTo>
                  <a:pt x="100013" y="52388"/>
                </a:moveTo>
                <a:cubicBezTo>
                  <a:pt x="105269" y="52388"/>
                  <a:pt x="109537" y="56656"/>
                  <a:pt x="109537" y="61912"/>
                </a:cubicBezTo>
                <a:cubicBezTo>
                  <a:pt x="109537" y="67169"/>
                  <a:pt x="105269" y="71438"/>
                  <a:pt x="100013" y="71438"/>
                </a:cubicBezTo>
                <a:cubicBezTo>
                  <a:pt x="94756" y="71438"/>
                  <a:pt x="90488" y="67169"/>
                  <a:pt x="90488" y="61912"/>
                </a:cubicBezTo>
                <a:cubicBezTo>
                  <a:pt x="90488" y="56656"/>
                  <a:pt x="94756" y="52388"/>
                  <a:pt x="100013" y="5238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1038225" y="5505450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 Label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8225" y="5734050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Positive, negative, none, or unknown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53163" y="1528763"/>
            <a:ext cx="5553075" cy="3267075"/>
          </a:xfrm>
          <a:custGeom>
            <a:avLst/>
            <a:gdLst/>
            <a:ahLst/>
            <a:cxnLst/>
            <a:rect l="l" t="t" r="r" b="b"/>
            <a:pathLst>
              <a:path w="5553075" h="3267075">
                <a:moveTo>
                  <a:pt x="152409" y="0"/>
                </a:moveTo>
                <a:lnTo>
                  <a:pt x="5400666" y="0"/>
                </a:lnTo>
                <a:cubicBezTo>
                  <a:pt x="5484839" y="0"/>
                  <a:pt x="5553075" y="68236"/>
                  <a:pt x="5553075" y="152409"/>
                </a:cubicBezTo>
                <a:lnTo>
                  <a:pt x="5553075" y="3114666"/>
                </a:lnTo>
                <a:cubicBezTo>
                  <a:pt x="5553075" y="3198839"/>
                  <a:pt x="5484839" y="3267075"/>
                  <a:pt x="5400666" y="3267075"/>
                </a:cubicBezTo>
                <a:lnTo>
                  <a:pt x="152409" y="3267075"/>
                </a:lnTo>
                <a:cubicBezTo>
                  <a:pt x="68236" y="3267075"/>
                  <a:pt x="0" y="3198839"/>
                  <a:pt x="0" y="3114666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86525" y="1762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Shape 25"/>
          <p:cNvSpPr/>
          <p:nvPr/>
        </p:nvSpPr>
        <p:spPr>
          <a:xfrm>
            <a:off x="6619875" y="1895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096125" y="1857375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Exploration Goals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86525" y="2371725"/>
            <a:ext cx="5162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goal of this stage is to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the dataset's structure and content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This includes: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86525" y="3038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50819" y="30956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Text 30"/>
          <p:cNvSpPr/>
          <p:nvPr/>
        </p:nvSpPr>
        <p:spPr>
          <a:xfrm>
            <a:off x="6829425" y="3019425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Reviewing the features and data types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86525" y="3362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50819" y="34194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Text 33"/>
          <p:cNvSpPr/>
          <p:nvPr/>
        </p:nvSpPr>
        <p:spPr>
          <a:xfrm>
            <a:off x="6829425" y="3343275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Identifying potential quality issues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86525" y="3686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50819" y="37433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Text 36"/>
          <p:cNvSpPr/>
          <p:nvPr/>
        </p:nvSpPr>
        <p:spPr>
          <a:xfrm>
            <a:off x="6829425" y="3667125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Detecting missing values and duplicates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86525" y="4010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50819" y="40671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9"/>
          <p:cNvSpPr/>
          <p:nvPr/>
        </p:nvSpPr>
        <p:spPr>
          <a:xfrm>
            <a:off x="6829425" y="399097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Analyzing class imbalance patterns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86525" y="4333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50819" y="43910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4" name="Text 42"/>
          <p:cNvSpPr/>
          <p:nvPr/>
        </p:nvSpPr>
        <p:spPr>
          <a:xfrm>
            <a:off x="6829425" y="4314825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Identifying corrupted or anomalous entries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53163" y="4995863"/>
            <a:ext cx="5553075" cy="1209675"/>
          </a:xfrm>
          <a:custGeom>
            <a:avLst/>
            <a:gdLst/>
            <a:ahLst/>
            <a:cxnLst/>
            <a:rect l="l" t="t" r="r" b="b"/>
            <a:pathLst>
              <a:path w="5553075" h="1209675">
                <a:moveTo>
                  <a:pt x="152395" y="0"/>
                </a:moveTo>
                <a:lnTo>
                  <a:pt x="5400680" y="0"/>
                </a:lnTo>
                <a:cubicBezTo>
                  <a:pt x="5484789" y="0"/>
                  <a:pt x="5553075" y="68286"/>
                  <a:pt x="5553075" y="152395"/>
                </a:cubicBezTo>
                <a:lnTo>
                  <a:pt x="5553075" y="1057280"/>
                </a:lnTo>
                <a:cubicBezTo>
                  <a:pt x="5553075" y="1141389"/>
                  <a:pt x="5484789" y="1209675"/>
                  <a:pt x="5400680" y="1209675"/>
                </a:cubicBezTo>
                <a:lnTo>
                  <a:pt x="152395" y="1209675"/>
                </a:lnTo>
                <a:cubicBezTo>
                  <a:pt x="68286" y="1209675"/>
                  <a:pt x="0" y="1141389"/>
                  <a:pt x="0" y="105728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24625" y="52768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7" name="Text 45"/>
          <p:cNvSpPr/>
          <p:nvPr/>
        </p:nvSpPr>
        <p:spPr>
          <a:xfrm>
            <a:off x="6734175" y="5229225"/>
            <a:ext cx="4914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Insight:</a:t>
            </a: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exploring the data at this stage, it is possible to detect quality concerns and inform decisions for text cleaning, preprocessing, and subsequent NLP model development.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940" y="363940"/>
            <a:ext cx="1152780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kern="0" spc="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Model Evaluation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3940" y="618699"/>
            <a:ext cx="11627893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9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Model Performance Comparison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8490" y="1205552"/>
            <a:ext cx="11455021" cy="3721290"/>
          </a:xfrm>
          <a:custGeom>
            <a:avLst/>
            <a:gdLst/>
            <a:ahLst/>
            <a:cxnLst/>
            <a:rect l="l" t="t" r="r" b="b"/>
            <a:pathLst>
              <a:path w="11455021" h="3721290">
                <a:moveTo>
                  <a:pt x="145577" y="0"/>
                </a:moveTo>
                <a:lnTo>
                  <a:pt x="11309444" y="0"/>
                </a:lnTo>
                <a:cubicBezTo>
                  <a:pt x="11389844" y="0"/>
                  <a:pt x="11455021" y="65177"/>
                  <a:pt x="11455021" y="145577"/>
                </a:cubicBezTo>
                <a:lnTo>
                  <a:pt x="11455021" y="3575713"/>
                </a:lnTo>
                <a:cubicBezTo>
                  <a:pt x="11455021" y="3656113"/>
                  <a:pt x="11389844" y="3721290"/>
                  <a:pt x="11309444" y="3721290"/>
                </a:cubicBezTo>
                <a:lnTo>
                  <a:pt x="145577" y="3721290"/>
                </a:lnTo>
                <a:cubicBezTo>
                  <a:pt x="65177" y="3721290"/>
                  <a:pt x="0" y="3656113"/>
                  <a:pt x="0" y="3575713"/>
                </a:cubicBezTo>
                <a:lnTo>
                  <a:pt x="0" y="145577"/>
                </a:lnTo>
                <a:cubicBezTo>
                  <a:pt x="0" y="65231"/>
                  <a:pt x="65231" y="0"/>
                  <a:pt x="14557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1403" y="1428466"/>
            <a:ext cx="11081982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performance of three tuned models—Logistic Regression, Multinomial Naive Bayes, and Linear SVC—was evaluated on the test set using multiple metrics:</a:t>
            </a:r>
            <a:endParaRPr lang="en-US" sz="1600" dirty="0"/>
          </a:p>
        </p:txBody>
      </p:sp>
      <p:pic>
        <p:nvPicPr>
          <p:cNvPr id="6" name="Image 0" descr="https://kimi-img.moonshot.cn/pub/slides/26-02-05-01:32:31-d61o5brv466jiu3d3vt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1403" y="1792406"/>
            <a:ext cx="10463284" cy="2911522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59393" y="5067868"/>
            <a:ext cx="3693994" cy="1737815"/>
          </a:xfrm>
          <a:custGeom>
            <a:avLst/>
            <a:gdLst/>
            <a:ahLst/>
            <a:cxnLst/>
            <a:rect l="l" t="t" r="r" b="b"/>
            <a:pathLst>
              <a:path w="3693994" h="1737815">
                <a:moveTo>
                  <a:pt x="109187" y="0"/>
                </a:moveTo>
                <a:lnTo>
                  <a:pt x="3584807" y="0"/>
                </a:lnTo>
                <a:cubicBezTo>
                  <a:pt x="3645109" y="0"/>
                  <a:pt x="3693994" y="48885"/>
                  <a:pt x="3693994" y="109187"/>
                </a:cubicBezTo>
                <a:lnTo>
                  <a:pt x="3693994" y="1628628"/>
                </a:lnTo>
                <a:cubicBezTo>
                  <a:pt x="3693994" y="1688930"/>
                  <a:pt x="3645109" y="1737815"/>
                  <a:pt x="3584807" y="1737815"/>
                </a:cubicBezTo>
                <a:lnTo>
                  <a:pt x="109187" y="1737815"/>
                </a:lnTo>
                <a:cubicBezTo>
                  <a:pt x="48885" y="1737815"/>
                  <a:pt x="0" y="1688930"/>
                  <a:pt x="0" y="1628628"/>
                </a:cubicBezTo>
                <a:lnTo>
                  <a:pt x="0" y="109187"/>
                </a:lnTo>
                <a:cubicBezTo>
                  <a:pt x="0" y="48925"/>
                  <a:pt x="48925" y="0"/>
                  <a:pt x="10918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5009" y="5304430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72788" y="0"/>
                </a:moveTo>
                <a:lnTo>
                  <a:pt x="291152" y="0"/>
                </a:lnTo>
                <a:cubicBezTo>
                  <a:pt x="331352" y="0"/>
                  <a:pt x="363940" y="32588"/>
                  <a:pt x="363940" y="72788"/>
                </a:cubicBezTo>
                <a:lnTo>
                  <a:pt x="363940" y="291152"/>
                </a:lnTo>
                <a:cubicBezTo>
                  <a:pt x="363940" y="331352"/>
                  <a:pt x="331352" y="363940"/>
                  <a:pt x="291152" y="363940"/>
                </a:cubicBezTo>
                <a:lnTo>
                  <a:pt x="72788" y="363940"/>
                </a:lnTo>
                <a:cubicBezTo>
                  <a:pt x="32588" y="363940"/>
                  <a:pt x="0" y="331352"/>
                  <a:pt x="0" y="291152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9" name="Shape 6"/>
          <p:cNvSpPr/>
          <p:nvPr/>
        </p:nvSpPr>
        <p:spPr>
          <a:xfrm>
            <a:off x="664191" y="5413612"/>
            <a:ext cx="145576" cy="145576"/>
          </a:xfrm>
          <a:custGeom>
            <a:avLst/>
            <a:gdLst/>
            <a:ahLst/>
            <a:cxnLst/>
            <a:rect l="l" t="t" r="r" b="b"/>
            <a:pathLst>
              <a:path w="145576" h="145576">
                <a:moveTo>
                  <a:pt x="18197" y="18197"/>
                </a:moveTo>
                <a:cubicBezTo>
                  <a:pt x="18197" y="13164"/>
                  <a:pt x="14131" y="9099"/>
                  <a:pt x="9099" y="9099"/>
                </a:cubicBezTo>
                <a:cubicBezTo>
                  <a:pt x="4066" y="9099"/>
                  <a:pt x="0" y="13164"/>
                  <a:pt x="0" y="18197"/>
                </a:cubicBezTo>
                <a:lnTo>
                  <a:pt x="0" y="113731"/>
                </a:lnTo>
                <a:cubicBezTo>
                  <a:pt x="0" y="126299"/>
                  <a:pt x="10179" y="136478"/>
                  <a:pt x="22746" y="136478"/>
                </a:cubicBezTo>
                <a:lnTo>
                  <a:pt x="136478" y="136478"/>
                </a:lnTo>
                <a:cubicBezTo>
                  <a:pt x="141510" y="136478"/>
                  <a:pt x="145576" y="132412"/>
                  <a:pt x="145576" y="127379"/>
                </a:cubicBezTo>
                <a:cubicBezTo>
                  <a:pt x="145576" y="122346"/>
                  <a:pt x="141510" y="118281"/>
                  <a:pt x="136478" y="118281"/>
                </a:cubicBezTo>
                <a:lnTo>
                  <a:pt x="22746" y="118281"/>
                </a:lnTo>
                <a:cubicBezTo>
                  <a:pt x="20244" y="118281"/>
                  <a:pt x="18197" y="116233"/>
                  <a:pt x="18197" y="113731"/>
                </a:cubicBezTo>
                <a:lnTo>
                  <a:pt x="18197" y="18197"/>
                </a:lnTo>
                <a:close/>
                <a:moveTo>
                  <a:pt x="133805" y="42820"/>
                </a:moveTo>
                <a:cubicBezTo>
                  <a:pt x="137359" y="39266"/>
                  <a:pt x="137359" y="33494"/>
                  <a:pt x="133805" y="29940"/>
                </a:cubicBezTo>
                <a:cubicBezTo>
                  <a:pt x="130251" y="26386"/>
                  <a:pt x="124479" y="26386"/>
                  <a:pt x="120925" y="29940"/>
                </a:cubicBezTo>
                <a:lnTo>
                  <a:pt x="90985" y="59908"/>
                </a:lnTo>
                <a:lnTo>
                  <a:pt x="74665" y="43616"/>
                </a:lnTo>
                <a:cubicBezTo>
                  <a:pt x="71111" y="40062"/>
                  <a:pt x="65339" y="40062"/>
                  <a:pt x="61785" y="43616"/>
                </a:cubicBezTo>
                <a:lnTo>
                  <a:pt x="34489" y="70911"/>
                </a:lnTo>
                <a:cubicBezTo>
                  <a:pt x="30935" y="74466"/>
                  <a:pt x="30935" y="80237"/>
                  <a:pt x="34489" y="83792"/>
                </a:cubicBezTo>
                <a:cubicBezTo>
                  <a:pt x="38043" y="87346"/>
                  <a:pt x="43815" y="87346"/>
                  <a:pt x="47369" y="83792"/>
                </a:cubicBezTo>
                <a:lnTo>
                  <a:pt x="68239" y="62922"/>
                </a:lnTo>
                <a:lnTo>
                  <a:pt x="84559" y="79242"/>
                </a:lnTo>
                <a:cubicBezTo>
                  <a:pt x="88113" y="82796"/>
                  <a:pt x="93885" y="82796"/>
                  <a:pt x="97439" y="79242"/>
                </a:cubicBezTo>
                <a:lnTo>
                  <a:pt x="133833" y="42848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10" name="Text 7"/>
          <p:cNvSpPr/>
          <p:nvPr/>
        </p:nvSpPr>
        <p:spPr>
          <a:xfrm>
            <a:off x="1028131" y="5359021"/>
            <a:ext cx="1501254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5009" y="5795749"/>
            <a:ext cx="655093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 F1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60619" y="5777552"/>
            <a:ext cx="591403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0.5337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55009" y="6123296"/>
            <a:ext cx="873457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F1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76328" y="6105099"/>
            <a:ext cx="582304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0.6195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55009" y="6469039"/>
            <a:ext cx="3384645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Reasonable baseline performance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250926" y="5067868"/>
            <a:ext cx="3693994" cy="1737815"/>
          </a:xfrm>
          <a:custGeom>
            <a:avLst/>
            <a:gdLst/>
            <a:ahLst/>
            <a:cxnLst/>
            <a:rect l="l" t="t" r="r" b="b"/>
            <a:pathLst>
              <a:path w="3693994" h="1737815">
                <a:moveTo>
                  <a:pt x="109187" y="0"/>
                </a:moveTo>
                <a:lnTo>
                  <a:pt x="3584807" y="0"/>
                </a:lnTo>
                <a:cubicBezTo>
                  <a:pt x="3645109" y="0"/>
                  <a:pt x="3693994" y="48885"/>
                  <a:pt x="3693994" y="109187"/>
                </a:cubicBezTo>
                <a:lnTo>
                  <a:pt x="3693994" y="1628628"/>
                </a:lnTo>
                <a:cubicBezTo>
                  <a:pt x="3693994" y="1688930"/>
                  <a:pt x="3645109" y="1737815"/>
                  <a:pt x="3584807" y="1737815"/>
                </a:cubicBezTo>
                <a:lnTo>
                  <a:pt x="109187" y="1737815"/>
                </a:lnTo>
                <a:cubicBezTo>
                  <a:pt x="48885" y="1737815"/>
                  <a:pt x="0" y="1688930"/>
                  <a:pt x="0" y="1628628"/>
                </a:cubicBezTo>
                <a:lnTo>
                  <a:pt x="0" y="109187"/>
                </a:lnTo>
                <a:cubicBezTo>
                  <a:pt x="0" y="48925"/>
                  <a:pt x="48925" y="0"/>
                  <a:pt x="10918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38366" y="5304430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72788" y="0"/>
                </a:moveTo>
                <a:lnTo>
                  <a:pt x="291152" y="0"/>
                </a:lnTo>
                <a:cubicBezTo>
                  <a:pt x="331352" y="0"/>
                  <a:pt x="363940" y="32588"/>
                  <a:pt x="363940" y="72788"/>
                </a:cubicBezTo>
                <a:lnTo>
                  <a:pt x="363940" y="291152"/>
                </a:lnTo>
                <a:cubicBezTo>
                  <a:pt x="363940" y="331352"/>
                  <a:pt x="331352" y="363940"/>
                  <a:pt x="291152" y="363940"/>
                </a:cubicBezTo>
                <a:lnTo>
                  <a:pt x="72788" y="363940"/>
                </a:lnTo>
                <a:cubicBezTo>
                  <a:pt x="32588" y="363940"/>
                  <a:pt x="0" y="331352"/>
                  <a:pt x="0" y="291152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8" name="Shape 15"/>
          <p:cNvSpPr/>
          <p:nvPr/>
        </p:nvSpPr>
        <p:spPr>
          <a:xfrm>
            <a:off x="4529351" y="5413612"/>
            <a:ext cx="181970" cy="145576"/>
          </a:xfrm>
          <a:custGeom>
            <a:avLst/>
            <a:gdLst/>
            <a:ahLst/>
            <a:cxnLst/>
            <a:rect l="l" t="t" r="r" b="b"/>
            <a:pathLst>
              <a:path w="181970" h="145576">
                <a:moveTo>
                  <a:pt x="109182" y="9099"/>
                </a:moveTo>
                <a:lnTo>
                  <a:pt x="145576" y="9099"/>
                </a:lnTo>
                <a:cubicBezTo>
                  <a:pt x="150609" y="9099"/>
                  <a:pt x="154675" y="13164"/>
                  <a:pt x="154675" y="18197"/>
                </a:cubicBezTo>
                <a:cubicBezTo>
                  <a:pt x="154675" y="23230"/>
                  <a:pt x="150609" y="27296"/>
                  <a:pt x="145576" y="27296"/>
                </a:cubicBezTo>
                <a:lnTo>
                  <a:pt x="113276" y="27296"/>
                </a:lnTo>
                <a:cubicBezTo>
                  <a:pt x="111798" y="34631"/>
                  <a:pt x="106765" y="40687"/>
                  <a:pt x="100084" y="43588"/>
                </a:cubicBezTo>
                <a:lnTo>
                  <a:pt x="100084" y="127379"/>
                </a:lnTo>
                <a:lnTo>
                  <a:pt x="145576" y="127379"/>
                </a:lnTo>
                <a:cubicBezTo>
                  <a:pt x="150609" y="127379"/>
                  <a:pt x="154675" y="131445"/>
                  <a:pt x="154675" y="136478"/>
                </a:cubicBezTo>
                <a:cubicBezTo>
                  <a:pt x="154675" y="141510"/>
                  <a:pt x="150609" y="145576"/>
                  <a:pt x="145576" y="145576"/>
                </a:cubicBezTo>
                <a:lnTo>
                  <a:pt x="36394" y="145576"/>
                </a:lnTo>
                <a:cubicBezTo>
                  <a:pt x="31361" y="145576"/>
                  <a:pt x="27296" y="141510"/>
                  <a:pt x="27296" y="136478"/>
                </a:cubicBezTo>
                <a:cubicBezTo>
                  <a:pt x="27296" y="131445"/>
                  <a:pt x="31361" y="127379"/>
                  <a:pt x="36394" y="127379"/>
                </a:cubicBezTo>
                <a:lnTo>
                  <a:pt x="81887" y="127379"/>
                </a:lnTo>
                <a:lnTo>
                  <a:pt x="81887" y="43588"/>
                </a:lnTo>
                <a:cubicBezTo>
                  <a:pt x="75205" y="40659"/>
                  <a:pt x="70172" y="34603"/>
                  <a:pt x="68694" y="27296"/>
                </a:cubicBezTo>
                <a:lnTo>
                  <a:pt x="36394" y="27296"/>
                </a:lnTo>
                <a:cubicBezTo>
                  <a:pt x="31361" y="27296"/>
                  <a:pt x="27296" y="23230"/>
                  <a:pt x="27296" y="18197"/>
                </a:cubicBezTo>
                <a:cubicBezTo>
                  <a:pt x="27296" y="13164"/>
                  <a:pt x="31361" y="9099"/>
                  <a:pt x="36394" y="9099"/>
                </a:cubicBezTo>
                <a:lnTo>
                  <a:pt x="72788" y="9099"/>
                </a:lnTo>
                <a:cubicBezTo>
                  <a:pt x="76939" y="3583"/>
                  <a:pt x="83536" y="0"/>
                  <a:pt x="90985" y="0"/>
                </a:cubicBezTo>
                <a:cubicBezTo>
                  <a:pt x="98434" y="0"/>
                  <a:pt x="105031" y="3583"/>
                  <a:pt x="109182" y="9099"/>
                </a:cubicBezTo>
                <a:close/>
                <a:moveTo>
                  <a:pt x="124991" y="90985"/>
                </a:moveTo>
                <a:lnTo>
                  <a:pt x="166161" y="90985"/>
                </a:lnTo>
                <a:lnTo>
                  <a:pt x="145576" y="55671"/>
                </a:lnTo>
                <a:lnTo>
                  <a:pt x="124991" y="90985"/>
                </a:lnTo>
                <a:close/>
                <a:moveTo>
                  <a:pt x="145576" y="118281"/>
                </a:moveTo>
                <a:cubicBezTo>
                  <a:pt x="127692" y="118281"/>
                  <a:pt x="112821" y="108613"/>
                  <a:pt x="109751" y="95847"/>
                </a:cubicBezTo>
                <a:cubicBezTo>
                  <a:pt x="109011" y="92719"/>
                  <a:pt x="110035" y="89507"/>
                  <a:pt x="111656" y="86720"/>
                </a:cubicBezTo>
                <a:lnTo>
                  <a:pt x="138724" y="40318"/>
                </a:lnTo>
                <a:cubicBezTo>
                  <a:pt x="140145" y="37873"/>
                  <a:pt x="142761" y="36394"/>
                  <a:pt x="145576" y="36394"/>
                </a:cubicBezTo>
                <a:cubicBezTo>
                  <a:pt x="148391" y="36394"/>
                  <a:pt x="151007" y="37901"/>
                  <a:pt x="152428" y="40318"/>
                </a:cubicBezTo>
                <a:lnTo>
                  <a:pt x="179496" y="86720"/>
                </a:lnTo>
                <a:cubicBezTo>
                  <a:pt x="181117" y="89507"/>
                  <a:pt x="182141" y="92719"/>
                  <a:pt x="181401" y="95847"/>
                </a:cubicBezTo>
                <a:cubicBezTo>
                  <a:pt x="178331" y="108585"/>
                  <a:pt x="163460" y="118281"/>
                  <a:pt x="145576" y="118281"/>
                </a:cubicBezTo>
                <a:close/>
                <a:moveTo>
                  <a:pt x="36053" y="55671"/>
                </a:moveTo>
                <a:lnTo>
                  <a:pt x="15467" y="90985"/>
                </a:lnTo>
                <a:lnTo>
                  <a:pt x="56667" y="90985"/>
                </a:lnTo>
                <a:lnTo>
                  <a:pt x="36053" y="55671"/>
                </a:lnTo>
                <a:close/>
                <a:moveTo>
                  <a:pt x="256" y="95847"/>
                </a:moveTo>
                <a:cubicBezTo>
                  <a:pt x="-483" y="92719"/>
                  <a:pt x="540" y="89507"/>
                  <a:pt x="2161" y="86720"/>
                </a:cubicBezTo>
                <a:lnTo>
                  <a:pt x="29229" y="40318"/>
                </a:lnTo>
                <a:cubicBezTo>
                  <a:pt x="30651" y="37873"/>
                  <a:pt x="33266" y="36394"/>
                  <a:pt x="36081" y="36394"/>
                </a:cubicBezTo>
                <a:cubicBezTo>
                  <a:pt x="38896" y="36394"/>
                  <a:pt x="41512" y="37901"/>
                  <a:pt x="42934" y="40318"/>
                </a:cubicBezTo>
                <a:lnTo>
                  <a:pt x="70002" y="86720"/>
                </a:lnTo>
                <a:cubicBezTo>
                  <a:pt x="71622" y="89507"/>
                  <a:pt x="72646" y="92719"/>
                  <a:pt x="71907" y="95847"/>
                </a:cubicBezTo>
                <a:cubicBezTo>
                  <a:pt x="68836" y="108585"/>
                  <a:pt x="53966" y="118281"/>
                  <a:pt x="36081" y="118281"/>
                </a:cubicBezTo>
                <a:cubicBezTo>
                  <a:pt x="18197" y="118281"/>
                  <a:pt x="3327" y="108613"/>
                  <a:pt x="256" y="95847"/>
                </a:cubicBez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19" name="Text 16"/>
          <p:cNvSpPr/>
          <p:nvPr/>
        </p:nvSpPr>
        <p:spPr>
          <a:xfrm>
            <a:off x="4911488" y="5359021"/>
            <a:ext cx="1182806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Multinomial NB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38366" y="5795749"/>
            <a:ext cx="655093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 F1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273759" y="5777552"/>
            <a:ext cx="564107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0.5197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38366" y="6123296"/>
            <a:ext cx="873457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F1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228764" y="6105099"/>
            <a:ext cx="60960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0.6546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438366" y="6469039"/>
            <a:ext cx="3384645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performance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38614" y="5072418"/>
            <a:ext cx="3684896" cy="1728716"/>
          </a:xfrm>
          <a:custGeom>
            <a:avLst/>
            <a:gdLst/>
            <a:ahLst/>
            <a:cxnLst/>
            <a:rect l="l" t="t" r="r" b="b"/>
            <a:pathLst>
              <a:path w="3684896" h="1728716">
                <a:moveTo>
                  <a:pt x="109186" y="0"/>
                </a:moveTo>
                <a:lnTo>
                  <a:pt x="3575710" y="0"/>
                </a:lnTo>
                <a:cubicBezTo>
                  <a:pt x="3636011" y="0"/>
                  <a:pt x="3684896" y="48884"/>
                  <a:pt x="3684896" y="109186"/>
                </a:cubicBezTo>
                <a:lnTo>
                  <a:pt x="3684896" y="1619531"/>
                </a:lnTo>
                <a:cubicBezTo>
                  <a:pt x="3684896" y="1679832"/>
                  <a:pt x="3636011" y="1728716"/>
                  <a:pt x="3575710" y="1728716"/>
                </a:cubicBezTo>
                <a:lnTo>
                  <a:pt x="109186" y="1728716"/>
                </a:lnTo>
                <a:cubicBezTo>
                  <a:pt x="48924" y="1728716"/>
                  <a:pt x="0" y="1679792"/>
                  <a:pt x="0" y="1619531"/>
                </a:cubicBezTo>
                <a:lnTo>
                  <a:pt x="0" y="109186"/>
                </a:lnTo>
                <a:cubicBezTo>
                  <a:pt x="0" y="48884"/>
                  <a:pt x="48884" y="0"/>
                  <a:pt x="10918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25400">
            <a:solidFill>
              <a:srgbClr val="0071E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30821" y="5313528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72788" y="0"/>
                </a:moveTo>
                <a:lnTo>
                  <a:pt x="291152" y="0"/>
                </a:lnTo>
                <a:cubicBezTo>
                  <a:pt x="331352" y="0"/>
                  <a:pt x="363940" y="32588"/>
                  <a:pt x="363940" y="72788"/>
                </a:cubicBezTo>
                <a:lnTo>
                  <a:pt x="363940" y="291152"/>
                </a:lnTo>
                <a:cubicBezTo>
                  <a:pt x="363940" y="331352"/>
                  <a:pt x="331352" y="363940"/>
                  <a:pt x="291152" y="363940"/>
                </a:cubicBezTo>
                <a:lnTo>
                  <a:pt x="72788" y="363940"/>
                </a:lnTo>
                <a:cubicBezTo>
                  <a:pt x="32588" y="363940"/>
                  <a:pt x="0" y="331352"/>
                  <a:pt x="0" y="291152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Shape 24"/>
          <p:cNvSpPr/>
          <p:nvPr/>
        </p:nvSpPr>
        <p:spPr>
          <a:xfrm>
            <a:off x="8440003" y="5422710"/>
            <a:ext cx="145576" cy="145576"/>
          </a:xfrm>
          <a:custGeom>
            <a:avLst/>
            <a:gdLst/>
            <a:ahLst/>
            <a:cxnLst/>
            <a:rect l="l" t="t" r="r" b="b"/>
            <a:pathLst>
              <a:path w="145576" h="145576">
                <a:moveTo>
                  <a:pt x="41029" y="0"/>
                </a:moveTo>
                <a:lnTo>
                  <a:pt x="104718" y="0"/>
                </a:lnTo>
                <a:cubicBezTo>
                  <a:pt x="112253" y="0"/>
                  <a:pt x="118394" y="6198"/>
                  <a:pt x="118110" y="13705"/>
                </a:cubicBezTo>
                <a:cubicBezTo>
                  <a:pt x="118053" y="15212"/>
                  <a:pt x="117996" y="16719"/>
                  <a:pt x="117911" y="18197"/>
                </a:cubicBezTo>
                <a:lnTo>
                  <a:pt x="132014" y="18197"/>
                </a:lnTo>
                <a:cubicBezTo>
                  <a:pt x="139435" y="18197"/>
                  <a:pt x="145974" y="24339"/>
                  <a:pt x="145406" y="32357"/>
                </a:cubicBezTo>
                <a:cubicBezTo>
                  <a:pt x="143273" y="61841"/>
                  <a:pt x="128204" y="78048"/>
                  <a:pt x="111855" y="86521"/>
                </a:cubicBezTo>
                <a:cubicBezTo>
                  <a:pt x="107362" y="88853"/>
                  <a:pt x="102785" y="90587"/>
                  <a:pt x="98434" y="91866"/>
                </a:cubicBezTo>
                <a:cubicBezTo>
                  <a:pt x="92691" y="99998"/>
                  <a:pt x="86720" y="104292"/>
                  <a:pt x="81972" y="106595"/>
                </a:cubicBezTo>
                <a:lnTo>
                  <a:pt x="81972" y="127379"/>
                </a:lnTo>
                <a:lnTo>
                  <a:pt x="100169" y="127379"/>
                </a:lnTo>
                <a:cubicBezTo>
                  <a:pt x="105201" y="127379"/>
                  <a:pt x="109267" y="131445"/>
                  <a:pt x="109267" y="136478"/>
                </a:cubicBezTo>
                <a:cubicBezTo>
                  <a:pt x="109267" y="141510"/>
                  <a:pt x="105201" y="145576"/>
                  <a:pt x="100169" y="145576"/>
                </a:cubicBezTo>
                <a:lnTo>
                  <a:pt x="45578" y="145576"/>
                </a:lnTo>
                <a:cubicBezTo>
                  <a:pt x="40545" y="145576"/>
                  <a:pt x="36479" y="141510"/>
                  <a:pt x="36479" y="136478"/>
                </a:cubicBezTo>
                <a:cubicBezTo>
                  <a:pt x="36479" y="131445"/>
                  <a:pt x="40545" y="127379"/>
                  <a:pt x="45578" y="127379"/>
                </a:cubicBezTo>
                <a:lnTo>
                  <a:pt x="63775" y="127379"/>
                </a:lnTo>
                <a:lnTo>
                  <a:pt x="63775" y="106595"/>
                </a:lnTo>
                <a:cubicBezTo>
                  <a:pt x="59226" y="104405"/>
                  <a:pt x="53567" y="100339"/>
                  <a:pt x="48051" y="92862"/>
                </a:cubicBezTo>
                <a:cubicBezTo>
                  <a:pt x="42820" y="91497"/>
                  <a:pt x="37133" y="89421"/>
                  <a:pt x="31589" y="86294"/>
                </a:cubicBezTo>
                <a:cubicBezTo>
                  <a:pt x="16207" y="77679"/>
                  <a:pt x="2331" y="61443"/>
                  <a:pt x="341" y="32300"/>
                </a:cubicBezTo>
                <a:cubicBezTo>
                  <a:pt x="-199" y="24310"/>
                  <a:pt x="6312" y="18169"/>
                  <a:pt x="13733" y="18169"/>
                </a:cubicBezTo>
                <a:lnTo>
                  <a:pt x="27836" y="18169"/>
                </a:lnTo>
                <a:cubicBezTo>
                  <a:pt x="27750" y="16690"/>
                  <a:pt x="27694" y="15212"/>
                  <a:pt x="27637" y="13676"/>
                </a:cubicBezTo>
                <a:cubicBezTo>
                  <a:pt x="27352" y="6141"/>
                  <a:pt x="33494" y="-28"/>
                  <a:pt x="41029" y="-28"/>
                </a:cubicBezTo>
                <a:close/>
                <a:moveTo>
                  <a:pt x="28859" y="31845"/>
                </a:moveTo>
                <a:lnTo>
                  <a:pt x="13961" y="31845"/>
                </a:lnTo>
                <a:cubicBezTo>
                  <a:pt x="15723" y="55927"/>
                  <a:pt x="26784" y="67983"/>
                  <a:pt x="38185" y="74380"/>
                </a:cubicBezTo>
                <a:cubicBezTo>
                  <a:pt x="34091" y="63775"/>
                  <a:pt x="30707" y="49928"/>
                  <a:pt x="28859" y="31845"/>
                </a:cubicBezTo>
                <a:close/>
                <a:moveTo>
                  <a:pt x="108045" y="73016"/>
                </a:moveTo>
                <a:cubicBezTo>
                  <a:pt x="119560" y="66249"/>
                  <a:pt x="129966" y="54221"/>
                  <a:pt x="131729" y="31845"/>
                </a:cubicBezTo>
                <a:lnTo>
                  <a:pt x="116859" y="31845"/>
                </a:lnTo>
                <a:cubicBezTo>
                  <a:pt x="115096" y="49160"/>
                  <a:pt x="111912" y="62609"/>
                  <a:pt x="108045" y="730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8803943" y="5368119"/>
            <a:ext cx="882555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SVC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330821" y="5804848"/>
            <a:ext cx="655093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 F1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104302" y="5786651"/>
            <a:ext cx="60960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0.5626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330821" y="6132394"/>
            <a:ext cx="873457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F1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099397" y="6114197"/>
            <a:ext cx="61869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0.6664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330821" y="6478137"/>
            <a:ext cx="3366448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balanced performance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/ Key Insights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Findings from the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3648075" cy="3286125"/>
          </a:xfrm>
          <a:custGeom>
            <a:avLst/>
            <a:gdLst/>
            <a:ahLst/>
            <a:cxnLst/>
            <a:rect l="l" t="t" r="r" b="b"/>
            <a:pathLst>
              <a:path w="3648075" h="3286125">
                <a:moveTo>
                  <a:pt x="152410" y="0"/>
                </a:moveTo>
                <a:lnTo>
                  <a:pt x="3495665" y="0"/>
                </a:lnTo>
                <a:cubicBezTo>
                  <a:pt x="3579839" y="0"/>
                  <a:pt x="3648075" y="68236"/>
                  <a:pt x="3648075" y="152410"/>
                </a:cubicBezTo>
                <a:lnTo>
                  <a:pt x="3648075" y="3133715"/>
                </a:lnTo>
                <a:cubicBezTo>
                  <a:pt x="3648075" y="3217889"/>
                  <a:pt x="3579839" y="3286125"/>
                  <a:pt x="3495665" y="3286125"/>
                </a:cubicBezTo>
                <a:lnTo>
                  <a:pt x="152410" y="3286125"/>
                </a:lnTo>
                <a:cubicBezTo>
                  <a:pt x="68236" y="3286125"/>
                  <a:pt x="0" y="3217889"/>
                  <a:pt x="0" y="313371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495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757238" y="16478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04925" y="1533525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Distribution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4925" y="180022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 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181225"/>
            <a:ext cx="3257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dataset is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highly imbalanced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with the majority of tweets falling under the neutral or positive sentiment categories.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888" y="3081338"/>
            <a:ext cx="3171825" cy="1228725"/>
          </a:xfrm>
          <a:custGeom>
            <a:avLst/>
            <a:gdLst/>
            <a:ahLst/>
            <a:cxnLst/>
            <a:rect l="l" t="t" r="r" b="b"/>
            <a:pathLst>
              <a:path w="3171825" h="1228725">
                <a:moveTo>
                  <a:pt x="114296" y="0"/>
                </a:moveTo>
                <a:lnTo>
                  <a:pt x="3057529" y="0"/>
                </a:lnTo>
                <a:cubicBezTo>
                  <a:pt x="3120653" y="0"/>
                  <a:pt x="3171825" y="51172"/>
                  <a:pt x="3171825" y="114296"/>
                </a:cubicBezTo>
                <a:lnTo>
                  <a:pt x="3171825" y="1114429"/>
                </a:lnTo>
                <a:cubicBezTo>
                  <a:pt x="3171825" y="1177553"/>
                  <a:pt x="3120653" y="1228725"/>
                  <a:pt x="305752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9150" y="3276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1028700" y="3238500"/>
            <a:ext cx="26860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Implication:</a:t>
            </a: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Most users express neutral or favorable opinions rather than negative ones, requiring special handling for minority classes.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71963" y="1262063"/>
            <a:ext cx="3648075" cy="3286125"/>
          </a:xfrm>
          <a:custGeom>
            <a:avLst/>
            <a:gdLst/>
            <a:ahLst/>
            <a:cxnLst/>
            <a:rect l="l" t="t" r="r" b="b"/>
            <a:pathLst>
              <a:path w="3648075" h="3286125">
                <a:moveTo>
                  <a:pt x="152410" y="0"/>
                </a:moveTo>
                <a:lnTo>
                  <a:pt x="3495665" y="0"/>
                </a:lnTo>
                <a:cubicBezTo>
                  <a:pt x="3579839" y="0"/>
                  <a:pt x="3648075" y="68236"/>
                  <a:pt x="3648075" y="152410"/>
                </a:cubicBezTo>
                <a:lnTo>
                  <a:pt x="3648075" y="3133715"/>
                </a:lnTo>
                <a:cubicBezTo>
                  <a:pt x="3648075" y="3217889"/>
                  <a:pt x="3579839" y="3286125"/>
                  <a:pt x="3495665" y="3286125"/>
                </a:cubicBezTo>
                <a:lnTo>
                  <a:pt x="152410" y="3286125"/>
                </a:lnTo>
                <a:cubicBezTo>
                  <a:pt x="68236" y="3286125"/>
                  <a:pt x="0" y="3217889"/>
                  <a:pt x="0" y="313371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05325" y="1495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Shape 13"/>
          <p:cNvSpPr/>
          <p:nvPr/>
        </p:nvSpPr>
        <p:spPr>
          <a:xfrm>
            <a:off x="4657725" y="164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191125" y="1533525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91125" y="1800225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 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05325" y="2181225"/>
            <a:ext cx="3257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Among the models tested,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SVC performed the best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achieving the highest accuracy and macro F1 score.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0088" y="3081338"/>
            <a:ext cx="3171825" cy="1228725"/>
          </a:xfrm>
          <a:custGeom>
            <a:avLst/>
            <a:gdLst/>
            <a:ahLst/>
            <a:cxnLst/>
            <a:rect l="l" t="t" r="r" b="b"/>
            <a:pathLst>
              <a:path w="3171825" h="1228725">
                <a:moveTo>
                  <a:pt x="114296" y="0"/>
                </a:moveTo>
                <a:lnTo>
                  <a:pt x="3057529" y="0"/>
                </a:lnTo>
                <a:cubicBezTo>
                  <a:pt x="3120653" y="0"/>
                  <a:pt x="3171825" y="51172"/>
                  <a:pt x="3171825" y="114296"/>
                </a:cubicBezTo>
                <a:lnTo>
                  <a:pt x="3171825" y="1114429"/>
                </a:lnTo>
                <a:cubicBezTo>
                  <a:pt x="3171825" y="1177553"/>
                  <a:pt x="3120653" y="1228725"/>
                  <a:pt x="305752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5350" y="3276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4914900" y="3238500"/>
            <a:ext cx="26860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Implication:</a:t>
            </a: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Linear SVC can effectively distinguish between positive, negative, and neutral sentiments, making it the optimal choice.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58163" y="1262063"/>
            <a:ext cx="3648075" cy="3286125"/>
          </a:xfrm>
          <a:custGeom>
            <a:avLst/>
            <a:gdLst/>
            <a:ahLst/>
            <a:cxnLst/>
            <a:rect l="l" t="t" r="r" b="b"/>
            <a:pathLst>
              <a:path w="3648075" h="3286125">
                <a:moveTo>
                  <a:pt x="152410" y="0"/>
                </a:moveTo>
                <a:lnTo>
                  <a:pt x="3495665" y="0"/>
                </a:lnTo>
                <a:cubicBezTo>
                  <a:pt x="3579839" y="0"/>
                  <a:pt x="3648075" y="68236"/>
                  <a:pt x="3648075" y="152410"/>
                </a:cubicBezTo>
                <a:lnTo>
                  <a:pt x="3648075" y="3133715"/>
                </a:lnTo>
                <a:cubicBezTo>
                  <a:pt x="3648075" y="3217889"/>
                  <a:pt x="3579839" y="3286125"/>
                  <a:pt x="3495665" y="3286125"/>
                </a:cubicBezTo>
                <a:lnTo>
                  <a:pt x="152410" y="3286125"/>
                </a:lnTo>
                <a:cubicBezTo>
                  <a:pt x="68236" y="3286125"/>
                  <a:pt x="0" y="3217889"/>
                  <a:pt x="0" y="313371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1525" y="1495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Shape 22"/>
          <p:cNvSpPr/>
          <p:nvPr/>
        </p:nvSpPr>
        <p:spPr>
          <a:xfrm>
            <a:off x="8529638" y="16478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52978" y="24378"/>
                </a:moveTo>
                <a:cubicBezTo>
                  <a:pt x="258559" y="18797"/>
                  <a:pt x="258559" y="9733"/>
                  <a:pt x="252978" y="4152"/>
                </a:cubicBezTo>
                <a:cubicBezTo>
                  <a:pt x="247397" y="-1429"/>
                  <a:pt x="238333" y="-1429"/>
                  <a:pt x="232752" y="4152"/>
                </a:cubicBezTo>
                <a:lnTo>
                  <a:pt x="147027" y="89877"/>
                </a:lnTo>
                <a:lnTo>
                  <a:pt x="131534" y="74384"/>
                </a:lnTo>
                <a:cubicBezTo>
                  <a:pt x="129659" y="72509"/>
                  <a:pt x="127069" y="71438"/>
                  <a:pt x="124391" y="71438"/>
                </a:cubicBezTo>
                <a:cubicBezTo>
                  <a:pt x="118809" y="71438"/>
                  <a:pt x="114300" y="75947"/>
                  <a:pt x="114300" y="81528"/>
                </a:cubicBezTo>
                <a:lnTo>
                  <a:pt x="114300" y="94521"/>
                </a:lnTo>
                <a:lnTo>
                  <a:pt x="162654" y="142875"/>
                </a:lnTo>
                <a:lnTo>
                  <a:pt x="175647" y="142875"/>
                </a:lnTo>
                <a:cubicBezTo>
                  <a:pt x="181228" y="142875"/>
                  <a:pt x="185738" y="138366"/>
                  <a:pt x="185738" y="132784"/>
                </a:cubicBezTo>
                <a:cubicBezTo>
                  <a:pt x="185738" y="130106"/>
                  <a:pt x="184666" y="127516"/>
                  <a:pt x="182791" y="125641"/>
                </a:cubicBezTo>
                <a:lnTo>
                  <a:pt x="167298" y="110148"/>
                </a:lnTo>
                <a:lnTo>
                  <a:pt x="253023" y="24423"/>
                </a:lnTo>
                <a:close/>
                <a:moveTo>
                  <a:pt x="152296" y="157788"/>
                </a:moveTo>
                <a:lnTo>
                  <a:pt x="99387" y="104879"/>
                </a:lnTo>
                <a:cubicBezTo>
                  <a:pt x="80323" y="103227"/>
                  <a:pt x="61347" y="110103"/>
                  <a:pt x="47685" y="123765"/>
                </a:cubicBezTo>
                <a:lnTo>
                  <a:pt x="44113" y="127337"/>
                </a:lnTo>
                <a:cubicBezTo>
                  <a:pt x="34156" y="137294"/>
                  <a:pt x="28575" y="150778"/>
                  <a:pt x="28575" y="164842"/>
                </a:cubicBezTo>
                <a:cubicBezTo>
                  <a:pt x="28575" y="167878"/>
                  <a:pt x="31745" y="169843"/>
                  <a:pt x="34469" y="168503"/>
                </a:cubicBezTo>
                <a:lnTo>
                  <a:pt x="57284" y="157118"/>
                </a:lnTo>
                <a:cubicBezTo>
                  <a:pt x="59516" y="156002"/>
                  <a:pt x="61526" y="158948"/>
                  <a:pt x="59695" y="160645"/>
                </a:cubicBezTo>
                <a:lnTo>
                  <a:pt x="3259" y="211366"/>
                </a:lnTo>
                <a:cubicBezTo>
                  <a:pt x="1206" y="213241"/>
                  <a:pt x="0" y="215920"/>
                  <a:pt x="0" y="218733"/>
                </a:cubicBezTo>
                <a:cubicBezTo>
                  <a:pt x="0" y="224180"/>
                  <a:pt x="4420" y="228600"/>
                  <a:pt x="9867" y="228600"/>
                </a:cubicBezTo>
                <a:lnTo>
                  <a:pt x="87243" y="228600"/>
                </a:lnTo>
                <a:cubicBezTo>
                  <a:pt x="104567" y="228600"/>
                  <a:pt x="121131" y="221724"/>
                  <a:pt x="133410" y="209490"/>
                </a:cubicBezTo>
                <a:cubicBezTo>
                  <a:pt x="147072" y="195828"/>
                  <a:pt x="153903" y="176852"/>
                  <a:pt x="152296" y="1577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077325" y="1533525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 Impact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77325" y="1800225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 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91525" y="2181225"/>
            <a:ext cx="3257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 steps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significantly improved model accuracy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reduced noise in the text data.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96288" y="3081338"/>
            <a:ext cx="3171825" cy="1000125"/>
          </a:xfrm>
          <a:custGeom>
            <a:avLst/>
            <a:gdLst/>
            <a:ahLst/>
            <a:cxnLst/>
            <a:rect l="l" t="t" r="r" b="b"/>
            <a:pathLst>
              <a:path w="3171825" h="1000125">
                <a:moveTo>
                  <a:pt x="114304" y="0"/>
                </a:moveTo>
                <a:lnTo>
                  <a:pt x="3057521" y="0"/>
                </a:lnTo>
                <a:cubicBezTo>
                  <a:pt x="3120649" y="0"/>
                  <a:pt x="3171825" y="51176"/>
                  <a:pt x="3171825" y="114304"/>
                </a:cubicBezTo>
                <a:lnTo>
                  <a:pt x="3171825" y="885821"/>
                </a:lnTo>
                <a:cubicBezTo>
                  <a:pt x="3171825" y="948949"/>
                  <a:pt x="3120649" y="1000125"/>
                  <a:pt x="305752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1550" y="3276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Text 28"/>
          <p:cNvSpPr/>
          <p:nvPr/>
        </p:nvSpPr>
        <p:spPr>
          <a:xfrm>
            <a:off x="8801100" y="3238500"/>
            <a:ext cx="2686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Implication:</a:t>
            </a: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Proper text preprocessing is essential for achieving reliable sentiment classification results.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5763" y="4748213"/>
            <a:ext cx="11420475" cy="1876425"/>
          </a:xfrm>
          <a:custGeom>
            <a:avLst/>
            <a:gdLst/>
            <a:ahLst/>
            <a:cxnLst/>
            <a:rect l="l" t="t" r="r" b="b"/>
            <a:pathLst>
              <a:path w="11420475" h="1876425">
                <a:moveTo>
                  <a:pt x="152403" y="0"/>
                </a:moveTo>
                <a:lnTo>
                  <a:pt x="11268072" y="0"/>
                </a:lnTo>
                <a:cubicBezTo>
                  <a:pt x="11352242" y="0"/>
                  <a:pt x="11420475" y="68233"/>
                  <a:pt x="11420475" y="152403"/>
                </a:cubicBezTo>
                <a:lnTo>
                  <a:pt x="11420475" y="1724022"/>
                </a:lnTo>
                <a:cubicBezTo>
                  <a:pt x="11420475" y="1808192"/>
                  <a:pt x="11352242" y="1876425"/>
                  <a:pt x="11268072" y="1876425"/>
                </a:cubicBezTo>
                <a:lnTo>
                  <a:pt x="152403" y="1876425"/>
                </a:lnTo>
                <a:cubicBezTo>
                  <a:pt x="68233" y="1876425"/>
                  <a:pt x="0" y="1808192"/>
                  <a:pt x="0" y="1724022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938" y="5019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857250" y="4981575"/>
            <a:ext cx="10810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 Steps Applied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25" y="5419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33425" y="553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4862" y="15091"/>
                </a:moveTo>
                <a:cubicBezTo>
                  <a:pt x="83314" y="11698"/>
                  <a:pt x="79921" y="9525"/>
                  <a:pt x="76200" y="9525"/>
                </a:cubicBezTo>
                <a:cubicBezTo>
                  <a:pt x="72479" y="9525"/>
                  <a:pt x="69086" y="11698"/>
                  <a:pt x="67538" y="15091"/>
                </a:cubicBezTo>
                <a:lnTo>
                  <a:pt x="17711" y="123825"/>
                </a:lnTo>
                <a:lnTo>
                  <a:pt x="14288" y="123825"/>
                </a:lnTo>
                <a:cubicBezTo>
                  <a:pt x="9019" y="123825"/>
                  <a:pt x="4763" y="128081"/>
                  <a:pt x="4763" y="133350"/>
                </a:cubicBezTo>
                <a:cubicBezTo>
                  <a:pt x="4763" y="138619"/>
                  <a:pt x="9019" y="142875"/>
                  <a:pt x="14288" y="142875"/>
                </a:cubicBezTo>
                <a:lnTo>
                  <a:pt x="40481" y="142875"/>
                </a:lnTo>
                <a:cubicBezTo>
                  <a:pt x="45750" y="142875"/>
                  <a:pt x="50006" y="138619"/>
                  <a:pt x="50006" y="133350"/>
                </a:cubicBezTo>
                <a:cubicBezTo>
                  <a:pt x="50006" y="128081"/>
                  <a:pt x="45750" y="123825"/>
                  <a:pt x="40481" y="123825"/>
                </a:cubicBezTo>
                <a:lnTo>
                  <a:pt x="38666" y="123825"/>
                </a:lnTo>
                <a:lnTo>
                  <a:pt x="45214" y="109537"/>
                </a:lnTo>
                <a:lnTo>
                  <a:pt x="107216" y="109537"/>
                </a:lnTo>
                <a:lnTo>
                  <a:pt x="113764" y="123825"/>
                </a:lnTo>
                <a:lnTo>
                  <a:pt x="111949" y="123825"/>
                </a:lnTo>
                <a:cubicBezTo>
                  <a:pt x="106680" y="123825"/>
                  <a:pt x="102424" y="128081"/>
                  <a:pt x="102424" y="133350"/>
                </a:cubicBezTo>
                <a:cubicBezTo>
                  <a:pt x="102424" y="138619"/>
                  <a:pt x="106680" y="142875"/>
                  <a:pt x="111949" y="142875"/>
                </a:cubicBezTo>
                <a:lnTo>
                  <a:pt x="138142" y="142875"/>
                </a:lnTo>
                <a:cubicBezTo>
                  <a:pt x="143411" y="142875"/>
                  <a:pt x="147667" y="138619"/>
                  <a:pt x="147667" y="133350"/>
                </a:cubicBezTo>
                <a:cubicBezTo>
                  <a:pt x="147667" y="128081"/>
                  <a:pt x="143411" y="123825"/>
                  <a:pt x="138142" y="123825"/>
                </a:cubicBezTo>
                <a:lnTo>
                  <a:pt x="134719" y="123825"/>
                </a:lnTo>
                <a:lnTo>
                  <a:pt x="84892" y="15091"/>
                </a:lnTo>
                <a:close/>
                <a:moveTo>
                  <a:pt x="98465" y="90488"/>
                </a:moveTo>
                <a:lnTo>
                  <a:pt x="53935" y="90488"/>
                </a:lnTo>
                <a:lnTo>
                  <a:pt x="76200" y="41910"/>
                </a:lnTo>
                <a:lnTo>
                  <a:pt x="98465" y="90488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" name="Text 34"/>
          <p:cNvSpPr/>
          <p:nvPr/>
        </p:nvSpPr>
        <p:spPr>
          <a:xfrm>
            <a:off x="1114425" y="540067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Lowercasing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14425" y="5629275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 text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395663" y="5419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500438" y="55340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0" name="Text 38"/>
          <p:cNvSpPr/>
          <p:nvPr/>
        </p:nvSpPr>
        <p:spPr>
          <a:xfrm>
            <a:off x="3890962" y="5400675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URL Removal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890962" y="5629275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links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2200" y="5419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86500" y="553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9050"/>
                </a:moveTo>
                <a:cubicBezTo>
                  <a:pt x="44648" y="19050"/>
                  <a:pt x="19050" y="44648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1469" y="133350"/>
                  <a:pt x="85725" y="137606"/>
                  <a:pt x="85725" y="142875"/>
                </a:cubicBezTo>
                <a:cubicBezTo>
                  <a:pt x="85725" y="148144"/>
                  <a:pt x="81469" y="152400"/>
                  <a:pt x="76200" y="152400"/>
                </a:cubicBezTo>
                <a:cubicBezTo>
                  <a:pt x="34111" y="152400"/>
                  <a:pt x="0" y="118289"/>
                  <a:pt x="0" y="76200"/>
                </a:cubicBezTo>
                <a:cubicBezTo>
                  <a:pt x="0" y="34111"/>
                  <a:pt x="34111" y="0"/>
                  <a:pt x="76200" y="0"/>
                </a:cubicBezTo>
                <a:cubicBezTo>
                  <a:pt x="118289" y="0"/>
                  <a:pt x="152400" y="34111"/>
                  <a:pt x="152400" y="76200"/>
                </a:cubicBezTo>
                <a:lnTo>
                  <a:pt x="152400" y="85725"/>
                </a:lnTo>
                <a:cubicBezTo>
                  <a:pt x="152400" y="101501"/>
                  <a:pt x="139601" y="114300"/>
                  <a:pt x="123825" y="114300"/>
                </a:cubicBezTo>
                <a:cubicBezTo>
                  <a:pt x="115104" y="114300"/>
                  <a:pt x="107275" y="110371"/>
                  <a:pt x="102037" y="104209"/>
                </a:cubicBezTo>
                <a:cubicBezTo>
                  <a:pt x="95250" y="110460"/>
                  <a:pt x="86171" y="114300"/>
                  <a:pt x="76200" y="114300"/>
                </a:cubicBezTo>
                <a:cubicBezTo>
                  <a:pt x="55156" y="114300"/>
                  <a:pt x="38100" y="97244"/>
                  <a:pt x="38100" y="76200"/>
                </a:cubicBezTo>
                <a:cubicBezTo>
                  <a:pt x="38100" y="55156"/>
                  <a:pt x="55156" y="38100"/>
                  <a:pt x="76200" y="38100"/>
                </a:cubicBezTo>
                <a:cubicBezTo>
                  <a:pt x="84505" y="38100"/>
                  <a:pt x="92184" y="40749"/>
                  <a:pt x="98435" y="45274"/>
                </a:cubicBezTo>
                <a:cubicBezTo>
                  <a:pt x="100132" y="43785"/>
                  <a:pt x="102334" y="42863"/>
                  <a:pt x="104775" y="42863"/>
                </a:cubicBezTo>
                <a:cubicBezTo>
                  <a:pt x="110044" y="42863"/>
                  <a:pt x="114300" y="47119"/>
                  <a:pt x="114300" y="52388"/>
                </a:cubicBezTo>
                <a:lnTo>
                  <a:pt x="114300" y="85725"/>
                </a:lnTo>
                <a:cubicBezTo>
                  <a:pt x="114300" y="90994"/>
                  <a:pt x="118556" y="95250"/>
                  <a:pt x="123825" y="95250"/>
                </a:cubicBezTo>
                <a:cubicBezTo>
                  <a:pt x="129094" y="95250"/>
                  <a:pt x="133350" y="90994"/>
                  <a:pt x="133350" y="85725"/>
                </a:cubicBezTo>
                <a:lnTo>
                  <a:pt x="133350" y="76200"/>
                </a:lnTo>
                <a:cubicBezTo>
                  <a:pt x="133350" y="44648"/>
                  <a:pt x="107752" y="19050"/>
                  <a:pt x="76200" y="19050"/>
                </a:cubicBezTo>
                <a:close/>
                <a:moveTo>
                  <a:pt x="95250" y="76200"/>
                </a:moveTo>
                <a:cubicBezTo>
                  <a:pt x="95250" y="65686"/>
                  <a:pt x="86714" y="57150"/>
                  <a:pt x="76200" y="57150"/>
                </a:cubicBezTo>
                <a:cubicBezTo>
                  <a:pt x="65686" y="57150"/>
                  <a:pt x="57150" y="65686"/>
                  <a:pt x="57150" y="76200"/>
                </a:cubicBezTo>
                <a:cubicBezTo>
                  <a:pt x="57150" y="86714"/>
                  <a:pt x="65686" y="95250"/>
                  <a:pt x="76200" y="95250"/>
                </a:cubicBezTo>
                <a:cubicBezTo>
                  <a:pt x="86714" y="95250"/>
                  <a:pt x="95250" y="86714"/>
                  <a:pt x="95250" y="762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4" name="Text 42"/>
          <p:cNvSpPr/>
          <p:nvPr/>
        </p:nvSpPr>
        <p:spPr>
          <a:xfrm>
            <a:off x="6667500" y="5400675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Mention Removal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67500" y="5629275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@user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948738" y="5419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063038" y="553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3907" y="208"/>
                </a:moveTo>
                <a:cubicBezTo>
                  <a:pt x="69056" y="1310"/>
                  <a:pt x="72330" y="6370"/>
                  <a:pt x="71229" y="11519"/>
                </a:cubicBezTo>
                <a:lnTo>
                  <a:pt x="65544" y="38100"/>
                </a:lnTo>
                <a:lnTo>
                  <a:pt x="103197" y="38100"/>
                </a:lnTo>
                <a:lnTo>
                  <a:pt x="109746" y="7531"/>
                </a:lnTo>
                <a:cubicBezTo>
                  <a:pt x="110847" y="2381"/>
                  <a:pt x="115907" y="-893"/>
                  <a:pt x="121057" y="208"/>
                </a:cubicBezTo>
                <a:cubicBezTo>
                  <a:pt x="126206" y="1310"/>
                  <a:pt x="129480" y="6370"/>
                  <a:pt x="128379" y="11519"/>
                </a:cubicBezTo>
                <a:lnTo>
                  <a:pt x="122694" y="38100"/>
                </a:lnTo>
                <a:lnTo>
                  <a:pt x="142875" y="38100"/>
                </a:lnTo>
                <a:cubicBezTo>
                  <a:pt x="148144" y="38100"/>
                  <a:pt x="152400" y="42356"/>
                  <a:pt x="152400" y="47625"/>
                </a:cubicBezTo>
                <a:cubicBezTo>
                  <a:pt x="152400" y="52894"/>
                  <a:pt x="148144" y="57150"/>
                  <a:pt x="142875" y="57150"/>
                </a:cubicBezTo>
                <a:lnTo>
                  <a:pt x="118586" y="57150"/>
                </a:lnTo>
                <a:lnTo>
                  <a:pt x="110430" y="95250"/>
                </a:lnTo>
                <a:lnTo>
                  <a:pt x="130612" y="95250"/>
                </a:lnTo>
                <a:cubicBezTo>
                  <a:pt x="135880" y="95250"/>
                  <a:pt x="140137" y="99506"/>
                  <a:pt x="140137" y="104775"/>
                </a:cubicBezTo>
                <a:cubicBezTo>
                  <a:pt x="140137" y="110044"/>
                  <a:pt x="135880" y="114300"/>
                  <a:pt x="130612" y="114300"/>
                </a:cubicBezTo>
                <a:lnTo>
                  <a:pt x="106323" y="114300"/>
                </a:lnTo>
                <a:lnTo>
                  <a:pt x="99774" y="144869"/>
                </a:lnTo>
                <a:cubicBezTo>
                  <a:pt x="98673" y="150019"/>
                  <a:pt x="93613" y="153293"/>
                  <a:pt x="88463" y="152192"/>
                </a:cubicBezTo>
                <a:cubicBezTo>
                  <a:pt x="83314" y="151090"/>
                  <a:pt x="80040" y="146030"/>
                  <a:pt x="81141" y="140881"/>
                </a:cubicBezTo>
                <a:lnTo>
                  <a:pt x="86826" y="114300"/>
                </a:lnTo>
                <a:lnTo>
                  <a:pt x="49173" y="114300"/>
                </a:lnTo>
                <a:lnTo>
                  <a:pt x="42624" y="144869"/>
                </a:lnTo>
                <a:cubicBezTo>
                  <a:pt x="41523" y="150019"/>
                  <a:pt x="36463" y="153293"/>
                  <a:pt x="31313" y="152192"/>
                </a:cubicBezTo>
                <a:cubicBezTo>
                  <a:pt x="26164" y="151090"/>
                  <a:pt x="22890" y="146030"/>
                  <a:pt x="23991" y="140881"/>
                </a:cubicBezTo>
                <a:lnTo>
                  <a:pt x="29706" y="114300"/>
                </a:lnTo>
                <a:lnTo>
                  <a:pt x="9525" y="114300"/>
                </a:lnTo>
                <a:cubicBezTo>
                  <a:pt x="4256" y="114300"/>
                  <a:pt x="0" y="110044"/>
                  <a:pt x="0" y="104775"/>
                </a:cubicBezTo>
                <a:cubicBezTo>
                  <a:pt x="0" y="99506"/>
                  <a:pt x="4256" y="95250"/>
                  <a:pt x="9525" y="95250"/>
                </a:cubicBezTo>
                <a:lnTo>
                  <a:pt x="33814" y="95250"/>
                </a:lnTo>
                <a:lnTo>
                  <a:pt x="41970" y="57150"/>
                </a:lnTo>
                <a:lnTo>
                  <a:pt x="21788" y="57150"/>
                </a:lnTo>
                <a:cubicBezTo>
                  <a:pt x="16520" y="57150"/>
                  <a:pt x="12263" y="52894"/>
                  <a:pt x="12263" y="47625"/>
                </a:cubicBezTo>
                <a:cubicBezTo>
                  <a:pt x="12263" y="42356"/>
                  <a:pt x="16520" y="38100"/>
                  <a:pt x="21788" y="38100"/>
                </a:cubicBezTo>
                <a:lnTo>
                  <a:pt x="46077" y="38100"/>
                </a:lnTo>
                <a:lnTo>
                  <a:pt x="52626" y="7531"/>
                </a:lnTo>
                <a:cubicBezTo>
                  <a:pt x="53697" y="2381"/>
                  <a:pt x="58757" y="-893"/>
                  <a:pt x="63907" y="208"/>
                </a:cubicBezTo>
                <a:close/>
                <a:moveTo>
                  <a:pt x="61436" y="57150"/>
                </a:moveTo>
                <a:lnTo>
                  <a:pt x="53280" y="95250"/>
                </a:lnTo>
                <a:lnTo>
                  <a:pt x="90934" y="95250"/>
                </a:lnTo>
                <a:lnTo>
                  <a:pt x="99090" y="57150"/>
                </a:lnTo>
                <a:lnTo>
                  <a:pt x="61436" y="5715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8" name="Text 46"/>
          <p:cNvSpPr/>
          <p:nvPr/>
        </p:nvSpPr>
        <p:spPr>
          <a:xfrm>
            <a:off x="9444038" y="5400675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Hashtag Removal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444038" y="5629275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#tags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125" y="5991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0575" y="6105525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28575" y="9525"/>
                </a:moveTo>
                <a:cubicBezTo>
                  <a:pt x="28575" y="4256"/>
                  <a:pt x="24319" y="0"/>
                  <a:pt x="19050" y="0"/>
                </a:cubicBezTo>
                <a:cubicBezTo>
                  <a:pt x="13781" y="0"/>
                  <a:pt x="9525" y="4256"/>
                  <a:pt x="9525" y="9525"/>
                </a:cubicBezTo>
                <a:lnTo>
                  <a:pt x="9525" y="104775"/>
                </a:lnTo>
                <a:cubicBezTo>
                  <a:pt x="9525" y="110044"/>
                  <a:pt x="13781" y="114300"/>
                  <a:pt x="19050" y="114300"/>
                </a:cubicBezTo>
                <a:cubicBezTo>
                  <a:pt x="24319" y="114300"/>
                  <a:pt x="28575" y="110044"/>
                  <a:pt x="28575" y="104775"/>
                </a:cubicBezTo>
                <a:lnTo>
                  <a:pt x="28575" y="9525"/>
                </a:lnTo>
                <a:close/>
                <a:moveTo>
                  <a:pt x="19050" y="152400"/>
                </a:moveTo>
                <a:cubicBezTo>
                  <a:pt x="25628" y="152400"/>
                  <a:pt x="30956" y="147072"/>
                  <a:pt x="30956" y="140494"/>
                </a:cubicBezTo>
                <a:cubicBezTo>
                  <a:pt x="30956" y="133916"/>
                  <a:pt x="25628" y="128588"/>
                  <a:pt x="19050" y="128588"/>
                </a:cubicBezTo>
                <a:cubicBezTo>
                  <a:pt x="12472" y="128588"/>
                  <a:pt x="7144" y="133916"/>
                  <a:pt x="7144" y="140494"/>
                </a:cubicBezTo>
                <a:cubicBezTo>
                  <a:pt x="7144" y="147072"/>
                  <a:pt x="12472" y="152400"/>
                  <a:pt x="19050" y="1524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2" name="Text 50"/>
          <p:cNvSpPr/>
          <p:nvPr/>
        </p:nvSpPr>
        <p:spPr>
          <a:xfrm>
            <a:off x="1114425" y="5972175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Punctuation Removal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14425" y="6200775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symbols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395663" y="5991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509963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4827" y="12323"/>
                </a:moveTo>
                <a:cubicBezTo>
                  <a:pt x="41106" y="8602"/>
                  <a:pt x="35064" y="8602"/>
                  <a:pt x="31343" y="12323"/>
                </a:cubicBezTo>
                <a:lnTo>
                  <a:pt x="2768" y="40898"/>
                </a:lnTo>
                <a:cubicBezTo>
                  <a:pt x="-953" y="44619"/>
                  <a:pt x="-953" y="50661"/>
                  <a:pt x="2768" y="54382"/>
                </a:cubicBezTo>
                <a:cubicBezTo>
                  <a:pt x="6489" y="58103"/>
                  <a:pt x="12531" y="58103"/>
                  <a:pt x="16252" y="54382"/>
                </a:cubicBezTo>
                <a:lnTo>
                  <a:pt x="28575" y="42059"/>
                </a:lnTo>
                <a:lnTo>
                  <a:pt x="28575" y="133350"/>
                </a:lnTo>
                <a:cubicBezTo>
                  <a:pt x="28575" y="138619"/>
                  <a:pt x="32831" y="142875"/>
                  <a:pt x="38100" y="142875"/>
                </a:cubicBezTo>
                <a:cubicBezTo>
                  <a:pt x="43369" y="142875"/>
                  <a:pt x="47625" y="138619"/>
                  <a:pt x="47625" y="133350"/>
                </a:cubicBezTo>
                <a:lnTo>
                  <a:pt x="47625" y="42059"/>
                </a:lnTo>
                <a:lnTo>
                  <a:pt x="59948" y="54382"/>
                </a:lnTo>
                <a:cubicBezTo>
                  <a:pt x="63669" y="58103"/>
                  <a:pt x="69711" y="58103"/>
                  <a:pt x="73432" y="54382"/>
                </a:cubicBezTo>
                <a:cubicBezTo>
                  <a:pt x="77152" y="50661"/>
                  <a:pt x="77152" y="44619"/>
                  <a:pt x="73432" y="40898"/>
                </a:cubicBezTo>
                <a:lnTo>
                  <a:pt x="44857" y="12323"/>
                </a:lnTo>
                <a:close/>
                <a:moveTo>
                  <a:pt x="124629" y="11311"/>
                </a:moveTo>
                <a:cubicBezTo>
                  <a:pt x="122158" y="9525"/>
                  <a:pt x="118943" y="9019"/>
                  <a:pt x="116056" y="10001"/>
                </a:cubicBezTo>
                <a:lnTo>
                  <a:pt x="101769" y="14764"/>
                </a:lnTo>
                <a:cubicBezTo>
                  <a:pt x="96768" y="16431"/>
                  <a:pt x="94089" y="21818"/>
                  <a:pt x="95756" y="26819"/>
                </a:cubicBezTo>
                <a:cubicBezTo>
                  <a:pt x="97423" y="31819"/>
                  <a:pt x="102810" y="34498"/>
                  <a:pt x="107811" y="32831"/>
                </a:cubicBezTo>
                <a:lnTo>
                  <a:pt x="109567" y="32236"/>
                </a:lnTo>
                <a:lnTo>
                  <a:pt x="109567" y="47595"/>
                </a:lnTo>
                <a:lnTo>
                  <a:pt x="104805" y="47595"/>
                </a:lnTo>
                <a:cubicBezTo>
                  <a:pt x="99536" y="47595"/>
                  <a:pt x="95280" y="51852"/>
                  <a:pt x="95280" y="57120"/>
                </a:cubicBezTo>
                <a:cubicBezTo>
                  <a:pt x="95280" y="62389"/>
                  <a:pt x="99536" y="66645"/>
                  <a:pt x="104805" y="66645"/>
                </a:cubicBezTo>
                <a:lnTo>
                  <a:pt x="133380" y="66645"/>
                </a:lnTo>
                <a:cubicBezTo>
                  <a:pt x="138648" y="66645"/>
                  <a:pt x="142905" y="62389"/>
                  <a:pt x="142905" y="57120"/>
                </a:cubicBezTo>
                <a:cubicBezTo>
                  <a:pt x="142905" y="51852"/>
                  <a:pt x="138648" y="47595"/>
                  <a:pt x="133380" y="47595"/>
                </a:cubicBezTo>
                <a:lnTo>
                  <a:pt x="128617" y="47595"/>
                </a:lnTo>
                <a:lnTo>
                  <a:pt x="128617" y="19020"/>
                </a:lnTo>
                <a:cubicBezTo>
                  <a:pt x="128617" y="15954"/>
                  <a:pt x="127159" y="13097"/>
                  <a:pt x="124658" y="11281"/>
                </a:cubicBezTo>
                <a:close/>
                <a:moveTo>
                  <a:pt x="108674" y="128171"/>
                </a:moveTo>
                <a:cubicBezTo>
                  <a:pt x="105817" y="132576"/>
                  <a:pt x="107067" y="138470"/>
                  <a:pt x="111472" y="141357"/>
                </a:cubicBezTo>
                <a:cubicBezTo>
                  <a:pt x="115878" y="144244"/>
                  <a:pt x="121771" y="142964"/>
                  <a:pt x="124658" y="138559"/>
                </a:cubicBezTo>
                <a:lnTo>
                  <a:pt x="137190" y="119241"/>
                </a:lnTo>
                <a:cubicBezTo>
                  <a:pt x="140881" y="113526"/>
                  <a:pt x="142875" y="106859"/>
                  <a:pt x="142875" y="100042"/>
                </a:cubicBezTo>
                <a:cubicBezTo>
                  <a:pt x="142875" y="86886"/>
                  <a:pt x="132219" y="76230"/>
                  <a:pt x="119063" y="76230"/>
                </a:cubicBezTo>
                <a:cubicBezTo>
                  <a:pt x="105906" y="76230"/>
                  <a:pt x="95250" y="86886"/>
                  <a:pt x="95250" y="100042"/>
                </a:cubicBezTo>
                <a:cubicBezTo>
                  <a:pt x="95250" y="110788"/>
                  <a:pt x="102364" y="119896"/>
                  <a:pt x="112157" y="122843"/>
                </a:cubicBezTo>
                <a:lnTo>
                  <a:pt x="108674" y="128201"/>
                </a:lnTo>
                <a:close/>
                <a:moveTo>
                  <a:pt x="111919" y="100013"/>
                </a:moveTo>
                <a:cubicBezTo>
                  <a:pt x="111919" y="96070"/>
                  <a:pt x="115120" y="92869"/>
                  <a:pt x="119062" y="92869"/>
                </a:cubicBezTo>
                <a:cubicBezTo>
                  <a:pt x="123005" y="92869"/>
                  <a:pt x="126206" y="96070"/>
                  <a:pt x="126206" y="100013"/>
                </a:cubicBezTo>
                <a:cubicBezTo>
                  <a:pt x="126206" y="103955"/>
                  <a:pt x="123005" y="107156"/>
                  <a:pt x="119062" y="107156"/>
                </a:cubicBezTo>
                <a:cubicBezTo>
                  <a:pt x="115120" y="107156"/>
                  <a:pt x="111919" y="103955"/>
                  <a:pt x="111919" y="10001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6" name="Text 54"/>
          <p:cNvSpPr/>
          <p:nvPr/>
        </p:nvSpPr>
        <p:spPr>
          <a:xfrm>
            <a:off x="3890962" y="5972175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 Removal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890962" y="6200775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digits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72200" y="5991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286500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76200"/>
                </a:moveTo>
                <a:lnTo>
                  <a:pt x="45393" y="87957"/>
                </a:lnTo>
                <a:cubicBezTo>
                  <a:pt x="41642" y="86499"/>
                  <a:pt x="37594" y="85725"/>
                  <a:pt x="33338" y="85725"/>
                </a:cubicBezTo>
                <a:cubicBezTo>
                  <a:pt x="14913" y="85725"/>
                  <a:pt x="0" y="100638"/>
                  <a:pt x="0" y="119062"/>
                </a:cubicBezTo>
                <a:cubicBezTo>
                  <a:pt x="0" y="137487"/>
                  <a:pt x="14913" y="152400"/>
                  <a:pt x="33338" y="152400"/>
                </a:cubicBezTo>
                <a:cubicBezTo>
                  <a:pt x="51762" y="152400"/>
                  <a:pt x="66675" y="137487"/>
                  <a:pt x="66675" y="119062"/>
                </a:cubicBezTo>
                <a:cubicBezTo>
                  <a:pt x="66675" y="114806"/>
                  <a:pt x="65871" y="110758"/>
                  <a:pt x="64443" y="107007"/>
                </a:cubicBezTo>
                <a:lnTo>
                  <a:pt x="148590" y="22860"/>
                </a:lnTo>
                <a:cubicBezTo>
                  <a:pt x="150703" y="20747"/>
                  <a:pt x="150703" y="17353"/>
                  <a:pt x="148590" y="15240"/>
                </a:cubicBezTo>
                <a:cubicBezTo>
                  <a:pt x="140166" y="6816"/>
                  <a:pt x="126534" y="6816"/>
                  <a:pt x="118110" y="15240"/>
                </a:cubicBezTo>
                <a:lnTo>
                  <a:pt x="76200" y="57150"/>
                </a:lnTo>
                <a:lnTo>
                  <a:pt x="64443" y="45393"/>
                </a:lnTo>
                <a:cubicBezTo>
                  <a:pt x="65901" y="41642"/>
                  <a:pt x="66675" y="37594"/>
                  <a:pt x="66675" y="33338"/>
                </a:cubicBezTo>
                <a:cubicBezTo>
                  <a:pt x="66675" y="14913"/>
                  <a:pt x="51762" y="0"/>
                  <a:pt x="33338" y="0"/>
                </a:cubicBezTo>
                <a:cubicBezTo>
                  <a:pt x="14913" y="0"/>
                  <a:pt x="0" y="14913"/>
                  <a:pt x="0" y="33338"/>
                </a:cubicBezTo>
                <a:cubicBezTo>
                  <a:pt x="0" y="51762"/>
                  <a:pt x="14913" y="66675"/>
                  <a:pt x="33338" y="66675"/>
                </a:cubicBezTo>
                <a:cubicBezTo>
                  <a:pt x="37594" y="66675"/>
                  <a:pt x="41642" y="65871"/>
                  <a:pt x="45393" y="64443"/>
                </a:cubicBezTo>
                <a:lnTo>
                  <a:pt x="57150" y="76200"/>
                </a:lnTo>
                <a:close/>
                <a:moveTo>
                  <a:pt x="86291" y="105341"/>
                </a:moveTo>
                <a:lnTo>
                  <a:pt x="118110" y="137160"/>
                </a:lnTo>
                <a:cubicBezTo>
                  <a:pt x="126534" y="145584"/>
                  <a:pt x="140166" y="145584"/>
                  <a:pt x="148590" y="137160"/>
                </a:cubicBezTo>
                <a:cubicBezTo>
                  <a:pt x="150703" y="135047"/>
                  <a:pt x="150703" y="131653"/>
                  <a:pt x="148590" y="129540"/>
                </a:cubicBezTo>
                <a:lnTo>
                  <a:pt x="105341" y="86291"/>
                </a:lnTo>
                <a:lnTo>
                  <a:pt x="86291" y="105341"/>
                </a:lnTo>
                <a:close/>
                <a:moveTo>
                  <a:pt x="19050" y="33338"/>
                </a:moveTo>
                <a:cubicBezTo>
                  <a:pt x="19050" y="25452"/>
                  <a:pt x="25452" y="19050"/>
                  <a:pt x="33337" y="19050"/>
                </a:cubicBezTo>
                <a:cubicBezTo>
                  <a:pt x="41223" y="19050"/>
                  <a:pt x="47625" y="25452"/>
                  <a:pt x="47625" y="33337"/>
                </a:cubicBezTo>
                <a:cubicBezTo>
                  <a:pt x="47625" y="41223"/>
                  <a:pt x="41223" y="47625"/>
                  <a:pt x="33338" y="47625"/>
                </a:cubicBezTo>
                <a:cubicBezTo>
                  <a:pt x="25452" y="47625"/>
                  <a:pt x="19050" y="41223"/>
                  <a:pt x="19050" y="33338"/>
                </a:cubicBezTo>
                <a:close/>
                <a:moveTo>
                  <a:pt x="33338" y="104775"/>
                </a:moveTo>
                <a:cubicBezTo>
                  <a:pt x="41223" y="104775"/>
                  <a:pt x="47625" y="111177"/>
                  <a:pt x="47625" y="119062"/>
                </a:cubicBezTo>
                <a:cubicBezTo>
                  <a:pt x="47625" y="126948"/>
                  <a:pt x="41223" y="133350"/>
                  <a:pt x="33338" y="133350"/>
                </a:cubicBezTo>
                <a:cubicBezTo>
                  <a:pt x="25452" y="133350"/>
                  <a:pt x="19050" y="126948"/>
                  <a:pt x="19050" y="119062"/>
                </a:cubicBezTo>
                <a:cubicBezTo>
                  <a:pt x="19050" y="111177"/>
                  <a:pt x="25452" y="104775"/>
                  <a:pt x="33337" y="1047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0" name="Text 58"/>
          <p:cNvSpPr/>
          <p:nvPr/>
        </p:nvSpPr>
        <p:spPr>
          <a:xfrm>
            <a:off x="6667500" y="5972175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67500" y="620077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 into words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948738" y="5991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63038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4" name="Text 62"/>
          <p:cNvSpPr/>
          <p:nvPr/>
        </p:nvSpPr>
        <p:spPr>
          <a:xfrm>
            <a:off x="9444038" y="5972175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Stopword Removal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444038" y="6200775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common words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813" y="379813"/>
            <a:ext cx="11498841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kern="0" spc="52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Conclusions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813" y="645682"/>
            <a:ext cx="11603290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2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Summary and Achievements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561" y="1258131"/>
            <a:ext cx="5554766" cy="1813607"/>
          </a:xfrm>
          <a:custGeom>
            <a:avLst/>
            <a:gdLst/>
            <a:ahLst/>
            <a:cxnLst/>
            <a:rect l="l" t="t" r="r" b="b"/>
            <a:pathLst>
              <a:path w="5554766" h="1813607">
                <a:moveTo>
                  <a:pt x="151926" y="0"/>
                </a:moveTo>
                <a:lnTo>
                  <a:pt x="5402840" y="0"/>
                </a:lnTo>
                <a:cubicBezTo>
                  <a:pt x="5486747" y="0"/>
                  <a:pt x="5554766" y="68020"/>
                  <a:pt x="5554766" y="151926"/>
                </a:cubicBezTo>
                <a:lnTo>
                  <a:pt x="5554766" y="1661682"/>
                </a:lnTo>
                <a:cubicBezTo>
                  <a:pt x="5554766" y="1745588"/>
                  <a:pt x="5486747" y="1813607"/>
                  <a:pt x="5402840" y="1813607"/>
                </a:cubicBezTo>
                <a:lnTo>
                  <a:pt x="151926" y="1813607"/>
                </a:lnTo>
                <a:cubicBezTo>
                  <a:pt x="68020" y="1813607"/>
                  <a:pt x="0" y="1745588"/>
                  <a:pt x="0" y="1661682"/>
                </a:cubicBezTo>
                <a:lnTo>
                  <a:pt x="0" y="151926"/>
                </a:lnTo>
                <a:cubicBezTo>
                  <a:pt x="0" y="68020"/>
                  <a:pt x="68020" y="0"/>
                  <a:pt x="15192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196" y="1490766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750131" y="1623701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94953" y="189907"/>
                </a:moveTo>
                <a:cubicBezTo>
                  <a:pt x="147359" y="189907"/>
                  <a:pt x="189907" y="147359"/>
                  <a:pt x="189907" y="94953"/>
                </a:cubicBezTo>
                <a:cubicBezTo>
                  <a:pt x="189907" y="42547"/>
                  <a:pt x="147359" y="0"/>
                  <a:pt x="94953" y="0"/>
                </a:cubicBezTo>
                <a:cubicBezTo>
                  <a:pt x="42547" y="0"/>
                  <a:pt x="0" y="42547"/>
                  <a:pt x="0" y="94953"/>
                </a:cubicBezTo>
                <a:cubicBezTo>
                  <a:pt x="0" y="147359"/>
                  <a:pt x="42547" y="189907"/>
                  <a:pt x="94953" y="189907"/>
                </a:cubicBezTo>
                <a:close/>
                <a:moveTo>
                  <a:pt x="126258" y="78893"/>
                </a:moveTo>
                <a:lnTo>
                  <a:pt x="96585" y="126369"/>
                </a:lnTo>
                <a:cubicBezTo>
                  <a:pt x="95027" y="128855"/>
                  <a:pt x="92357" y="130412"/>
                  <a:pt x="89427" y="130561"/>
                </a:cubicBezTo>
                <a:cubicBezTo>
                  <a:pt x="86496" y="130709"/>
                  <a:pt x="83678" y="129374"/>
                  <a:pt x="81934" y="127000"/>
                </a:cubicBezTo>
                <a:lnTo>
                  <a:pt x="64131" y="103262"/>
                </a:lnTo>
                <a:cubicBezTo>
                  <a:pt x="61163" y="99330"/>
                  <a:pt x="61979" y="93766"/>
                  <a:pt x="65911" y="90799"/>
                </a:cubicBezTo>
                <a:cubicBezTo>
                  <a:pt x="69843" y="87832"/>
                  <a:pt x="75406" y="88648"/>
                  <a:pt x="78374" y="92579"/>
                </a:cubicBezTo>
                <a:lnTo>
                  <a:pt x="88388" y="105932"/>
                </a:lnTo>
                <a:lnTo>
                  <a:pt x="111162" y="69472"/>
                </a:lnTo>
                <a:cubicBezTo>
                  <a:pt x="113758" y="65317"/>
                  <a:pt x="119248" y="64019"/>
                  <a:pt x="123439" y="66653"/>
                </a:cubicBezTo>
                <a:cubicBezTo>
                  <a:pt x="127631" y="69286"/>
                  <a:pt x="128892" y="74739"/>
                  <a:pt x="126258" y="789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24897" y="1585720"/>
            <a:ext cx="143379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196" y="2098467"/>
            <a:ext cx="5165458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sentiment analysis project </a:t>
            </a: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successfully demonstrated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complete process of cleaning, preprocessing, and modeling textual data from tweets to classify them into positive, negative, and neutral emotions.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561" y="3271140"/>
            <a:ext cx="5554766" cy="1813607"/>
          </a:xfrm>
          <a:custGeom>
            <a:avLst/>
            <a:gdLst/>
            <a:ahLst/>
            <a:cxnLst/>
            <a:rect l="l" t="t" r="r" b="b"/>
            <a:pathLst>
              <a:path w="5554766" h="1813607">
                <a:moveTo>
                  <a:pt x="151926" y="0"/>
                </a:moveTo>
                <a:lnTo>
                  <a:pt x="5402840" y="0"/>
                </a:lnTo>
                <a:cubicBezTo>
                  <a:pt x="5486747" y="0"/>
                  <a:pt x="5554766" y="68020"/>
                  <a:pt x="5554766" y="151926"/>
                </a:cubicBezTo>
                <a:lnTo>
                  <a:pt x="5554766" y="1661682"/>
                </a:lnTo>
                <a:cubicBezTo>
                  <a:pt x="5554766" y="1745588"/>
                  <a:pt x="5486747" y="1813607"/>
                  <a:pt x="5402840" y="1813607"/>
                </a:cubicBezTo>
                <a:lnTo>
                  <a:pt x="151926" y="1813607"/>
                </a:lnTo>
                <a:cubicBezTo>
                  <a:pt x="68020" y="1813607"/>
                  <a:pt x="0" y="1745588"/>
                  <a:pt x="0" y="1661682"/>
                </a:cubicBezTo>
                <a:lnTo>
                  <a:pt x="0" y="151926"/>
                </a:lnTo>
                <a:cubicBezTo>
                  <a:pt x="0" y="68020"/>
                  <a:pt x="68020" y="0"/>
                  <a:pt x="15192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196" y="3503776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Shape 9"/>
          <p:cNvSpPr/>
          <p:nvPr/>
        </p:nvSpPr>
        <p:spPr>
          <a:xfrm>
            <a:off x="738262" y="3636710"/>
            <a:ext cx="213645" cy="189907"/>
          </a:xfrm>
          <a:custGeom>
            <a:avLst/>
            <a:gdLst/>
            <a:ahLst/>
            <a:cxnLst/>
            <a:rect l="l" t="t" r="r" b="b"/>
            <a:pathLst>
              <a:path w="213645" h="189907">
                <a:moveTo>
                  <a:pt x="114797" y="-7010"/>
                </a:moveTo>
                <a:cubicBezTo>
                  <a:pt x="113276" y="-9978"/>
                  <a:pt x="110198" y="-11869"/>
                  <a:pt x="106860" y="-11869"/>
                </a:cubicBezTo>
                <a:cubicBezTo>
                  <a:pt x="103521" y="-11869"/>
                  <a:pt x="100443" y="-9978"/>
                  <a:pt x="98922" y="-7010"/>
                </a:cubicBezTo>
                <a:lnTo>
                  <a:pt x="71623" y="46475"/>
                </a:lnTo>
                <a:lnTo>
                  <a:pt x="12314" y="55896"/>
                </a:lnTo>
                <a:cubicBezTo>
                  <a:pt x="9013" y="56416"/>
                  <a:pt x="6268" y="58752"/>
                  <a:pt x="5230" y="61942"/>
                </a:cubicBezTo>
                <a:cubicBezTo>
                  <a:pt x="4191" y="65132"/>
                  <a:pt x="5044" y="68619"/>
                  <a:pt x="7381" y="70992"/>
                </a:cubicBezTo>
                <a:lnTo>
                  <a:pt x="49813" y="113462"/>
                </a:lnTo>
                <a:lnTo>
                  <a:pt x="40466" y="172770"/>
                </a:lnTo>
                <a:cubicBezTo>
                  <a:pt x="39947" y="176072"/>
                  <a:pt x="41320" y="179410"/>
                  <a:pt x="44027" y="181376"/>
                </a:cubicBezTo>
                <a:cubicBezTo>
                  <a:pt x="46735" y="183341"/>
                  <a:pt x="50296" y="183638"/>
                  <a:pt x="53300" y="182117"/>
                </a:cubicBezTo>
                <a:lnTo>
                  <a:pt x="106860" y="154893"/>
                </a:lnTo>
                <a:lnTo>
                  <a:pt x="160382" y="182117"/>
                </a:lnTo>
                <a:cubicBezTo>
                  <a:pt x="163349" y="183638"/>
                  <a:pt x="166947" y="183341"/>
                  <a:pt x="169655" y="181376"/>
                </a:cubicBezTo>
                <a:cubicBezTo>
                  <a:pt x="172362" y="179410"/>
                  <a:pt x="173735" y="176109"/>
                  <a:pt x="173216" y="172770"/>
                </a:cubicBezTo>
                <a:lnTo>
                  <a:pt x="163831" y="113462"/>
                </a:lnTo>
                <a:lnTo>
                  <a:pt x="206264" y="70992"/>
                </a:lnTo>
                <a:cubicBezTo>
                  <a:pt x="208638" y="68619"/>
                  <a:pt x="209454" y="65132"/>
                  <a:pt x="208415" y="61942"/>
                </a:cubicBezTo>
                <a:cubicBezTo>
                  <a:pt x="207376" y="58752"/>
                  <a:pt x="204669" y="56416"/>
                  <a:pt x="201331" y="55896"/>
                </a:cubicBezTo>
                <a:lnTo>
                  <a:pt x="142059" y="46475"/>
                </a:lnTo>
                <a:lnTo>
                  <a:pt x="114797" y="-701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24897" y="3598729"/>
            <a:ext cx="202250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Performing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7196" y="4111477"/>
            <a:ext cx="5165458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Among the models tested, </a:t>
            </a: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SVC achieved the best overall performance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making it the most effective choice for sentiment classification in this dataset.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561" y="5284150"/>
            <a:ext cx="5554766" cy="1566729"/>
          </a:xfrm>
          <a:custGeom>
            <a:avLst/>
            <a:gdLst/>
            <a:ahLst/>
            <a:cxnLst/>
            <a:rect l="l" t="t" r="r" b="b"/>
            <a:pathLst>
              <a:path w="5554766" h="1566729">
                <a:moveTo>
                  <a:pt x="151926" y="0"/>
                </a:moveTo>
                <a:lnTo>
                  <a:pt x="5402841" y="0"/>
                </a:lnTo>
                <a:cubicBezTo>
                  <a:pt x="5486747" y="0"/>
                  <a:pt x="5554766" y="68019"/>
                  <a:pt x="5554766" y="151926"/>
                </a:cubicBezTo>
                <a:lnTo>
                  <a:pt x="5554766" y="1414803"/>
                </a:lnTo>
                <a:cubicBezTo>
                  <a:pt x="5554766" y="1498710"/>
                  <a:pt x="5486747" y="1566729"/>
                  <a:pt x="5402841" y="1566729"/>
                </a:cubicBezTo>
                <a:lnTo>
                  <a:pt x="151926" y="1566729"/>
                </a:lnTo>
                <a:cubicBezTo>
                  <a:pt x="68019" y="1566729"/>
                  <a:pt x="0" y="1498710"/>
                  <a:pt x="0" y="1414803"/>
                </a:cubicBezTo>
                <a:lnTo>
                  <a:pt x="0" y="151926"/>
                </a:lnTo>
                <a:cubicBezTo>
                  <a:pt x="0" y="68076"/>
                  <a:pt x="68076" y="0"/>
                  <a:pt x="15192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196" y="5516785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393" y="5649720"/>
            <a:ext cx="237383" cy="189907"/>
          </a:xfrm>
          <a:custGeom>
            <a:avLst/>
            <a:gdLst/>
            <a:ahLst/>
            <a:cxnLst/>
            <a:rect l="l" t="t" r="r" b="b"/>
            <a:pathLst>
              <a:path w="237383" h="189907">
                <a:moveTo>
                  <a:pt x="154262" y="78077"/>
                </a:moveTo>
                <a:cubicBezTo>
                  <a:pt x="158787" y="76853"/>
                  <a:pt x="163535" y="79004"/>
                  <a:pt x="165575" y="83195"/>
                </a:cubicBezTo>
                <a:lnTo>
                  <a:pt x="172474" y="97142"/>
                </a:lnTo>
                <a:cubicBezTo>
                  <a:pt x="176294" y="97661"/>
                  <a:pt x="180040" y="98699"/>
                  <a:pt x="183564" y="100146"/>
                </a:cubicBezTo>
                <a:lnTo>
                  <a:pt x="196546" y="91504"/>
                </a:lnTo>
                <a:cubicBezTo>
                  <a:pt x="200440" y="88907"/>
                  <a:pt x="205596" y="89427"/>
                  <a:pt x="208897" y="92728"/>
                </a:cubicBezTo>
                <a:lnTo>
                  <a:pt x="216019" y="99849"/>
                </a:lnTo>
                <a:cubicBezTo>
                  <a:pt x="219320" y="103150"/>
                  <a:pt x="219839" y="108343"/>
                  <a:pt x="217243" y="112201"/>
                </a:cubicBezTo>
                <a:lnTo>
                  <a:pt x="208600" y="125145"/>
                </a:lnTo>
                <a:cubicBezTo>
                  <a:pt x="209305" y="126889"/>
                  <a:pt x="209936" y="128706"/>
                  <a:pt x="210455" y="130598"/>
                </a:cubicBezTo>
                <a:cubicBezTo>
                  <a:pt x="210974" y="132489"/>
                  <a:pt x="211308" y="134344"/>
                  <a:pt x="211568" y="136236"/>
                </a:cubicBezTo>
                <a:lnTo>
                  <a:pt x="225551" y="143135"/>
                </a:lnTo>
                <a:cubicBezTo>
                  <a:pt x="229742" y="145212"/>
                  <a:pt x="231894" y="149959"/>
                  <a:pt x="230670" y="154447"/>
                </a:cubicBezTo>
                <a:lnTo>
                  <a:pt x="228073" y="164165"/>
                </a:lnTo>
                <a:cubicBezTo>
                  <a:pt x="226849" y="168653"/>
                  <a:pt x="222658" y="171695"/>
                  <a:pt x="217985" y="171398"/>
                </a:cubicBezTo>
                <a:lnTo>
                  <a:pt x="202406" y="170397"/>
                </a:lnTo>
                <a:cubicBezTo>
                  <a:pt x="200070" y="173401"/>
                  <a:pt x="197362" y="176183"/>
                  <a:pt x="194283" y="178557"/>
                </a:cubicBezTo>
                <a:lnTo>
                  <a:pt x="195285" y="194098"/>
                </a:lnTo>
                <a:cubicBezTo>
                  <a:pt x="195581" y="198771"/>
                  <a:pt x="192540" y="203000"/>
                  <a:pt x="188052" y="204187"/>
                </a:cubicBezTo>
                <a:lnTo>
                  <a:pt x="178334" y="206783"/>
                </a:lnTo>
                <a:cubicBezTo>
                  <a:pt x="173809" y="208007"/>
                  <a:pt x="169098" y="205856"/>
                  <a:pt x="167021" y="201664"/>
                </a:cubicBezTo>
                <a:lnTo>
                  <a:pt x="160122" y="187718"/>
                </a:lnTo>
                <a:cubicBezTo>
                  <a:pt x="156302" y="187199"/>
                  <a:pt x="152556" y="186160"/>
                  <a:pt x="149032" y="184714"/>
                </a:cubicBezTo>
                <a:lnTo>
                  <a:pt x="136050" y="193356"/>
                </a:lnTo>
                <a:cubicBezTo>
                  <a:pt x="132156" y="195952"/>
                  <a:pt x="127000" y="195433"/>
                  <a:pt x="123699" y="192132"/>
                </a:cubicBezTo>
                <a:lnTo>
                  <a:pt x="116577" y="185011"/>
                </a:lnTo>
                <a:cubicBezTo>
                  <a:pt x="113276" y="181709"/>
                  <a:pt x="112757" y="176554"/>
                  <a:pt x="115353" y="172659"/>
                </a:cubicBezTo>
                <a:lnTo>
                  <a:pt x="123996" y="159677"/>
                </a:lnTo>
                <a:cubicBezTo>
                  <a:pt x="123291" y="157934"/>
                  <a:pt x="122660" y="156117"/>
                  <a:pt x="122141" y="154225"/>
                </a:cubicBezTo>
                <a:cubicBezTo>
                  <a:pt x="121622" y="152333"/>
                  <a:pt x="121288" y="150442"/>
                  <a:pt x="121028" y="148587"/>
                </a:cubicBezTo>
                <a:lnTo>
                  <a:pt x="107045" y="141688"/>
                </a:lnTo>
                <a:cubicBezTo>
                  <a:pt x="102854" y="139611"/>
                  <a:pt x="100739" y="134863"/>
                  <a:pt x="101926" y="130375"/>
                </a:cubicBezTo>
                <a:lnTo>
                  <a:pt x="104523" y="120657"/>
                </a:lnTo>
                <a:cubicBezTo>
                  <a:pt x="105747" y="116169"/>
                  <a:pt x="109938" y="113128"/>
                  <a:pt x="114612" y="113425"/>
                </a:cubicBezTo>
                <a:lnTo>
                  <a:pt x="130153" y="114426"/>
                </a:lnTo>
                <a:cubicBezTo>
                  <a:pt x="132489" y="111422"/>
                  <a:pt x="135197" y="108640"/>
                  <a:pt x="138276" y="106266"/>
                </a:cubicBezTo>
                <a:lnTo>
                  <a:pt x="137274" y="90762"/>
                </a:lnTo>
                <a:cubicBezTo>
                  <a:pt x="136978" y="86088"/>
                  <a:pt x="140019" y="81860"/>
                  <a:pt x="144507" y="80673"/>
                </a:cubicBezTo>
                <a:lnTo>
                  <a:pt x="154225" y="78077"/>
                </a:lnTo>
                <a:close/>
                <a:moveTo>
                  <a:pt x="166317" y="126110"/>
                </a:moveTo>
                <a:cubicBezTo>
                  <a:pt x="157309" y="126120"/>
                  <a:pt x="150005" y="133441"/>
                  <a:pt x="150015" y="142448"/>
                </a:cubicBezTo>
                <a:cubicBezTo>
                  <a:pt x="150025" y="151456"/>
                  <a:pt x="157346" y="158760"/>
                  <a:pt x="166354" y="158750"/>
                </a:cubicBezTo>
                <a:cubicBezTo>
                  <a:pt x="175361" y="158740"/>
                  <a:pt x="182665" y="151419"/>
                  <a:pt x="182655" y="142411"/>
                </a:cubicBezTo>
                <a:cubicBezTo>
                  <a:pt x="182645" y="133404"/>
                  <a:pt x="175324" y="126100"/>
                  <a:pt x="166317" y="126110"/>
                </a:cubicBezTo>
                <a:close/>
                <a:moveTo>
                  <a:pt x="83418" y="-16876"/>
                </a:moveTo>
                <a:lnTo>
                  <a:pt x="93136" y="-14280"/>
                </a:lnTo>
                <a:cubicBezTo>
                  <a:pt x="97624" y="-13056"/>
                  <a:pt x="100665" y="-8828"/>
                  <a:pt x="100369" y="-4191"/>
                </a:cubicBezTo>
                <a:lnTo>
                  <a:pt x="99367" y="11313"/>
                </a:lnTo>
                <a:cubicBezTo>
                  <a:pt x="102446" y="13687"/>
                  <a:pt x="105153" y="16431"/>
                  <a:pt x="107490" y="19473"/>
                </a:cubicBezTo>
                <a:lnTo>
                  <a:pt x="123068" y="18471"/>
                </a:lnTo>
                <a:cubicBezTo>
                  <a:pt x="127705" y="18175"/>
                  <a:pt x="131933" y="21216"/>
                  <a:pt x="133157" y="25704"/>
                </a:cubicBezTo>
                <a:lnTo>
                  <a:pt x="135754" y="35422"/>
                </a:lnTo>
                <a:cubicBezTo>
                  <a:pt x="136940" y="39910"/>
                  <a:pt x="134826" y="44658"/>
                  <a:pt x="130635" y="46735"/>
                </a:cubicBezTo>
                <a:lnTo>
                  <a:pt x="116652" y="53634"/>
                </a:lnTo>
                <a:cubicBezTo>
                  <a:pt x="116392" y="55525"/>
                  <a:pt x="116021" y="57417"/>
                  <a:pt x="115539" y="59272"/>
                </a:cubicBezTo>
                <a:cubicBezTo>
                  <a:pt x="115057" y="61126"/>
                  <a:pt x="114389" y="62981"/>
                  <a:pt x="113684" y="64724"/>
                </a:cubicBezTo>
                <a:lnTo>
                  <a:pt x="122327" y="77706"/>
                </a:lnTo>
                <a:cubicBezTo>
                  <a:pt x="124923" y="81600"/>
                  <a:pt x="124404" y="86756"/>
                  <a:pt x="121103" y="90057"/>
                </a:cubicBezTo>
                <a:lnTo>
                  <a:pt x="113981" y="97179"/>
                </a:lnTo>
                <a:cubicBezTo>
                  <a:pt x="110680" y="100480"/>
                  <a:pt x="105524" y="100999"/>
                  <a:pt x="101630" y="98403"/>
                </a:cubicBezTo>
                <a:lnTo>
                  <a:pt x="88648" y="89761"/>
                </a:lnTo>
                <a:cubicBezTo>
                  <a:pt x="85124" y="91207"/>
                  <a:pt x="81378" y="92246"/>
                  <a:pt x="77558" y="92765"/>
                </a:cubicBezTo>
                <a:lnTo>
                  <a:pt x="70659" y="106711"/>
                </a:lnTo>
                <a:cubicBezTo>
                  <a:pt x="68581" y="110902"/>
                  <a:pt x="63834" y="113017"/>
                  <a:pt x="59346" y="111830"/>
                </a:cubicBezTo>
                <a:lnTo>
                  <a:pt x="49628" y="109233"/>
                </a:lnTo>
                <a:cubicBezTo>
                  <a:pt x="45103" y="108009"/>
                  <a:pt x="42098" y="103781"/>
                  <a:pt x="42395" y="99145"/>
                </a:cubicBezTo>
                <a:lnTo>
                  <a:pt x="43397" y="83603"/>
                </a:lnTo>
                <a:cubicBezTo>
                  <a:pt x="40318" y="81230"/>
                  <a:pt x="37610" y="78485"/>
                  <a:pt x="35274" y="75443"/>
                </a:cubicBezTo>
                <a:lnTo>
                  <a:pt x="19695" y="76445"/>
                </a:lnTo>
                <a:cubicBezTo>
                  <a:pt x="15059" y="76742"/>
                  <a:pt x="10831" y="73700"/>
                  <a:pt x="9607" y="69212"/>
                </a:cubicBezTo>
                <a:lnTo>
                  <a:pt x="7010" y="59494"/>
                </a:lnTo>
                <a:cubicBezTo>
                  <a:pt x="5823" y="55006"/>
                  <a:pt x="7938" y="50258"/>
                  <a:pt x="12129" y="48181"/>
                </a:cubicBezTo>
                <a:lnTo>
                  <a:pt x="26112" y="41282"/>
                </a:lnTo>
                <a:cubicBezTo>
                  <a:pt x="26372" y="39391"/>
                  <a:pt x="26743" y="37536"/>
                  <a:pt x="27225" y="35645"/>
                </a:cubicBezTo>
                <a:cubicBezTo>
                  <a:pt x="27744" y="33753"/>
                  <a:pt x="28338" y="31935"/>
                  <a:pt x="29079" y="30192"/>
                </a:cubicBezTo>
                <a:lnTo>
                  <a:pt x="20437" y="17247"/>
                </a:lnTo>
                <a:cubicBezTo>
                  <a:pt x="17841" y="13353"/>
                  <a:pt x="18360" y="8197"/>
                  <a:pt x="21661" y="4896"/>
                </a:cubicBezTo>
                <a:lnTo>
                  <a:pt x="28783" y="-2225"/>
                </a:lnTo>
                <a:cubicBezTo>
                  <a:pt x="32084" y="-5527"/>
                  <a:pt x="37239" y="-6046"/>
                  <a:pt x="41134" y="-3449"/>
                </a:cubicBezTo>
                <a:lnTo>
                  <a:pt x="54116" y="5193"/>
                </a:lnTo>
                <a:cubicBezTo>
                  <a:pt x="57640" y="3746"/>
                  <a:pt x="61386" y="2708"/>
                  <a:pt x="65206" y="2188"/>
                </a:cubicBezTo>
                <a:lnTo>
                  <a:pt x="72105" y="-11758"/>
                </a:lnTo>
                <a:cubicBezTo>
                  <a:pt x="74182" y="-15949"/>
                  <a:pt x="78893" y="-18063"/>
                  <a:pt x="83418" y="-16876"/>
                </a:cubicBezTo>
                <a:close/>
                <a:moveTo>
                  <a:pt x="71363" y="31157"/>
                </a:moveTo>
                <a:cubicBezTo>
                  <a:pt x="62356" y="31157"/>
                  <a:pt x="55043" y="38469"/>
                  <a:pt x="55043" y="47477"/>
                </a:cubicBezTo>
                <a:cubicBezTo>
                  <a:pt x="55043" y="56484"/>
                  <a:pt x="62356" y="63797"/>
                  <a:pt x="71363" y="63797"/>
                </a:cubicBezTo>
                <a:cubicBezTo>
                  <a:pt x="80371" y="63797"/>
                  <a:pt x="87683" y="56484"/>
                  <a:pt x="87683" y="47477"/>
                </a:cubicBezTo>
                <a:cubicBezTo>
                  <a:pt x="87683" y="38469"/>
                  <a:pt x="80371" y="31157"/>
                  <a:pt x="71363" y="311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24897" y="5611738"/>
            <a:ext cx="2107963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Success Factors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196" y="6124486"/>
            <a:ext cx="5165458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results highlight the importance of </a:t>
            </a: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careful feature extraction using TF-IDF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hyperparameter tuning to optimize model performance.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0522" y="1922804"/>
            <a:ext cx="5554766" cy="2212411"/>
          </a:xfrm>
          <a:custGeom>
            <a:avLst/>
            <a:gdLst/>
            <a:ahLst/>
            <a:cxnLst/>
            <a:rect l="l" t="t" r="r" b="b"/>
            <a:pathLst>
              <a:path w="5554766" h="2212411">
                <a:moveTo>
                  <a:pt x="151926" y="0"/>
                </a:moveTo>
                <a:lnTo>
                  <a:pt x="5402840" y="0"/>
                </a:lnTo>
                <a:cubicBezTo>
                  <a:pt x="5486747" y="0"/>
                  <a:pt x="5554766" y="68020"/>
                  <a:pt x="5554766" y="151926"/>
                </a:cubicBezTo>
                <a:lnTo>
                  <a:pt x="5554766" y="2060485"/>
                </a:lnTo>
                <a:cubicBezTo>
                  <a:pt x="5554766" y="2144392"/>
                  <a:pt x="5486747" y="2212411"/>
                  <a:pt x="5402840" y="2212411"/>
                </a:cubicBezTo>
                <a:lnTo>
                  <a:pt x="151926" y="2212411"/>
                </a:lnTo>
                <a:cubicBezTo>
                  <a:pt x="68020" y="2212411"/>
                  <a:pt x="0" y="2144392"/>
                  <a:pt x="0" y="2060485"/>
                </a:cubicBezTo>
                <a:lnTo>
                  <a:pt x="0" y="151926"/>
                </a:lnTo>
                <a:cubicBezTo>
                  <a:pt x="0" y="68076"/>
                  <a:pt x="68076" y="0"/>
                  <a:pt x="15192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6895" y="2193421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124626" y="130561"/>
                </a:moveTo>
                <a:cubicBezTo>
                  <a:pt x="160679" y="130561"/>
                  <a:pt x="189907" y="101333"/>
                  <a:pt x="189907" y="65280"/>
                </a:cubicBezTo>
                <a:cubicBezTo>
                  <a:pt x="189907" y="29228"/>
                  <a:pt x="160679" y="0"/>
                  <a:pt x="124626" y="0"/>
                </a:cubicBezTo>
                <a:cubicBezTo>
                  <a:pt x="88574" y="0"/>
                  <a:pt x="59346" y="29228"/>
                  <a:pt x="59346" y="65280"/>
                </a:cubicBezTo>
                <a:cubicBezTo>
                  <a:pt x="59346" y="72216"/>
                  <a:pt x="60421" y="78930"/>
                  <a:pt x="62424" y="85198"/>
                </a:cubicBezTo>
                <a:lnTo>
                  <a:pt x="2596" y="145026"/>
                </a:lnTo>
                <a:cubicBezTo>
                  <a:pt x="927" y="146695"/>
                  <a:pt x="0" y="148958"/>
                  <a:pt x="0" y="151332"/>
                </a:cubicBezTo>
                <a:lnTo>
                  <a:pt x="0" y="181005"/>
                </a:lnTo>
                <a:cubicBezTo>
                  <a:pt x="0" y="185938"/>
                  <a:pt x="3969" y="189907"/>
                  <a:pt x="8902" y="189907"/>
                </a:cubicBezTo>
                <a:lnTo>
                  <a:pt x="38575" y="189907"/>
                </a:lnTo>
                <a:cubicBezTo>
                  <a:pt x="43508" y="189907"/>
                  <a:pt x="47477" y="185938"/>
                  <a:pt x="47477" y="181005"/>
                </a:cubicBezTo>
                <a:lnTo>
                  <a:pt x="47477" y="166168"/>
                </a:lnTo>
                <a:lnTo>
                  <a:pt x="62313" y="166168"/>
                </a:lnTo>
                <a:cubicBezTo>
                  <a:pt x="67246" y="166168"/>
                  <a:pt x="71215" y="162199"/>
                  <a:pt x="71215" y="157266"/>
                </a:cubicBezTo>
                <a:lnTo>
                  <a:pt x="71215" y="142430"/>
                </a:lnTo>
                <a:lnTo>
                  <a:pt x="86051" y="142430"/>
                </a:lnTo>
                <a:cubicBezTo>
                  <a:pt x="88425" y="142430"/>
                  <a:pt x="90688" y="141503"/>
                  <a:pt x="92357" y="139834"/>
                </a:cubicBezTo>
                <a:lnTo>
                  <a:pt x="104708" y="127482"/>
                </a:lnTo>
                <a:cubicBezTo>
                  <a:pt x="110977" y="129485"/>
                  <a:pt x="117690" y="130561"/>
                  <a:pt x="124626" y="130561"/>
                </a:cubicBezTo>
                <a:close/>
                <a:moveTo>
                  <a:pt x="139463" y="35607"/>
                </a:moveTo>
                <a:cubicBezTo>
                  <a:pt x="147651" y="35607"/>
                  <a:pt x="154299" y="42255"/>
                  <a:pt x="154299" y="50444"/>
                </a:cubicBezTo>
                <a:cubicBezTo>
                  <a:pt x="154299" y="58632"/>
                  <a:pt x="147651" y="65280"/>
                  <a:pt x="139463" y="65280"/>
                </a:cubicBezTo>
                <a:cubicBezTo>
                  <a:pt x="131274" y="65280"/>
                  <a:pt x="124626" y="58632"/>
                  <a:pt x="124626" y="50444"/>
                </a:cubicBezTo>
                <a:cubicBezTo>
                  <a:pt x="124626" y="42255"/>
                  <a:pt x="131274" y="35607"/>
                  <a:pt x="139463" y="3560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540" y="2155439"/>
            <a:ext cx="494706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83157" y="2592224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Shape 21"/>
          <p:cNvSpPr/>
          <p:nvPr/>
        </p:nvSpPr>
        <p:spPr>
          <a:xfrm>
            <a:off x="6547251" y="2649196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24989" y="2573234"/>
            <a:ext cx="431087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preprocessing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critical for accurate sentiment predictions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83157" y="2953047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Shape 24"/>
          <p:cNvSpPr/>
          <p:nvPr/>
        </p:nvSpPr>
        <p:spPr>
          <a:xfrm>
            <a:off x="6547251" y="3010019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24989" y="2934056"/>
            <a:ext cx="427289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Appropriate model selection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significantly impacts performance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83157" y="3313869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Shape 27"/>
          <p:cNvSpPr/>
          <p:nvPr/>
        </p:nvSpPr>
        <p:spPr>
          <a:xfrm>
            <a:off x="6547251" y="3370841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24989" y="3294879"/>
            <a:ext cx="370317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Hyperparameter tuning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optimizes model effectiveness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83157" y="3674692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Shape 30"/>
          <p:cNvSpPr/>
          <p:nvPr/>
        </p:nvSpPr>
        <p:spPr>
          <a:xfrm>
            <a:off x="6547251" y="3731664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24989" y="3655701"/>
            <a:ext cx="445330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Balanced evaluation metrics</a:t>
            </a: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essential for imbalanced datasets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50522" y="4334617"/>
            <a:ext cx="5554766" cy="1851589"/>
          </a:xfrm>
          <a:custGeom>
            <a:avLst/>
            <a:gdLst/>
            <a:ahLst/>
            <a:cxnLst/>
            <a:rect l="l" t="t" r="r" b="b"/>
            <a:pathLst>
              <a:path w="5554766" h="1851589">
                <a:moveTo>
                  <a:pt x="151923" y="0"/>
                </a:moveTo>
                <a:lnTo>
                  <a:pt x="5402843" y="0"/>
                </a:lnTo>
                <a:cubicBezTo>
                  <a:pt x="5486748" y="0"/>
                  <a:pt x="5554766" y="68018"/>
                  <a:pt x="5554766" y="151923"/>
                </a:cubicBezTo>
                <a:lnTo>
                  <a:pt x="5554766" y="1699666"/>
                </a:lnTo>
                <a:cubicBezTo>
                  <a:pt x="5554766" y="1783571"/>
                  <a:pt x="5486748" y="1851589"/>
                  <a:pt x="5402843" y="1851589"/>
                </a:cubicBezTo>
                <a:lnTo>
                  <a:pt x="151923" y="1851589"/>
                </a:lnTo>
                <a:cubicBezTo>
                  <a:pt x="68018" y="1851589"/>
                  <a:pt x="0" y="1783571"/>
                  <a:pt x="0" y="1699666"/>
                </a:cubicBezTo>
                <a:lnTo>
                  <a:pt x="0" y="151923"/>
                </a:lnTo>
                <a:cubicBezTo>
                  <a:pt x="0" y="68018"/>
                  <a:pt x="68018" y="0"/>
                  <a:pt x="15192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6895" y="4605234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47477" y="118692"/>
                </a:moveTo>
                <a:lnTo>
                  <a:pt x="9087" y="118692"/>
                </a:lnTo>
                <a:cubicBezTo>
                  <a:pt x="-148" y="118692"/>
                  <a:pt x="-5823" y="108640"/>
                  <a:pt x="-1076" y="100702"/>
                </a:cubicBezTo>
                <a:lnTo>
                  <a:pt x="18546" y="67988"/>
                </a:lnTo>
                <a:cubicBezTo>
                  <a:pt x="21772" y="62610"/>
                  <a:pt x="27559" y="59346"/>
                  <a:pt x="33827" y="59346"/>
                </a:cubicBezTo>
                <a:lnTo>
                  <a:pt x="69064" y="59346"/>
                </a:lnTo>
                <a:cubicBezTo>
                  <a:pt x="97290" y="11535"/>
                  <a:pt x="139388" y="9124"/>
                  <a:pt x="167541" y="13242"/>
                </a:cubicBezTo>
                <a:cubicBezTo>
                  <a:pt x="172288" y="13946"/>
                  <a:pt x="175997" y="17655"/>
                  <a:pt x="176665" y="22366"/>
                </a:cubicBezTo>
                <a:cubicBezTo>
                  <a:pt x="180782" y="50518"/>
                  <a:pt x="178371" y="92617"/>
                  <a:pt x="130561" y="120843"/>
                </a:cubicBezTo>
                <a:lnTo>
                  <a:pt x="130561" y="156079"/>
                </a:lnTo>
                <a:cubicBezTo>
                  <a:pt x="130561" y="162348"/>
                  <a:pt x="127297" y="168134"/>
                  <a:pt x="121919" y="171361"/>
                </a:cubicBezTo>
                <a:lnTo>
                  <a:pt x="89204" y="190982"/>
                </a:lnTo>
                <a:cubicBezTo>
                  <a:pt x="81304" y="195730"/>
                  <a:pt x="71215" y="190018"/>
                  <a:pt x="71215" y="180819"/>
                </a:cubicBezTo>
                <a:lnTo>
                  <a:pt x="71215" y="142430"/>
                </a:lnTo>
                <a:cubicBezTo>
                  <a:pt x="71215" y="129337"/>
                  <a:pt x="60570" y="118692"/>
                  <a:pt x="47477" y="118692"/>
                </a:cubicBezTo>
                <a:lnTo>
                  <a:pt x="47440" y="118692"/>
                </a:lnTo>
                <a:close/>
                <a:moveTo>
                  <a:pt x="148364" y="59346"/>
                </a:moveTo>
                <a:cubicBezTo>
                  <a:pt x="148364" y="49520"/>
                  <a:pt x="140387" y="41542"/>
                  <a:pt x="130561" y="41542"/>
                </a:cubicBezTo>
                <a:cubicBezTo>
                  <a:pt x="120735" y="41542"/>
                  <a:pt x="112757" y="49520"/>
                  <a:pt x="112757" y="59346"/>
                </a:cubicBezTo>
                <a:cubicBezTo>
                  <a:pt x="112757" y="69172"/>
                  <a:pt x="120735" y="77150"/>
                  <a:pt x="130561" y="77150"/>
                </a:cubicBezTo>
                <a:cubicBezTo>
                  <a:pt x="140387" y="77150"/>
                  <a:pt x="148364" y="69172"/>
                  <a:pt x="148364" y="5934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540" y="4567252"/>
            <a:ext cx="494706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Applications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83157" y="4985047"/>
            <a:ext cx="5165458" cy="24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insights gained from this analysis can inform strategies for: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02148" y="5421832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18991" y="18991"/>
                </a:moveTo>
                <a:cubicBezTo>
                  <a:pt x="18991" y="13739"/>
                  <a:pt x="14747" y="9495"/>
                  <a:pt x="9495" y="9495"/>
                </a:cubicBezTo>
                <a:cubicBezTo>
                  <a:pt x="4243" y="9495"/>
                  <a:pt x="0" y="13739"/>
                  <a:pt x="0" y="18991"/>
                </a:cubicBezTo>
                <a:lnTo>
                  <a:pt x="0" y="118692"/>
                </a:lnTo>
                <a:cubicBezTo>
                  <a:pt x="0" y="131807"/>
                  <a:pt x="10623" y="142430"/>
                  <a:pt x="23738" y="142430"/>
                </a:cubicBezTo>
                <a:lnTo>
                  <a:pt x="142430" y="142430"/>
                </a:lnTo>
                <a:cubicBezTo>
                  <a:pt x="147682" y="142430"/>
                  <a:pt x="151925" y="138187"/>
                  <a:pt x="151925" y="132935"/>
                </a:cubicBezTo>
                <a:cubicBezTo>
                  <a:pt x="151925" y="127682"/>
                  <a:pt x="147682" y="123439"/>
                  <a:pt x="142430" y="123439"/>
                </a:cubicBezTo>
                <a:lnTo>
                  <a:pt x="23738" y="123439"/>
                </a:lnTo>
                <a:cubicBezTo>
                  <a:pt x="21127" y="123439"/>
                  <a:pt x="18991" y="121303"/>
                  <a:pt x="18991" y="118692"/>
                </a:cubicBezTo>
                <a:lnTo>
                  <a:pt x="18991" y="18991"/>
                </a:lnTo>
                <a:close/>
                <a:moveTo>
                  <a:pt x="139641" y="44687"/>
                </a:moveTo>
                <a:cubicBezTo>
                  <a:pt x="143350" y="40978"/>
                  <a:pt x="143350" y="34955"/>
                  <a:pt x="139641" y="31246"/>
                </a:cubicBezTo>
                <a:cubicBezTo>
                  <a:pt x="135932" y="27536"/>
                  <a:pt x="129908" y="27536"/>
                  <a:pt x="126199" y="31246"/>
                </a:cubicBezTo>
                <a:lnTo>
                  <a:pt x="94953" y="62521"/>
                </a:lnTo>
                <a:lnTo>
                  <a:pt x="77921" y="45518"/>
                </a:lnTo>
                <a:cubicBezTo>
                  <a:pt x="74212" y="41809"/>
                  <a:pt x="68188" y="41809"/>
                  <a:pt x="64479" y="45518"/>
                </a:cubicBezTo>
                <a:lnTo>
                  <a:pt x="35993" y="74004"/>
                </a:lnTo>
                <a:cubicBezTo>
                  <a:pt x="32284" y="77713"/>
                  <a:pt x="32284" y="83737"/>
                  <a:pt x="35993" y="87446"/>
                </a:cubicBezTo>
                <a:cubicBezTo>
                  <a:pt x="39702" y="91155"/>
                  <a:pt x="45726" y="91155"/>
                  <a:pt x="49435" y="87446"/>
                </a:cubicBezTo>
                <a:lnTo>
                  <a:pt x="71215" y="65666"/>
                </a:lnTo>
                <a:lnTo>
                  <a:pt x="88247" y="82698"/>
                </a:lnTo>
                <a:cubicBezTo>
                  <a:pt x="91956" y="86407"/>
                  <a:pt x="97980" y="86407"/>
                  <a:pt x="101689" y="82698"/>
                </a:cubicBezTo>
                <a:lnTo>
                  <a:pt x="139670" y="44717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6749026" y="5383850"/>
            <a:ext cx="177562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public opinion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83838" y="5421832"/>
            <a:ext cx="189907" cy="151925"/>
          </a:xfrm>
          <a:custGeom>
            <a:avLst/>
            <a:gdLst/>
            <a:ahLst/>
            <a:cxnLst/>
            <a:rect l="l" t="t" r="r" b="b"/>
            <a:pathLst>
              <a:path w="189907" h="151925">
                <a:moveTo>
                  <a:pt x="94953" y="4748"/>
                </a:moveTo>
                <a:cubicBezTo>
                  <a:pt x="111985" y="4748"/>
                  <a:pt x="125813" y="18575"/>
                  <a:pt x="125813" y="35607"/>
                </a:cubicBezTo>
                <a:cubicBezTo>
                  <a:pt x="125813" y="52639"/>
                  <a:pt x="111985" y="66467"/>
                  <a:pt x="94953" y="66467"/>
                </a:cubicBezTo>
                <a:cubicBezTo>
                  <a:pt x="77921" y="66467"/>
                  <a:pt x="64093" y="52639"/>
                  <a:pt x="64093" y="35607"/>
                </a:cubicBezTo>
                <a:cubicBezTo>
                  <a:pt x="64093" y="18575"/>
                  <a:pt x="77921" y="4748"/>
                  <a:pt x="94953" y="4748"/>
                </a:cubicBezTo>
                <a:close/>
                <a:moveTo>
                  <a:pt x="28486" y="26112"/>
                </a:moveTo>
                <a:cubicBezTo>
                  <a:pt x="40277" y="26112"/>
                  <a:pt x="49850" y="35685"/>
                  <a:pt x="49850" y="47477"/>
                </a:cubicBezTo>
                <a:cubicBezTo>
                  <a:pt x="49850" y="59268"/>
                  <a:pt x="40277" y="68841"/>
                  <a:pt x="28486" y="68841"/>
                </a:cubicBezTo>
                <a:cubicBezTo>
                  <a:pt x="16695" y="68841"/>
                  <a:pt x="7121" y="59268"/>
                  <a:pt x="7121" y="47477"/>
                </a:cubicBezTo>
                <a:cubicBezTo>
                  <a:pt x="7121" y="35685"/>
                  <a:pt x="16695" y="26112"/>
                  <a:pt x="28486" y="26112"/>
                </a:cubicBezTo>
                <a:close/>
                <a:moveTo>
                  <a:pt x="0" y="123439"/>
                </a:moveTo>
                <a:cubicBezTo>
                  <a:pt x="0" y="102461"/>
                  <a:pt x="17003" y="85458"/>
                  <a:pt x="37981" y="85458"/>
                </a:cubicBezTo>
                <a:cubicBezTo>
                  <a:pt x="41779" y="85458"/>
                  <a:pt x="45459" y="86022"/>
                  <a:pt x="48931" y="87060"/>
                </a:cubicBezTo>
                <a:cubicBezTo>
                  <a:pt x="39168" y="97980"/>
                  <a:pt x="33234" y="112401"/>
                  <a:pt x="33234" y="128187"/>
                </a:cubicBezTo>
                <a:lnTo>
                  <a:pt x="33234" y="132935"/>
                </a:lnTo>
                <a:cubicBezTo>
                  <a:pt x="33234" y="136317"/>
                  <a:pt x="33946" y="139522"/>
                  <a:pt x="35222" y="142430"/>
                </a:cubicBezTo>
                <a:lnTo>
                  <a:pt x="9495" y="142430"/>
                </a:lnTo>
                <a:cubicBezTo>
                  <a:pt x="4243" y="142430"/>
                  <a:pt x="0" y="138187"/>
                  <a:pt x="0" y="132935"/>
                </a:cubicBezTo>
                <a:lnTo>
                  <a:pt x="0" y="123439"/>
                </a:lnTo>
                <a:close/>
                <a:moveTo>
                  <a:pt x="154685" y="142430"/>
                </a:moveTo>
                <a:cubicBezTo>
                  <a:pt x="155961" y="139522"/>
                  <a:pt x="156673" y="136317"/>
                  <a:pt x="156673" y="132935"/>
                </a:cubicBezTo>
                <a:lnTo>
                  <a:pt x="156673" y="128187"/>
                </a:lnTo>
                <a:cubicBezTo>
                  <a:pt x="156673" y="112401"/>
                  <a:pt x="150738" y="97980"/>
                  <a:pt x="140976" y="87060"/>
                </a:cubicBezTo>
                <a:cubicBezTo>
                  <a:pt x="144448" y="86022"/>
                  <a:pt x="148127" y="85458"/>
                  <a:pt x="151925" y="85458"/>
                </a:cubicBezTo>
                <a:cubicBezTo>
                  <a:pt x="172904" y="85458"/>
                  <a:pt x="189907" y="102461"/>
                  <a:pt x="189907" y="123439"/>
                </a:cubicBezTo>
                <a:lnTo>
                  <a:pt x="189907" y="132935"/>
                </a:lnTo>
                <a:cubicBezTo>
                  <a:pt x="189907" y="138187"/>
                  <a:pt x="185663" y="142430"/>
                  <a:pt x="180411" y="142430"/>
                </a:cubicBezTo>
                <a:lnTo>
                  <a:pt x="154685" y="142430"/>
                </a:lnTo>
                <a:close/>
                <a:moveTo>
                  <a:pt x="140056" y="47477"/>
                </a:moveTo>
                <a:cubicBezTo>
                  <a:pt x="140056" y="35685"/>
                  <a:pt x="149629" y="26112"/>
                  <a:pt x="161421" y="26112"/>
                </a:cubicBezTo>
                <a:cubicBezTo>
                  <a:pt x="173212" y="26112"/>
                  <a:pt x="182785" y="35685"/>
                  <a:pt x="182785" y="47477"/>
                </a:cubicBezTo>
                <a:cubicBezTo>
                  <a:pt x="182785" y="59268"/>
                  <a:pt x="173212" y="68841"/>
                  <a:pt x="161421" y="68841"/>
                </a:cubicBezTo>
                <a:cubicBezTo>
                  <a:pt x="149629" y="68841"/>
                  <a:pt x="140056" y="59268"/>
                  <a:pt x="140056" y="47477"/>
                </a:cubicBezTo>
                <a:close/>
                <a:moveTo>
                  <a:pt x="47477" y="128187"/>
                </a:moveTo>
                <a:cubicBezTo>
                  <a:pt x="47477" y="101956"/>
                  <a:pt x="68722" y="80710"/>
                  <a:pt x="94953" y="80710"/>
                </a:cubicBezTo>
                <a:cubicBezTo>
                  <a:pt x="121184" y="80710"/>
                  <a:pt x="142430" y="101956"/>
                  <a:pt x="142430" y="128187"/>
                </a:cubicBezTo>
                <a:lnTo>
                  <a:pt x="142430" y="132935"/>
                </a:lnTo>
                <a:cubicBezTo>
                  <a:pt x="142430" y="138187"/>
                  <a:pt x="138187" y="142430"/>
                  <a:pt x="132935" y="142430"/>
                </a:cubicBezTo>
                <a:lnTo>
                  <a:pt x="56972" y="142430"/>
                </a:lnTo>
                <a:cubicBezTo>
                  <a:pt x="51720" y="142430"/>
                  <a:pt x="47477" y="138187"/>
                  <a:pt x="47477" y="132935"/>
                </a:cubicBezTo>
                <a:lnTo>
                  <a:pt x="47477" y="128187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9"/>
          <p:cNvSpPr/>
          <p:nvPr/>
        </p:nvSpPr>
        <p:spPr>
          <a:xfrm>
            <a:off x="9349707" y="5383850"/>
            <a:ext cx="200351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user behavior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21138" y="5763664"/>
            <a:ext cx="113944" cy="151925"/>
          </a:xfrm>
          <a:custGeom>
            <a:avLst/>
            <a:gdLst/>
            <a:ahLst/>
            <a:cxnLst/>
            <a:rect l="l" t="t" r="r" b="b"/>
            <a:pathLst>
              <a:path w="113944" h="151925">
                <a:moveTo>
                  <a:pt x="86912" y="113944"/>
                </a:moveTo>
                <a:cubicBezTo>
                  <a:pt x="89078" y="107327"/>
                  <a:pt x="93410" y="101333"/>
                  <a:pt x="98306" y="96170"/>
                </a:cubicBezTo>
                <a:cubicBezTo>
                  <a:pt x="108009" y="85962"/>
                  <a:pt x="113944" y="72164"/>
                  <a:pt x="113944" y="56972"/>
                </a:cubicBezTo>
                <a:cubicBezTo>
                  <a:pt x="113944" y="25519"/>
                  <a:pt x="88425" y="0"/>
                  <a:pt x="56972" y="0"/>
                </a:cubicBezTo>
                <a:cubicBezTo>
                  <a:pt x="25519" y="0"/>
                  <a:pt x="0" y="25519"/>
                  <a:pt x="0" y="56972"/>
                </a:cubicBezTo>
                <a:cubicBezTo>
                  <a:pt x="0" y="72164"/>
                  <a:pt x="5935" y="85962"/>
                  <a:pt x="15638" y="96170"/>
                </a:cubicBezTo>
                <a:cubicBezTo>
                  <a:pt x="20534" y="101333"/>
                  <a:pt x="24896" y="107327"/>
                  <a:pt x="27032" y="113944"/>
                </a:cubicBezTo>
                <a:lnTo>
                  <a:pt x="86882" y="113944"/>
                </a:lnTo>
                <a:close/>
                <a:moveTo>
                  <a:pt x="85458" y="128187"/>
                </a:moveTo>
                <a:lnTo>
                  <a:pt x="28486" y="128187"/>
                </a:lnTo>
                <a:lnTo>
                  <a:pt x="28486" y="132935"/>
                </a:lnTo>
                <a:cubicBezTo>
                  <a:pt x="28486" y="146050"/>
                  <a:pt x="39109" y="156673"/>
                  <a:pt x="52224" y="156673"/>
                </a:cubicBezTo>
                <a:lnTo>
                  <a:pt x="61720" y="156673"/>
                </a:lnTo>
                <a:cubicBezTo>
                  <a:pt x="74835" y="156673"/>
                  <a:pt x="85458" y="146050"/>
                  <a:pt x="85458" y="132935"/>
                </a:cubicBezTo>
                <a:lnTo>
                  <a:pt x="85458" y="128187"/>
                </a:lnTo>
                <a:close/>
                <a:moveTo>
                  <a:pt x="54598" y="33234"/>
                </a:moveTo>
                <a:cubicBezTo>
                  <a:pt x="42788" y="33234"/>
                  <a:pt x="33234" y="42788"/>
                  <a:pt x="33234" y="54598"/>
                </a:cubicBezTo>
                <a:cubicBezTo>
                  <a:pt x="33234" y="58545"/>
                  <a:pt x="30059" y="61720"/>
                  <a:pt x="26112" y="61720"/>
                </a:cubicBezTo>
                <a:cubicBezTo>
                  <a:pt x="22166" y="61720"/>
                  <a:pt x="18991" y="58545"/>
                  <a:pt x="18991" y="54598"/>
                </a:cubicBezTo>
                <a:cubicBezTo>
                  <a:pt x="18991" y="34925"/>
                  <a:pt x="34925" y="18991"/>
                  <a:pt x="54598" y="18991"/>
                </a:cubicBezTo>
                <a:cubicBezTo>
                  <a:pt x="58545" y="18991"/>
                  <a:pt x="61720" y="22166"/>
                  <a:pt x="61720" y="26112"/>
                </a:cubicBezTo>
                <a:cubicBezTo>
                  <a:pt x="61720" y="30059"/>
                  <a:pt x="58545" y="33234"/>
                  <a:pt x="54598" y="3323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3" name="Text 41"/>
          <p:cNvSpPr/>
          <p:nvPr/>
        </p:nvSpPr>
        <p:spPr>
          <a:xfrm>
            <a:off x="6749026" y="5725682"/>
            <a:ext cx="201300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decision-making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102829" y="5763664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136851" y="5608"/>
                </a:moveTo>
                <a:cubicBezTo>
                  <a:pt x="140264" y="7121"/>
                  <a:pt x="142430" y="10504"/>
                  <a:pt x="142430" y="14243"/>
                </a:cubicBezTo>
                <a:lnTo>
                  <a:pt x="142430" y="137682"/>
                </a:lnTo>
                <a:cubicBezTo>
                  <a:pt x="142430" y="141421"/>
                  <a:pt x="140264" y="144804"/>
                  <a:pt x="136851" y="146317"/>
                </a:cubicBezTo>
                <a:cubicBezTo>
                  <a:pt x="133439" y="147830"/>
                  <a:pt x="129493" y="147267"/>
                  <a:pt x="126674" y="144804"/>
                </a:cubicBezTo>
                <a:lnTo>
                  <a:pt x="112846" y="132727"/>
                </a:lnTo>
                <a:cubicBezTo>
                  <a:pt x="99909" y="121421"/>
                  <a:pt x="83559" y="114834"/>
                  <a:pt x="66438" y="114033"/>
                </a:cubicBezTo>
                <a:lnTo>
                  <a:pt x="66438" y="142430"/>
                </a:lnTo>
                <a:cubicBezTo>
                  <a:pt x="66438" y="147682"/>
                  <a:pt x="62194" y="151925"/>
                  <a:pt x="56942" y="151925"/>
                </a:cubicBezTo>
                <a:lnTo>
                  <a:pt x="47447" y="151925"/>
                </a:lnTo>
                <a:cubicBezTo>
                  <a:pt x="42195" y="151925"/>
                  <a:pt x="37952" y="147682"/>
                  <a:pt x="37952" y="142430"/>
                </a:cubicBezTo>
                <a:lnTo>
                  <a:pt x="37952" y="113944"/>
                </a:lnTo>
                <a:cubicBezTo>
                  <a:pt x="17003" y="113944"/>
                  <a:pt x="0" y="96941"/>
                  <a:pt x="0" y="75963"/>
                </a:cubicBezTo>
                <a:cubicBezTo>
                  <a:pt x="0" y="54984"/>
                  <a:pt x="17003" y="37981"/>
                  <a:pt x="37981" y="37981"/>
                </a:cubicBezTo>
                <a:lnTo>
                  <a:pt x="63055" y="37981"/>
                </a:lnTo>
                <a:cubicBezTo>
                  <a:pt x="81393" y="37922"/>
                  <a:pt x="99078" y="31246"/>
                  <a:pt x="112876" y="19198"/>
                </a:cubicBezTo>
                <a:lnTo>
                  <a:pt x="126703" y="7121"/>
                </a:lnTo>
                <a:cubicBezTo>
                  <a:pt x="129493" y="4659"/>
                  <a:pt x="133498" y="4095"/>
                  <a:pt x="136881" y="5608"/>
                </a:cubicBezTo>
                <a:close/>
                <a:moveTo>
                  <a:pt x="66467" y="94953"/>
                </a:moveTo>
                <a:lnTo>
                  <a:pt x="66467" y="95013"/>
                </a:lnTo>
                <a:cubicBezTo>
                  <a:pt x="87327" y="95814"/>
                  <a:pt x="107357" y="103469"/>
                  <a:pt x="123439" y="116793"/>
                </a:cubicBezTo>
                <a:lnTo>
                  <a:pt x="123439" y="35103"/>
                </a:lnTo>
                <a:cubicBezTo>
                  <a:pt x="107357" y="48426"/>
                  <a:pt x="87327" y="56082"/>
                  <a:pt x="66467" y="56883"/>
                </a:cubicBezTo>
                <a:lnTo>
                  <a:pt x="66467" y="9495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5" name="Text 43"/>
          <p:cNvSpPr/>
          <p:nvPr/>
        </p:nvSpPr>
        <p:spPr>
          <a:xfrm>
            <a:off x="9349707" y="5725682"/>
            <a:ext cx="209846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 reputation management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Recommendations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Guidance for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5591175" cy="2524125"/>
          </a:xfrm>
          <a:custGeom>
            <a:avLst/>
            <a:gdLst/>
            <a:ahLst/>
            <a:cxnLst/>
            <a:rect l="l" t="t" r="r" b="b"/>
            <a:pathLst>
              <a:path w="5591175" h="2524125">
                <a:moveTo>
                  <a:pt x="152407" y="0"/>
                </a:moveTo>
                <a:lnTo>
                  <a:pt x="5438768" y="0"/>
                </a:lnTo>
                <a:cubicBezTo>
                  <a:pt x="5522940" y="0"/>
                  <a:pt x="5591175" y="68235"/>
                  <a:pt x="5591175" y="152407"/>
                </a:cubicBezTo>
                <a:lnTo>
                  <a:pt x="5591175" y="2371718"/>
                </a:lnTo>
                <a:cubicBezTo>
                  <a:pt x="5591175" y="2455890"/>
                  <a:pt x="5522940" y="2524125"/>
                  <a:pt x="5438768" y="2524125"/>
                </a:cubicBezTo>
                <a:lnTo>
                  <a:pt x="152407" y="2524125"/>
                </a:lnTo>
                <a:cubicBezTo>
                  <a:pt x="68235" y="2524125"/>
                  <a:pt x="0" y="2455890"/>
                  <a:pt x="0" y="2371718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728663" y="16287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28725" y="1495425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 Class Imbalance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8725" y="1762125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105025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 techniques to further improve performance on underrepresented sentiments: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" y="2790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752475" y="2714625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Oversampling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minority classes (SMOTE, ADASYN)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125" y="3095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752475" y="3019425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Undersampling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majority classes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" y="34004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752475" y="332422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Class-weighted models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penalize misclassification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986213"/>
            <a:ext cx="5591175" cy="2276475"/>
          </a:xfrm>
          <a:custGeom>
            <a:avLst/>
            <a:gdLst/>
            <a:ahLst/>
            <a:cxnLst/>
            <a:rect l="l" t="t" r="r" b="b"/>
            <a:pathLst>
              <a:path w="5591175" h="2276475">
                <a:moveTo>
                  <a:pt x="152410" y="0"/>
                </a:moveTo>
                <a:lnTo>
                  <a:pt x="5438765" y="0"/>
                </a:lnTo>
                <a:cubicBezTo>
                  <a:pt x="5522939" y="0"/>
                  <a:pt x="5591175" y="68236"/>
                  <a:pt x="5591175" y="152410"/>
                </a:cubicBezTo>
                <a:lnTo>
                  <a:pt x="5591175" y="2124065"/>
                </a:lnTo>
                <a:cubicBezTo>
                  <a:pt x="5591175" y="2208239"/>
                  <a:pt x="5522939" y="2276475"/>
                  <a:pt x="5438765" y="2276475"/>
                </a:cubicBezTo>
                <a:lnTo>
                  <a:pt x="152410" y="2276475"/>
                </a:lnTo>
                <a:cubicBezTo>
                  <a:pt x="68236" y="2276475"/>
                  <a:pt x="0" y="2208239"/>
                  <a:pt x="0" y="2124065"/>
                </a:cubicBezTo>
                <a:lnTo>
                  <a:pt x="0" y="152410"/>
                </a:lnTo>
                <a:cubicBezTo>
                  <a:pt x="0" y="68236"/>
                  <a:pt x="68236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125" y="4219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Shape 16"/>
          <p:cNvSpPr/>
          <p:nvPr/>
        </p:nvSpPr>
        <p:spPr>
          <a:xfrm>
            <a:off x="752475" y="4352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28725" y="4219575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Advanced Embeddings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8725" y="4486275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125" y="482917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Explore contextual embeddings for capturing semantic nuances: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" y="5267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752475" y="5191125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BERT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(Bidirectional Encoder Representations)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125" y="5572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752475" y="5495925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RoBERTa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(Robustly Optimized BERT)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125" y="5876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Text 25"/>
          <p:cNvSpPr/>
          <p:nvPr/>
        </p:nvSpPr>
        <p:spPr>
          <a:xfrm>
            <a:off x="752475" y="5800725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handling of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subtle or sarcastic tweets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5063" y="1262063"/>
            <a:ext cx="5591175" cy="2581275"/>
          </a:xfrm>
          <a:custGeom>
            <a:avLst/>
            <a:gdLst/>
            <a:ahLst/>
            <a:cxnLst/>
            <a:rect l="l" t="t" r="r" b="b"/>
            <a:pathLst>
              <a:path w="5591175" h="25812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2428877"/>
                </a:lnTo>
                <a:cubicBezTo>
                  <a:pt x="5591175" y="2513044"/>
                  <a:pt x="5522944" y="2581275"/>
                  <a:pt x="5438777" y="2581275"/>
                </a:cubicBezTo>
                <a:lnTo>
                  <a:pt x="152398" y="2581275"/>
                </a:lnTo>
                <a:cubicBezTo>
                  <a:pt x="68231" y="2581275"/>
                  <a:pt x="0" y="2513044"/>
                  <a:pt x="0" y="24288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8425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Shape 28"/>
          <p:cNvSpPr/>
          <p:nvPr/>
        </p:nvSpPr>
        <p:spPr>
          <a:xfrm>
            <a:off x="6581775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058025" y="1495425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Analysis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58025" y="1762125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03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8425" y="210502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misclassified examples to identify common failure cases: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48425" y="25431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Text 33"/>
          <p:cNvSpPr/>
          <p:nvPr/>
        </p:nvSpPr>
        <p:spPr>
          <a:xfrm>
            <a:off x="6581775" y="2466975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Sarcasm detection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challenges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48425" y="28479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6581775" y="2776538"/>
            <a:ext cx="19670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Slang and informal language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48425" y="31527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6581775" y="3076575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Ambiguous expressions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context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48425" y="34575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9"/>
          <p:cNvSpPr/>
          <p:nvPr/>
        </p:nvSpPr>
        <p:spPr>
          <a:xfrm>
            <a:off x="6581775" y="3381375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augmenting the dataset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5063" y="4043363"/>
            <a:ext cx="5591175" cy="2581275"/>
          </a:xfrm>
          <a:custGeom>
            <a:avLst/>
            <a:gdLst/>
            <a:ahLst/>
            <a:cxnLst/>
            <a:rect l="l" t="t" r="r" b="b"/>
            <a:pathLst>
              <a:path w="5591175" h="25812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2428877"/>
                </a:lnTo>
                <a:cubicBezTo>
                  <a:pt x="5591175" y="2513044"/>
                  <a:pt x="5522944" y="2581275"/>
                  <a:pt x="5438777" y="2581275"/>
                </a:cubicBezTo>
                <a:lnTo>
                  <a:pt x="152398" y="2581275"/>
                </a:lnTo>
                <a:cubicBezTo>
                  <a:pt x="68231" y="2581275"/>
                  <a:pt x="0" y="2513044"/>
                  <a:pt x="0" y="24288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8425" y="4276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4" name="Shape 42"/>
          <p:cNvSpPr/>
          <p:nvPr/>
        </p:nvSpPr>
        <p:spPr>
          <a:xfrm>
            <a:off x="6581775" y="4410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7058025" y="4276725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Considerations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58025" y="4543425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04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48425" y="488632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real-time sentiment monitoring: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48425" y="53244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9" name="Text 47"/>
          <p:cNvSpPr/>
          <p:nvPr/>
        </p:nvSpPr>
        <p:spPr>
          <a:xfrm>
            <a:off x="6581775" y="5248275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Package the model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into a REST API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48425" y="56292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1" name="Text 49"/>
          <p:cNvSpPr/>
          <p:nvPr/>
        </p:nvSpPr>
        <p:spPr>
          <a:xfrm>
            <a:off x="6581775" y="5553075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 with dashboards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visualization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48425" y="5934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3" name="Text 51"/>
          <p:cNvSpPr/>
          <p:nvPr/>
        </p:nvSpPr>
        <p:spPr>
          <a:xfrm>
            <a:off x="6581775" y="5857875"/>
            <a:ext cx="302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up reporting tools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actionable insights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48425" y="62388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5" name="Text 53"/>
          <p:cNvSpPr/>
          <p:nvPr/>
        </p:nvSpPr>
        <p:spPr>
          <a:xfrm>
            <a:off x="6581775" y="6162675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</a:t>
            </a: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alerting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systems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a200cf9c1a9572fb83112e7b2524193b80746de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4311" b="43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90000"/>
                </a:srgbClr>
              </a:gs>
              <a:gs pos="100000">
                <a:srgbClr val="FAFAF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821531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Shape 2"/>
          <p:cNvSpPr/>
          <p:nvPr/>
        </p:nvSpPr>
        <p:spPr>
          <a:xfrm>
            <a:off x="5903119" y="1107281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57175" y="96441"/>
                </a:moveTo>
                <a:cubicBezTo>
                  <a:pt x="257175" y="161538"/>
                  <a:pt x="199579" y="214313"/>
                  <a:pt x="128588" y="214313"/>
                </a:cubicBezTo>
                <a:cubicBezTo>
                  <a:pt x="110706" y="214313"/>
                  <a:pt x="93695" y="210964"/>
                  <a:pt x="78224" y="204936"/>
                </a:cubicBezTo>
                <a:lnTo>
                  <a:pt x="23574" y="233869"/>
                </a:lnTo>
                <a:cubicBezTo>
                  <a:pt x="17346" y="237150"/>
                  <a:pt x="9711" y="236012"/>
                  <a:pt x="4688" y="231056"/>
                </a:cubicBezTo>
                <a:cubicBezTo>
                  <a:pt x="-335" y="226100"/>
                  <a:pt x="-1473" y="218398"/>
                  <a:pt x="1875" y="212169"/>
                </a:cubicBezTo>
                <a:lnTo>
                  <a:pt x="25718" y="167164"/>
                </a:lnTo>
                <a:cubicBezTo>
                  <a:pt x="9577" y="147474"/>
                  <a:pt x="0" y="122962"/>
                  <a:pt x="0" y="96441"/>
                </a:cubicBezTo>
                <a:cubicBezTo>
                  <a:pt x="0" y="31343"/>
                  <a:pt x="57596" y="-21431"/>
                  <a:pt x="128588" y="-21431"/>
                </a:cubicBezTo>
                <a:cubicBezTo>
                  <a:pt x="199579" y="-21431"/>
                  <a:pt x="257175" y="31343"/>
                  <a:pt x="257175" y="96441"/>
                </a:cubicBezTo>
                <a:close/>
                <a:moveTo>
                  <a:pt x="257175" y="342900"/>
                </a:moveTo>
                <a:cubicBezTo>
                  <a:pt x="194154" y="342900"/>
                  <a:pt x="141714" y="301310"/>
                  <a:pt x="130731" y="246459"/>
                </a:cubicBezTo>
                <a:cubicBezTo>
                  <a:pt x="211098" y="245455"/>
                  <a:pt x="280950" y="188260"/>
                  <a:pt x="288652" y="110706"/>
                </a:cubicBezTo>
                <a:cubicBezTo>
                  <a:pt x="344440" y="123565"/>
                  <a:pt x="385763" y="169843"/>
                  <a:pt x="385763" y="225028"/>
                </a:cubicBezTo>
                <a:cubicBezTo>
                  <a:pt x="385763" y="251549"/>
                  <a:pt x="376185" y="276061"/>
                  <a:pt x="360045" y="295751"/>
                </a:cubicBezTo>
                <a:lnTo>
                  <a:pt x="383887" y="340757"/>
                </a:lnTo>
                <a:cubicBezTo>
                  <a:pt x="387169" y="346985"/>
                  <a:pt x="386030" y="354620"/>
                  <a:pt x="381074" y="359643"/>
                </a:cubicBezTo>
                <a:cubicBezTo>
                  <a:pt x="376118" y="364666"/>
                  <a:pt x="368417" y="365805"/>
                  <a:pt x="362188" y="362456"/>
                </a:cubicBezTo>
                <a:lnTo>
                  <a:pt x="307538" y="333524"/>
                </a:lnTo>
                <a:cubicBezTo>
                  <a:pt x="292068" y="339551"/>
                  <a:pt x="275057" y="342900"/>
                  <a:pt x="257175" y="3429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627811" y="1964531"/>
            <a:ext cx="2933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13536" y="2688431"/>
            <a:ext cx="2762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443163" y="3429001"/>
            <a:ext cx="7305675" cy="1595438"/>
          </a:xfrm>
          <a:custGeom>
            <a:avLst/>
            <a:gdLst/>
            <a:ahLst/>
            <a:cxnLst/>
            <a:rect l="l" t="t" r="r" b="b"/>
            <a:pathLst>
              <a:path w="7305675" h="2238375">
                <a:moveTo>
                  <a:pt x="152411" y="0"/>
                </a:moveTo>
                <a:lnTo>
                  <a:pt x="7153264" y="0"/>
                </a:lnTo>
                <a:cubicBezTo>
                  <a:pt x="7237438" y="0"/>
                  <a:pt x="7305675" y="68237"/>
                  <a:pt x="7305675" y="152411"/>
                </a:cubicBezTo>
                <a:lnTo>
                  <a:pt x="7305675" y="2085964"/>
                </a:lnTo>
                <a:cubicBezTo>
                  <a:pt x="7305675" y="2170138"/>
                  <a:pt x="7237438" y="2238375"/>
                  <a:pt x="7153264" y="2238375"/>
                </a:cubicBezTo>
                <a:lnTo>
                  <a:pt x="152411" y="2238375"/>
                </a:lnTo>
                <a:cubicBezTo>
                  <a:pt x="68237" y="2238375"/>
                  <a:pt x="0" y="2170138"/>
                  <a:pt x="0" y="208596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05100" y="3612356"/>
            <a:ext cx="6781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presentation demonstrated how Natural Language Processing can transform unstructured text data into actionable sentiment insights, enabling organizations to better understand and respond to customer opinions at scale.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49925" y="592216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1295</Words>
  <Application>Microsoft Macintosh PowerPoint</Application>
  <PresentationFormat>Widescreen</PresentationFormat>
  <Paragraphs>211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Using NLP</dc:title>
  <dc:subject>Sentiment Analysis Using NLP</dc:subject>
  <dc:creator>Kimi</dc:creator>
  <cp:lastModifiedBy>Dawa Jarso</cp:lastModifiedBy>
  <cp:revision>3</cp:revision>
  <dcterms:created xsi:type="dcterms:W3CDTF">2026-02-04T17:34:55Z</dcterms:created>
  <dcterms:modified xsi:type="dcterms:W3CDTF">2026-02-04T17:45:19Z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{"Label":"Sentiment Analysis Using NLP","ContentProducer":"001191110108MACG2KBH8F10000","ProduceID":"19c29b28-7ab2-8496-8000-000040f933e1","ReservedCode1":"","ContentPropagator":"001191110108MACG2KBH8F20000","PropagateID":"19c29b28-7ab2-8496-8000-000040f933e1","ReservedCode2":""}</vt:lpwstr>
  </property>
</Properties>
</file>