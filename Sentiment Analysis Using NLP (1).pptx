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7" r:id="rId7"/>
    <p:sldId id="268" r:id="rId8"/>
    <p:sldId id="260" r:id="rId9"/>
    <p:sldId id="263" r:id="rId10"/>
    <p:sldId id="262" r:id="rId11"/>
    <p:sldId id="264" r:id="rId12"/>
    <p:sldId id="265" r:id="rId13"/>
    <p:sldId id="266" r:id="rId14"/>
  </p:sldIdLst>
  <p:sldSz cx="12192000" cy="6858000"/>
  <p:notesSz cx="6858000" cy="12192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Liter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404" autoAdjust="0"/>
    <p:restoredTop sz="94610"/>
  </p:normalViewPr>
  <p:slideViewPr>
    <p:cSldViewPr snapToGrid="0" snapToObjects="1">
      <p:cViewPr>
        <p:scale>
          <a:sx n="87" d="100"/>
          <a:sy n="87" d="100"/>
        </p:scale>
        <p:origin x="13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9092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b01a0cd77d21b11a2339c12e8a6c2cce286a3b94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695" b="69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AFAFA">
                  <a:alpha val="95000"/>
                </a:srgbClr>
              </a:gs>
              <a:gs pos="50000">
                <a:srgbClr val="FAFAFA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209675"/>
            <a:ext cx="2676525" cy="381000"/>
          </a:xfrm>
          <a:custGeom>
            <a:avLst/>
            <a:gdLst/>
            <a:ahLst/>
            <a:cxnLst/>
            <a:rect l="l" t="t" r="r" b="b"/>
            <a:pathLst>
              <a:path w="2676525" h="381000">
                <a:moveTo>
                  <a:pt x="190500" y="0"/>
                </a:moveTo>
                <a:lnTo>
                  <a:pt x="2486025" y="0"/>
                </a:lnTo>
                <a:cubicBezTo>
                  <a:pt x="2591165" y="0"/>
                  <a:pt x="2676525" y="85360"/>
                  <a:pt x="2676525" y="190500"/>
                </a:cubicBezTo>
                <a:lnTo>
                  <a:pt x="2676525" y="190500"/>
                </a:lnTo>
                <a:cubicBezTo>
                  <a:pt x="2676525" y="295640"/>
                  <a:pt x="2591165" y="381000"/>
                  <a:pt x="2486025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1309688"/>
            <a:ext cx="24367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Language Processing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47875"/>
            <a:ext cx="6134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Sentiment Analysis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NLP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990975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Multi-Class Text Classification for Emotion Detection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191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" name="Shape 6"/>
          <p:cNvSpPr/>
          <p:nvPr/>
        </p:nvSpPr>
        <p:spPr>
          <a:xfrm>
            <a:off x="526256" y="53340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952500" y="5248275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52500" y="5438775"/>
            <a:ext cx="1104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TF-IDF Vectorization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305050" y="5191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3" name="Shape 10"/>
          <p:cNvSpPr/>
          <p:nvPr/>
        </p:nvSpPr>
        <p:spPr>
          <a:xfrm>
            <a:off x="2450306" y="53340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2876550" y="5248275"/>
            <a:ext cx="130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Evaluation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876550" y="5438775"/>
            <a:ext cx="1295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Linear SVC Performance</a:t>
            </a:r>
            <a:endParaRPr lang="en-US" sz="16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2D4371AE-4468-8702-8177-B377A40A1D19}"/>
              </a:ext>
            </a:extLst>
          </p:cNvPr>
          <p:cNvSpPr/>
          <p:nvPr/>
        </p:nvSpPr>
        <p:spPr>
          <a:xfrm>
            <a:off x="381000" y="5910263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rgbClr val="86868B"/>
                </a:solidFill>
                <a:latin typeface="Liter" pitchFamily="34" charset="0"/>
              </a:rPr>
              <a:t>Project by group 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524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" name="Text 3"/>
          <p:cNvSpPr/>
          <p:nvPr/>
        </p:nvSpPr>
        <p:spPr>
          <a:xfrm>
            <a:off x="529010" y="1638300"/>
            <a:ext cx="352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04900" y="1562100"/>
            <a:ext cx="478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Context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04900" y="1905000"/>
            <a:ext cx="4762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value of automated sentiment analysis for organizations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1524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" name="Text 7"/>
          <p:cNvSpPr/>
          <p:nvPr/>
        </p:nvSpPr>
        <p:spPr>
          <a:xfrm>
            <a:off x="6528122" y="163830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24700" y="1562100"/>
            <a:ext cx="371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24700" y="1905000"/>
            <a:ext cx="3695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 in analyzing unstructured text data at scale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1000" y="300513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3" name="Text 11"/>
          <p:cNvSpPr/>
          <p:nvPr/>
        </p:nvSpPr>
        <p:spPr>
          <a:xfrm>
            <a:off x="507281" y="3119438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4900" y="3043238"/>
            <a:ext cx="4229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4900" y="3386138"/>
            <a:ext cx="4210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Building an end-to-end NLP pipeline for emotion classification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0" y="300513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7" name="Text 15"/>
          <p:cNvSpPr/>
          <p:nvPr/>
        </p:nvSpPr>
        <p:spPr>
          <a:xfrm>
            <a:off x="6527229" y="3119438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24700" y="3043238"/>
            <a:ext cx="3000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Understanding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24700" y="3386138"/>
            <a:ext cx="29813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exploration and quality assessment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1000" y="42386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1" name="Text 19"/>
          <p:cNvSpPr/>
          <p:nvPr/>
        </p:nvSpPr>
        <p:spPr>
          <a:xfrm>
            <a:off x="508918" y="4352925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04900" y="4276725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Evaluation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04900" y="4619625"/>
            <a:ext cx="33623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Comparing classifier performance across metrics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0" y="42386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5" name="Text 23"/>
          <p:cNvSpPr/>
          <p:nvPr/>
        </p:nvSpPr>
        <p:spPr>
          <a:xfrm>
            <a:off x="6526188" y="4352925"/>
            <a:ext cx="400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24700" y="4276725"/>
            <a:ext cx="231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24700" y="4619625"/>
            <a:ext cx="22955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findings from the analysis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547211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9" name="Text 27"/>
          <p:cNvSpPr/>
          <p:nvPr/>
        </p:nvSpPr>
        <p:spPr>
          <a:xfrm>
            <a:off x="516210" y="5586413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04900" y="5510213"/>
            <a:ext cx="4381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Conclusions &amp; Recommendations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04900" y="5853113"/>
            <a:ext cx="436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guidance for implementation and future improvements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Business Context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Value of Automated Sentiment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2238375"/>
            <a:ext cx="6829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Challenge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2619375"/>
            <a:ext cx="6810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organizations collect </a:t>
            </a: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large volumes of unstructured textual data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from customer feedback, social media posts, support tickets, and online reviews. Manual analysis is </a:t>
            </a: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time-consuming, inconsistent, and difficult to scale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3590925"/>
            <a:ext cx="6829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NLP Solution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3971925"/>
            <a:ext cx="6810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project builds an </a:t>
            </a: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Natural Language Processing solution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automatically classifies text into four emotion categories: </a:t>
            </a:r>
            <a:r>
              <a:rPr lang="en-US" sz="1200" b="1" dirty="0">
                <a:solidFill>
                  <a:srgbClr val="00A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positive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r>
              <a:rPr lang="en-US" sz="1200" b="1" dirty="0">
                <a:solidFill>
                  <a:srgbClr val="E700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negative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r>
              <a:rPr lang="en-US" sz="1200" b="1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none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and </a:t>
            </a:r>
            <a:r>
              <a:rPr lang="en-US" sz="1200" b="1" dirty="0">
                <a:solidFill>
                  <a:srgbClr val="D08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unknown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1000" y="4695825"/>
            <a:ext cx="6829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1000" y="5076825"/>
            <a:ext cx="6810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By automating text classification, organizations can </a:t>
            </a: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 satisfaction trends, identify neutral messages, filter ambiguous content, and prioritize responses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high-impact feedback.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26598" y="1404938"/>
            <a:ext cx="4381500" cy="1533525"/>
          </a:xfrm>
          <a:custGeom>
            <a:avLst/>
            <a:gdLst/>
            <a:ahLst/>
            <a:cxnLst/>
            <a:rect l="l" t="t" r="r" b="b"/>
            <a:pathLst>
              <a:path w="4381500" h="1533525">
                <a:moveTo>
                  <a:pt x="152402" y="0"/>
                </a:moveTo>
                <a:lnTo>
                  <a:pt x="4229098" y="0"/>
                </a:lnTo>
                <a:cubicBezTo>
                  <a:pt x="4313211" y="0"/>
                  <a:pt x="4381500" y="68289"/>
                  <a:pt x="4381500" y="152402"/>
                </a:cubicBezTo>
                <a:lnTo>
                  <a:pt x="4381500" y="1381123"/>
                </a:lnTo>
                <a:cubicBezTo>
                  <a:pt x="4381500" y="1465236"/>
                  <a:pt x="4313211" y="1533525"/>
                  <a:pt x="4229098" y="1533525"/>
                </a:cubicBezTo>
                <a:lnTo>
                  <a:pt x="152402" y="1533525"/>
                </a:lnTo>
                <a:cubicBezTo>
                  <a:pt x="68289" y="1533525"/>
                  <a:pt x="0" y="1465236"/>
                  <a:pt x="0" y="138112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59960" y="1638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781404" y="17716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3" name="Text 11"/>
          <p:cNvSpPr/>
          <p:nvPr/>
        </p:nvSpPr>
        <p:spPr>
          <a:xfrm>
            <a:off x="8269560" y="1733550"/>
            <a:ext cx="171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Faster Understanding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59960" y="2247900"/>
            <a:ext cx="3990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 rapid comprehension of public and customer sentiment at scale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26598" y="3138488"/>
            <a:ext cx="4381500" cy="1533525"/>
          </a:xfrm>
          <a:custGeom>
            <a:avLst/>
            <a:gdLst/>
            <a:ahLst/>
            <a:cxnLst/>
            <a:rect l="l" t="t" r="r" b="b"/>
            <a:pathLst>
              <a:path w="4381500" h="1533525">
                <a:moveTo>
                  <a:pt x="152402" y="0"/>
                </a:moveTo>
                <a:lnTo>
                  <a:pt x="4229098" y="0"/>
                </a:lnTo>
                <a:cubicBezTo>
                  <a:pt x="4313211" y="0"/>
                  <a:pt x="4381500" y="68289"/>
                  <a:pt x="4381500" y="152402"/>
                </a:cubicBezTo>
                <a:lnTo>
                  <a:pt x="4381500" y="1381123"/>
                </a:lnTo>
                <a:cubicBezTo>
                  <a:pt x="4381500" y="1465236"/>
                  <a:pt x="4313211" y="1533525"/>
                  <a:pt x="4229098" y="1533525"/>
                </a:cubicBezTo>
                <a:lnTo>
                  <a:pt x="152402" y="1533525"/>
                </a:lnTo>
                <a:cubicBezTo>
                  <a:pt x="68289" y="1533525"/>
                  <a:pt x="0" y="1465236"/>
                  <a:pt x="0" y="138112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59960" y="33718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769498" y="35052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50602" y="47625"/>
                </a:moveTo>
                <a:cubicBezTo>
                  <a:pt x="50602" y="22983"/>
                  <a:pt x="70608" y="2977"/>
                  <a:pt x="95250" y="2977"/>
                </a:cubicBezTo>
                <a:cubicBezTo>
                  <a:pt x="119892" y="2977"/>
                  <a:pt x="139898" y="22983"/>
                  <a:pt x="139898" y="47625"/>
                </a:cubicBezTo>
                <a:cubicBezTo>
                  <a:pt x="139898" y="72267"/>
                  <a:pt x="119892" y="92273"/>
                  <a:pt x="95250" y="92273"/>
                </a:cubicBezTo>
                <a:cubicBezTo>
                  <a:pt x="70608" y="92273"/>
                  <a:pt x="50602" y="72267"/>
                  <a:pt x="50602" y="47625"/>
                </a:cubicBezTo>
                <a:close/>
                <a:moveTo>
                  <a:pt x="17859" y="179450"/>
                </a:moveTo>
                <a:cubicBezTo>
                  <a:pt x="17859" y="142801"/>
                  <a:pt x="47551" y="113109"/>
                  <a:pt x="84200" y="113109"/>
                </a:cubicBezTo>
                <a:lnTo>
                  <a:pt x="106300" y="113109"/>
                </a:lnTo>
                <a:cubicBezTo>
                  <a:pt x="142949" y="113109"/>
                  <a:pt x="172641" y="142801"/>
                  <a:pt x="172641" y="179450"/>
                </a:cubicBezTo>
                <a:cubicBezTo>
                  <a:pt x="172641" y="185551"/>
                  <a:pt x="167692" y="190500"/>
                  <a:pt x="161590" y="190500"/>
                </a:cubicBezTo>
                <a:lnTo>
                  <a:pt x="28910" y="190500"/>
                </a:lnTo>
                <a:cubicBezTo>
                  <a:pt x="22808" y="190500"/>
                  <a:pt x="17859" y="185551"/>
                  <a:pt x="17859" y="179450"/>
                </a:cubicBezTo>
                <a:close/>
                <a:moveTo>
                  <a:pt x="227856" y="49374"/>
                </a:moveTo>
                <a:lnTo>
                  <a:pt x="198090" y="96999"/>
                </a:lnTo>
                <a:cubicBezTo>
                  <a:pt x="196528" y="99492"/>
                  <a:pt x="193849" y="101054"/>
                  <a:pt x="190909" y="101203"/>
                </a:cubicBezTo>
                <a:cubicBezTo>
                  <a:pt x="187970" y="101352"/>
                  <a:pt x="185142" y="100013"/>
                  <a:pt x="183393" y="97631"/>
                </a:cubicBezTo>
                <a:lnTo>
                  <a:pt x="165534" y="73819"/>
                </a:lnTo>
                <a:cubicBezTo>
                  <a:pt x="162558" y="69875"/>
                  <a:pt x="163376" y="64294"/>
                  <a:pt x="167320" y="61317"/>
                </a:cubicBezTo>
                <a:cubicBezTo>
                  <a:pt x="171264" y="58341"/>
                  <a:pt x="176845" y="59159"/>
                  <a:pt x="179822" y="63103"/>
                </a:cubicBezTo>
                <a:lnTo>
                  <a:pt x="189867" y="76498"/>
                </a:lnTo>
                <a:lnTo>
                  <a:pt x="212713" y="39923"/>
                </a:lnTo>
                <a:cubicBezTo>
                  <a:pt x="215317" y="35756"/>
                  <a:pt x="220824" y="34454"/>
                  <a:pt x="225028" y="37095"/>
                </a:cubicBezTo>
                <a:cubicBezTo>
                  <a:pt x="229233" y="39737"/>
                  <a:pt x="230498" y="45207"/>
                  <a:pt x="227856" y="4941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8" name="Text 16"/>
          <p:cNvSpPr/>
          <p:nvPr/>
        </p:nvSpPr>
        <p:spPr>
          <a:xfrm>
            <a:off x="8269560" y="3467100"/>
            <a:ext cx="118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UX Monitoring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59960" y="3981450"/>
            <a:ext cx="3990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 tracking of user experience through continuous sentiment tracking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26598" y="4872038"/>
            <a:ext cx="4381500" cy="1533525"/>
          </a:xfrm>
          <a:custGeom>
            <a:avLst/>
            <a:gdLst/>
            <a:ahLst/>
            <a:cxnLst/>
            <a:rect l="l" t="t" r="r" b="b"/>
            <a:pathLst>
              <a:path w="4381500" h="1533525">
                <a:moveTo>
                  <a:pt x="152402" y="0"/>
                </a:moveTo>
                <a:lnTo>
                  <a:pt x="4229098" y="0"/>
                </a:lnTo>
                <a:cubicBezTo>
                  <a:pt x="4313211" y="0"/>
                  <a:pt x="4381500" y="68289"/>
                  <a:pt x="4381500" y="152402"/>
                </a:cubicBezTo>
                <a:lnTo>
                  <a:pt x="4381500" y="1381123"/>
                </a:lnTo>
                <a:cubicBezTo>
                  <a:pt x="4381500" y="1465236"/>
                  <a:pt x="4313211" y="1533525"/>
                  <a:pt x="4229098" y="1533525"/>
                </a:cubicBezTo>
                <a:lnTo>
                  <a:pt x="152402" y="1533525"/>
                </a:lnTo>
                <a:cubicBezTo>
                  <a:pt x="68289" y="1533525"/>
                  <a:pt x="0" y="1465236"/>
                  <a:pt x="0" y="138112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59960" y="5105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817123" y="52387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3" name="Text 21"/>
          <p:cNvSpPr/>
          <p:nvPr/>
        </p:nvSpPr>
        <p:spPr>
          <a:xfrm>
            <a:off x="8269560" y="5200650"/>
            <a:ext cx="1771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Data-Driven Decisions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59960" y="5715000"/>
            <a:ext cx="3990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 strategic decision-making through actionable insights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Problem Statement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Challenge of Text Analysis at Scale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16719" y="12954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" name="Text 3"/>
          <p:cNvSpPr/>
          <p:nvPr/>
        </p:nvSpPr>
        <p:spPr>
          <a:xfrm>
            <a:off x="619125" y="1257300"/>
            <a:ext cx="541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Unstructured Data Complexity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600200"/>
            <a:ext cx="5638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Organizations rely on large volumes of unstructured text data to understand customer opinions. However, this data is </a:t>
            </a: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difficult to analyze at scale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because it is noisy, inconsistent, and highly variable in language, structure, and quality.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25336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8" name="Text 6"/>
          <p:cNvSpPr/>
          <p:nvPr/>
        </p:nvSpPr>
        <p:spPr>
          <a:xfrm>
            <a:off x="619125" y="2495550"/>
            <a:ext cx="541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Imbalance Issue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1000" y="2838450"/>
            <a:ext cx="5638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dataset exhibits a </a:t>
            </a: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class imbalance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with the "none" category representing a significantly larger proportion compared to other classes. This makes it difficult to build models that perform reliably across all categories, especially for minority classes.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2906" y="40195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10815" y="20315"/>
                </a:moveTo>
                <a:cubicBezTo>
                  <a:pt x="215466" y="15664"/>
                  <a:pt x="215466" y="8111"/>
                  <a:pt x="210815" y="3460"/>
                </a:cubicBezTo>
                <a:cubicBezTo>
                  <a:pt x="206164" y="-1191"/>
                  <a:pt x="198611" y="-1191"/>
                  <a:pt x="193960" y="3460"/>
                </a:cubicBezTo>
                <a:lnTo>
                  <a:pt x="122523" y="74898"/>
                </a:lnTo>
                <a:lnTo>
                  <a:pt x="109612" y="61987"/>
                </a:lnTo>
                <a:cubicBezTo>
                  <a:pt x="108049" y="60424"/>
                  <a:pt x="105891" y="59531"/>
                  <a:pt x="103659" y="59531"/>
                </a:cubicBezTo>
                <a:cubicBezTo>
                  <a:pt x="99008" y="59531"/>
                  <a:pt x="95250" y="63289"/>
                  <a:pt x="95250" y="67940"/>
                </a:cubicBezTo>
                <a:lnTo>
                  <a:pt x="95250" y="78767"/>
                </a:lnTo>
                <a:lnTo>
                  <a:pt x="135545" y="119063"/>
                </a:lnTo>
                <a:lnTo>
                  <a:pt x="146372" y="119063"/>
                </a:lnTo>
                <a:cubicBezTo>
                  <a:pt x="151023" y="119063"/>
                  <a:pt x="154781" y="115305"/>
                  <a:pt x="154781" y="110654"/>
                </a:cubicBezTo>
                <a:cubicBezTo>
                  <a:pt x="154781" y="108421"/>
                  <a:pt x="153888" y="106263"/>
                  <a:pt x="152326" y="104701"/>
                </a:cubicBezTo>
                <a:lnTo>
                  <a:pt x="139415" y="91790"/>
                </a:lnTo>
                <a:lnTo>
                  <a:pt x="210852" y="20352"/>
                </a:lnTo>
                <a:close/>
                <a:moveTo>
                  <a:pt x="126913" y="131490"/>
                </a:moveTo>
                <a:lnTo>
                  <a:pt x="82823" y="87399"/>
                </a:lnTo>
                <a:cubicBezTo>
                  <a:pt x="66935" y="86023"/>
                  <a:pt x="51122" y="91753"/>
                  <a:pt x="39737" y="103138"/>
                </a:cubicBezTo>
                <a:lnTo>
                  <a:pt x="36761" y="106114"/>
                </a:lnTo>
                <a:cubicBezTo>
                  <a:pt x="28463" y="114412"/>
                  <a:pt x="23812" y="125648"/>
                  <a:pt x="23812" y="137368"/>
                </a:cubicBezTo>
                <a:cubicBezTo>
                  <a:pt x="23812" y="139898"/>
                  <a:pt x="26454" y="141536"/>
                  <a:pt x="28724" y="140419"/>
                </a:cubicBezTo>
                <a:lnTo>
                  <a:pt x="47737" y="130932"/>
                </a:lnTo>
                <a:cubicBezTo>
                  <a:pt x="49597" y="130001"/>
                  <a:pt x="51271" y="132457"/>
                  <a:pt x="49746" y="133871"/>
                </a:cubicBezTo>
                <a:lnTo>
                  <a:pt x="2716" y="176138"/>
                </a:lnTo>
                <a:cubicBezTo>
                  <a:pt x="1005" y="177701"/>
                  <a:pt x="0" y="179933"/>
                  <a:pt x="0" y="182277"/>
                </a:cubicBezTo>
                <a:cubicBezTo>
                  <a:pt x="0" y="186817"/>
                  <a:pt x="3683" y="190500"/>
                  <a:pt x="8223" y="190500"/>
                </a:cubicBezTo>
                <a:lnTo>
                  <a:pt x="72703" y="190500"/>
                </a:lnTo>
                <a:cubicBezTo>
                  <a:pt x="87139" y="190500"/>
                  <a:pt x="100943" y="184770"/>
                  <a:pt x="111175" y="174575"/>
                </a:cubicBezTo>
                <a:cubicBezTo>
                  <a:pt x="122560" y="163190"/>
                  <a:pt x="128253" y="147377"/>
                  <a:pt x="126913" y="13149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" name="Text 9"/>
          <p:cNvSpPr/>
          <p:nvPr/>
        </p:nvSpPr>
        <p:spPr>
          <a:xfrm>
            <a:off x="619125" y="3981450"/>
            <a:ext cx="541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Quality Concerns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1000" y="4324350"/>
            <a:ext cx="5638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 text contains noise such as </a:t>
            </a: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irrelevant tokens and informal language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which can negatively affect model performance if not properly cleaned and transformed into meaningful numerical representations.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53163" y="1262063"/>
            <a:ext cx="5553075" cy="2733675"/>
          </a:xfrm>
          <a:custGeom>
            <a:avLst/>
            <a:gdLst/>
            <a:ahLst/>
            <a:cxnLst/>
            <a:rect l="l" t="t" r="r" b="b"/>
            <a:pathLst>
              <a:path w="5553075" h="2733675">
                <a:moveTo>
                  <a:pt x="152402" y="0"/>
                </a:moveTo>
                <a:lnTo>
                  <a:pt x="5400673" y="0"/>
                </a:lnTo>
                <a:cubicBezTo>
                  <a:pt x="5484842" y="0"/>
                  <a:pt x="5553075" y="68233"/>
                  <a:pt x="5553075" y="152402"/>
                </a:cubicBezTo>
                <a:lnTo>
                  <a:pt x="5553075" y="2581273"/>
                </a:lnTo>
                <a:cubicBezTo>
                  <a:pt x="5553075" y="2665442"/>
                  <a:pt x="5484842" y="2733675"/>
                  <a:pt x="5400673" y="2733675"/>
                </a:cubicBezTo>
                <a:lnTo>
                  <a:pt x="152402" y="2733675"/>
                </a:lnTo>
                <a:cubicBezTo>
                  <a:pt x="68233" y="2733675"/>
                  <a:pt x="0" y="2665442"/>
                  <a:pt x="0" y="258127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86525" y="14954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5" name="Shape 13"/>
          <p:cNvSpPr/>
          <p:nvPr/>
        </p:nvSpPr>
        <p:spPr>
          <a:xfrm>
            <a:off x="6600825" y="16097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981825" y="1552575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Challenge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86525" y="2028825"/>
            <a:ext cx="5162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and evaluate an </a:t>
            </a: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NLP pipeline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can reliably: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86525" y="24479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550819" y="25050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0" name="Text 18"/>
          <p:cNvSpPr/>
          <p:nvPr/>
        </p:nvSpPr>
        <p:spPr>
          <a:xfrm>
            <a:off x="6829425" y="2428875"/>
            <a:ext cx="2952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 raw text into structured features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86525" y="28098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550819" y="28670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3" name="Text 21"/>
          <p:cNvSpPr/>
          <p:nvPr/>
        </p:nvSpPr>
        <p:spPr>
          <a:xfrm>
            <a:off x="6829425" y="2790825"/>
            <a:ext cx="3648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Accurately perform multi-class emotion classification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86525" y="3171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50819" y="32289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6" name="Text 24"/>
          <p:cNvSpPr/>
          <p:nvPr/>
        </p:nvSpPr>
        <p:spPr>
          <a:xfrm>
            <a:off x="6829425" y="3152775"/>
            <a:ext cx="2409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Mitigate effects of class imbalance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86525" y="35337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550819" y="35909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9" name="Text 27"/>
          <p:cNvSpPr/>
          <p:nvPr/>
        </p:nvSpPr>
        <p:spPr>
          <a:xfrm>
            <a:off x="6829425" y="3514725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Minimize information leakage during evaluation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53163" y="5262563"/>
            <a:ext cx="5553075" cy="1209675"/>
          </a:xfrm>
          <a:custGeom>
            <a:avLst/>
            <a:gdLst/>
            <a:ahLst/>
            <a:cxnLst/>
            <a:rect l="l" t="t" r="r" b="b"/>
            <a:pathLst>
              <a:path w="5553075" h="1209675">
                <a:moveTo>
                  <a:pt x="152395" y="0"/>
                </a:moveTo>
                <a:lnTo>
                  <a:pt x="5400680" y="0"/>
                </a:lnTo>
                <a:cubicBezTo>
                  <a:pt x="5484789" y="0"/>
                  <a:pt x="5553075" y="68286"/>
                  <a:pt x="5553075" y="152395"/>
                </a:cubicBezTo>
                <a:lnTo>
                  <a:pt x="5553075" y="1057280"/>
                </a:lnTo>
                <a:cubicBezTo>
                  <a:pt x="5553075" y="1141389"/>
                  <a:pt x="5484789" y="1209675"/>
                  <a:pt x="5400680" y="1209675"/>
                </a:cubicBezTo>
                <a:lnTo>
                  <a:pt x="152395" y="1209675"/>
                </a:lnTo>
                <a:cubicBezTo>
                  <a:pt x="68286" y="1209675"/>
                  <a:pt x="0" y="1141389"/>
                  <a:pt x="0" y="1057280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270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86525" y="5495925"/>
            <a:ext cx="51625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Goal:</a:t>
            </a: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Establish a robust and reproducible workflow for text preprocessing, feature extraction, and supervised learning that generalizes well to unseen data and supports real-world business use cases.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Data Understanding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Exploration and Quality Assessment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576388"/>
            <a:ext cx="5553075" cy="1819275"/>
          </a:xfrm>
          <a:custGeom>
            <a:avLst/>
            <a:gdLst/>
            <a:ahLst/>
            <a:cxnLst/>
            <a:rect l="l" t="t" r="r" b="b"/>
            <a:pathLst>
              <a:path w="5553075" h="1819275">
                <a:moveTo>
                  <a:pt x="152401" y="0"/>
                </a:moveTo>
                <a:lnTo>
                  <a:pt x="5400674" y="0"/>
                </a:lnTo>
                <a:cubicBezTo>
                  <a:pt x="5484843" y="0"/>
                  <a:pt x="5553075" y="68232"/>
                  <a:pt x="5553075" y="152401"/>
                </a:cubicBezTo>
                <a:lnTo>
                  <a:pt x="5553075" y="1666874"/>
                </a:lnTo>
                <a:cubicBezTo>
                  <a:pt x="5553075" y="1751043"/>
                  <a:pt x="5484843" y="1819275"/>
                  <a:pt x="5400674" y="1819275"/>
                </a:cubicBezTo>
                <a:lnTo>
                  <a:pt x="152401" y="1819275"/>
                </a:lnTo>
                <a:cubicBezTo>
                  <a:pt x="68232" y="1819275"/>
                  <a:pt x="0" y="1751043"/>
                  <a:pt x="0" y="1666874"/>
                </a:cubicBezTo>
                <a:lnTo>
                  <a:pt x="0" y="152401"/>
                </a:lnTo>
                <a:cubicBezTo>
                  <a:pt x="0" y="68288"/>
                  <a:pt x="68288" y="0"/>
                  <a:pt x="1524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9125" y="1809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Shape 4"/>
          <p:cNvSpPr/>
          <p:nvPr/>
        </p:nvSpPr>
        <p:spPr>
          <a:xfrm>
            <a:off x="764381" y="19431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228725" y="1905000"/>
            <a:ext cx="138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Source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9125" y="2419350"/>
            <a:ext cx="51625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project uses a </a:t>
            </a: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of tweets from Data.World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build a model that classifies the presence and polarity of emotions directed at brands or products.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763" y="3595688"/>
            <a:ext cx="5553075" cy="2562225"/>
          </a:xfrm>
          <a:custGeom>
            <a:avLst/>
            <a:gdLst/>
            <a:ahLst/>
            <a:cxnLst/>
            <a:rect l="l" t="t" r="r" b="b"/>
            <a:pathLst>
              <a:path w="5553075" h="2562225">
                <a:moveTo>
                  <a:pt x="152401" y="0"/>
                </a:moveTo>
                <a:lnTo>
                  <a:pt x="5400674" y="0"/>
                </a:lnTo>
                <a:cubicBezTo>
                  <a:pt x="5484786" y="0"/>
                  <a:pt x="5553075" y="68289"/>
                  <a:pt x="5553075" y="152401"/>
                </a:cubicBezTo>
                <a:lnTo>
                  <a:pt x="5553075" y="2409824"/>
                </a:lnTo>
                <a:cubicBezTo>
                  <a:pt x="5553075" y="2493936"/>
                  <a:pt x="5484786" y="2562225"/>
                  <a:pt x="5400674" y="2562225"/>
                </a:cubicBezTo>
                <a:lnTo>
                  <a:pt x="152401" y="2562225"/>
                </a:lnTo>
                <a:cubicBezTo>
                  <a:pt x="68289" y="2562225"/>
                  <a:pt x="0" y="2493936"/>
                  <a:pt x="0" y="2409824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125" y="3829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" name="Shape 9"/>
          <p:cNvSpPr/>
          <p:nvPr/>
        </p:nvSpPr>
        <p:spPr>
          <a:xfrm>
            <a:off x="752475" y="3962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228725" y="3924300"/>
            <a:ext cx="1866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Components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125" y="4495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95325" y="4572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71438"/>
                </a:moveTo>
                <a:cubicBezTo>
                  <a:pt x="152400" y="110877"/>
                  <a:pt x="118289" y="142875"/>
                  <a:pt x="76200" y="142875"/>
                </a:cubicBezTo>
                <a:cubicBezTo>
                  <a:pt x="65157" y="142875"/>
                  <a:pt x="54679" y="140672"/>
                  <a:pt x="45214" y="136714"/>
                </a:cubicBezTo>
                <a:lnTo>
                  <a:pt x="9971" y="151834"/>
                </a:lnTo>
                <a:cubicBezTo>
                  <a:pt x="7174" y="153025"/>
                  <a:pt x="3959" y="152340"/>
                  <a:pt x="1905" y="150108"/>
                </a:cubicBezTo>
                <a:cubicBezTo>
                  <a:pt x="-149" y="147876"/>
                  <a:pt x="-595" y="144601"/>
                  <a:pt x="833" y="141923"/>
                </a:cubicBezTo>
                <a:lnTo>
                  <a:pt x="15359" y="114479"/>
                </a:lnTo>
                <a:cubicBezTo>
                  <a:pt x="5715" y="102483"/>
                  <a:pt x="0" y="87600"/>
                  <a:pt x="0" y="71438"/>
                </a:cubicBezTo>
                <a:cubicBezTo>
                  <a:pt x="0" y="31998"/>
                  <a:pt x="34111" y="0"/>
                  <a:pt x="76200" y="0"/>
                </a:cubicBezTo>
                <a:cubicBezTo>
                  <a:pt x="118289" y="0"/>
                  <a:pt x="152400" y="31998"/>
                  <a:pt x="152400" y="7143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5" name="Text 13"/>
          <p:cNvSpPr/>
          <p:nvPr/>
        </p:nvSpPr>
        <p:spPr>
          <a:xfrm>
            <a:off x="1038225" y="4438650"/>
            <a:ext cx="209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 Tweet Text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38225" y="4667250"/>
            <a:ext cx="2085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Unprocessed social media content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125" y="5029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95325" y="5105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674" y="28575"/>
                </a:moveTo>
                <a:lnTo>
                  <a:pt x="9674" y="73075"/>
                </a:lnTo>
                <a:cubicBezTo>
                  <a:pt x="9674" y="78135"/>
                  <a:pt x="11668" y="82987"/>
                  <a:pt x="15240" y="86558"/>
                </a:cubicBezTo>
                <a:lnTo>
                  <a:pt x="72390" y="143708"/>
                </a:lnTo>
                <a:cubicBezTo>
                  <a:pt x="79831" y="151150"/>
                  <a:pt x="91886" y="151150"/>
                  <a:pt x="99328" y="143708"/>
                </a:cubicBezTo>
                <a:lnTo>
                  <a:pt x="143828" y="99209"/>
                </a:lnTo>
                <a:cubicBezTo>
                  <a:pt x="151269" y="91767"/>
                  <a:pt x="151269" y="79712"/>
                  <a:pt x="143828" y="72271"/>
                </a:cubicBezTo>
                <a:lnTo>
                  <a:pt x="86678" y="15121"/>
                </a:lnTo>
                <a:cubicBezTo>
                  <a:pt x="83106" y="11519"/>
                  <a:pt x="78284" y="9525"/>
                  <a:pt x="73223" y="9525"/>
                </a:cubicBezTo>
                <a:lnTo>
                  <a:pt x="28724" y="9525"/>
                </a:lnTo>
                <a:cubicBezTo>
                  <a:pt x="18217" y="9525"/>
                  <a:pt x="9674" y="18068"/>
                  <a:pt x="9674" y="28575"/>
                </a:cubicBezTo>
                <a:close/>
                <a:moveTo>
                  <a:pt x="43011" y="33338"/>
                </a:moveTo>
                <a:cubicBezTo>
                  <a:pt x="48268" y="33338"/>
                  <a:pt x="52536" y="37606"/>
                  <a:pt x="52536" y="42863"/>
                </a:cubicBezTo>
                <a:cubicBezTo>
                  <a:pt x="52536" y="48119"/>
                  <a:pt x="48268" y="52388"/>
                  <a:pt x="43011" y="52388"/>
                </a:cubicBezTo>
                <a:cubicBezTo>
                  <a:pt x="37754" y="52388"/>
                  <a:pt x="33486" y="48119"/>
                  <a:pt x="33486" y="42863"/>
                </a:cubicBezTo>
                <a:cubicBezTo>
                  <a:pt x="33486" y="37606"/>
                  <a:pt x="37754" y="33338"/>
                  <a:pt x="43011" y="3333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9" name="Text 17"/>
          <p:cNvSpPr/>
          <p:nvPr/>
        </p:nvSpPr>
        <p:spPr>
          <a:xfrm>
            <a:off x="1038225" y="4972050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Brand/Product Reference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38225" y="5200650"/>
            <a:ext cx="1962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entity mentioned in tweet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9125" y="5562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95325" y="5638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232" y="95816"/>
                </a:moveTo>
                <a:cubicBezTo>
                  <a:pt x="55305" y="104150"/>
                  <a:pt x="65127" y="109537"/>
                  <a:pt x="76200" y="109537"/>
                </a:cubicBezTo>
                <a:cubicBezTo>
                  <a:pt x="87273" y="109537"/>
                  <a:pt x="97095" y="104150"/>
                  <a:pt x="103168" y="95816"/>
                </a:cubicBezTo>
                <a:cubicBezTo>
                  <a:pt x="105489" y="92631"/>
                  <a:pt x="109954" y="91916"/>
                  <a:pt x="113139" y="94238"/>
                </a:cubicBezTo>
                <a:cubicBezTo>
                  <a:pt x="116324" y="96560"/>
                  <a:pt x="117038" y="101025"/>
                  <a:pt x="114717" y="104209"/>
                </a:cubicBezTo>
                <a:cubicBezTo>
                  <a:pt x="106055" y="116086"/>
                  <a:pt x="92035" y="123825"/>
                  <a:pt x="76200" y="123825"/>
                </a:cubicBezTo>
                <a:cubicBezTo>
                  <a:pt x="60365" y="123825"/>
                  <a:pt x="46345" y="116086"/>
                  <a:pt x="37683" y="104209"/>
                </a:cubicBezTo>
                <a:cubicBezTo>
                  <a:pt x="35362" y="101025"/>
                  <a:pt x="36076" y="96560"/>
                  <a:pt x="39261" y="94238"/>
                </a:cubicBezTo>
                <a:cubicBezTo>
                  <a:pt x="42446" y="91916"/>
                  <a:pt x="46911" y="92631"/>
                  <a:pt x="49232" y="95816"/>
                </a:cubicBezTo>
                <a:close/>
                <a:moveTo>
                  <a:pt x="42863" y="61912"/>
                </a:moveTo>
                <a:cubicBezTo>
                  <a:pt x="42863" y="56656"/>
                  <a:pt x="47131" y="52388"/>
                  <a:pt x="52388" y="52388"/>
                </a:cubicBezTo>
                <a:cubicBezTo>
                  <a:pt x="57644" y="52388"/>
                  <a:pt x="61912" y="56656"/>
                  <a:pt x="61912" y="61912"/>
                </a:cubicBezTo>
                <a:cubicBezTo>
                  <a:pt x="61912" y="67169"/>
                  <a:pt x="57644" y="71438"/>
                  <a:pt x="52388" y="71438"/>
                </a:cubicBezTo>
                <a:cubicBezTo>
                  <a:pt x="47131" y="71438"/>
                  <a:pt x="42863" y="67169"/>
                  <a:pt x="42863" y="61912"/>
                </a:cubicBezTo>
                <a:close/>
                <a:moveTo>
                  <a:pt x="100013" y="52388"/>
                </a:moveTo>
                <a:cubicBezTo>
                  <a:pt x="105269" y="52388"/>
                  <a:pt x="109537" y="56656"/>
                  <a:pt x="109537" y="61912"/>
                </a:cubicBezTo>
                <a:cubicBezTo>
                  <a:pt x="109537" y="67169"/>
                  <a:pt x="105269" y="71438"/>
                  <a:pt x="100013" y="71438"/>
                </a:cubicBezTo>
                <a:cubicBezTo>
                  <a:pt x="94756" y="71438"/>
                  <a:pt x="90488" y="67169"/>
                  <a:pt x="90488" y="61912"/>
                </a:cubicBezTo>
                <a:cubicBezTo>
                  <a:pt x="90488" y="56656"/>
                  <a:pt x="94756" y="52388"/>
                  <a:pt x="100013" y="5238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3" name="Text 21"/>
          <p:cNvSpPr/>
          <p:nvPr/>
        </p:nvSpPr>
        <p:spPr>
          <a:xfrm>
            <a:off x="1038225" y="5505450"/>
            <a:ext cx="2200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Emotion Label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38225" y="5734050"/>
            <a:ext cx="219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Positive, negative, none, or unknown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53163" y="1528763"/>
            <a:ext cx="5553075" cy="3267075"/>
          </a:xfrm>
          <a:custGeom>
            <a:avLst/>
            <a:gdLst/>
            <a:ahLst/>
            <a:cxnLst/>
            <a:rect l="l" t="t" r="r" b="b"/>
            <a:pathLst>
              <a:path w="5553075" h="3267075">
                <a:moveTo>
                  <a:pt x="152409" y="0"/>
                </a:moveTo>
                <a:lnTo>
                  <a:pt x="5400666" y="0"/>
                </a:lnTo>
                <a:cubicBezTo>
                  <a:pt x="5484839" y="0"/>
                  <a:pt x="5553075" y="68236"/>
                  <a:pt x="5553075" y="152409"/>
                </a:cubicBezTo>
                <a:lnTo>
                  <a:pt x="5553075" y="3114666"/>
                </a:lnTo>
                <a:cubicBezTo>
                  <a:pt x="5553075" y="3198839"/>
                  <a:pt x="5484839" y="3267075"/>
                  <a:pt x="5400666" y="3267075"/>
                </a:cubicBezTo>
                <a:lnTo>
                  <a:pt x="152409" y="3267075"/>
                </a:lnTo>
                <a:cubicBezTo>
                  <a:pt x="68236" y="3267075"/>
                  <a:pt x="0" y="3198839"/>
                  <a:pt x="0" y="3114666"/>
                </a:cubicBezTo>
                <a:lnTo>
                  <a:pt x="0" y="152409"/>
                </a:lnTo>
                <a:cubicBezTo>
                  <a:pt x="0" y="68292"/>
                  <a:pt x="68292" y="0"/>
                  <a:pt x="15240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86525" y="1762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7" name="Shape 25"/>
          <p:cNvSpPr/>
          <p:nvPr/>
        </p:nvSpPr>
        <p:spPr>
          <a:xfrm>
            <a:off x="6619875" y="18954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7391" y="130969"/>
                </a:moveTo>
                <a:cubicBezTo>
                  <a:pt x="106961" y="130969"/>
                  <a:pt x="130969" y="106961"/>
                  <a:pt x="130969" y="77391"/>
                </a:cubicBezTo>
                <a:cubicBezTo>
                  <a:pt x="130969" y="47820"/>
                  <a:pt x="106961" y="23812"/>
                  <a:pt x="77391" y="23812"/>
                </a:cubicBezTo>
                <a:cubicBezTo>
                  <a:pt x="47820" y="23812"/>
                  <a:pt x="23813" y="47820"/>
                  <a:pt x="23812" y="77391"/>
                </a:cubicBezTo>
                <a:cubicBezTo>
                  <a:pt x="23812" y="106961"/>
                  <a:pt x="47820" y="130969"/>
                  <a:pt x="77391" y="13096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096125" y="1857375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Exploration Goals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86525" y="2371725"/>
            <a:ext cx="5162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goal of this stage is to </a:t>
            </a: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 the dataset's structure and content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This includes: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86525" y="30384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50819" y="30956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2" name="Text 30"/>
          <p:cNvSpPr/>
          <p:nvPr/>
        </p:nvSpPr>
        <p:spPr>
          <a:xfrm>
            <a:off x="6829425" y="3019425"/>
            <a:ext cx="261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Reviewing the features and data types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86525" y="33623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550819" y="34194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5" name="Text 33"/>
          <p:cNvSpPr/>
          <p:nvPr/>
        </p:nvSpPr>
        <p:spPr>
          <a:xfrm>
            <a:off x="6829425" y="3343275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Identifying potential quality issues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86525" y="36861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550819" y="37433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8" name="Text 36"/>
          <p:cNvSpPr/>
          <p:nvPr/>
        </p:nvSpPr>
        <p:spPr>
          <a:xfrm>
            <a:off x="6829425" y="3667125"/>
            <a:ext cx="2762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Detecting missing values and duplicates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86525" y="40100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550819" y="40671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1" name="Text 39"/>
          <p:cNvSpPr/>
          <p:nvPr/>
        </p:nvSpPr>
        <p:spPr>
          <a:xfrm>
            <a:off x="6829425" y="3990975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Analyzing class imbalance patterns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86525" y="43338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550819" y="43910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4" name="Text 42"/>
          <p:cNvSpPr/>
          <p:nvPr/>
        </p:nvSpPr>
        <p:spPr>
          <a:xfrm>
            <a:off x="6829425" y="4314825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Identifying corrupted or anomalous entries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253163" y="4995863"/>
            <a:ext cx="5553075" cy="1209675"/>
          </a:xfrm>
          <a:custGeom>
            <a:avLst/>
            <a:gdLst/>
            <a:ahLst/>
            <a:cxnLst/>
            <a:rect l="l" t="t" r="r" b="b"/>
            <a:pathLst>
              <a:path w="5553075" h="1209675">
                <a:moveTo>
                  <a:pt x="152395" y="0"/>
                </a:moveTo>
                <a:lnTo>
                  <a:pt x="5400680" y="0"/>
                </a:lnTo>
                <a:cubicBezTo>
                  <a:pt x="5484789" y="0"/>
                  <a:pt x="5553075" y="68286"/>
                  <a:pt x="5553075" y="152395"/>
                </a:cubicBezTo>
                <a:lnTo>
                  <a:pt x="5553075" y="1057280"/>
                </a:lnTo>
                <a:cubicBezTo>
                  <a:pt x="5553075" y="1141389"/>
                  <a:pt x="5484789" y="1209675"/>
                  <a:pt x="5400680" y="1209675"/>
                </a:cubicBezTo>
                <a:lnTo>
                  <a:pt x="152395" y="1209675"/>
                </a:lnTo>
                <a:cubicBezTo>
                  <a:pt x="68286" y="1209675"/>
                  <a:pt x="0" y="1141389"/>
                  <a:pt x="0" y="1057280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270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24625" y="52768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7" name="Text 45"/>
          <p:cNvSpPr/>
          <p:nvPr/>
        </p:nvSpPr>
        <p:spPr>
          <a:xfrm>
            <a:off x="6734175" y="5229225"/>
            <a:ext cx="4914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Insight:</a:t>
            </a: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By exploring the data at this stage, it is possible to detect quality concerns and inform decisions for text cleaning, preprocessing, and subsequent NLP model development.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E84AC11-791B-E6C3-085A-3019511996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7797"/>
          <a:stretch/>
        </p:blipFill>
        <p:spPr>
          <a:xfrm>
            <a:off x="820946" y="3874958"/>
            <a:ext cx="3765582" cy="2763586"/>
          </a:xfrm>
          <a:prstGeom prst="rect">
            <a:avLst/>
          </a:prstGeom>
        </p:spPr>
      </p:pic>
      <p:sp>
        <p:nvSpPr>
          <p:cNvPr id="13" name="Text 1">
            <a:extLst>
              <a:ext uri="{FF2B5EF4-FFF2-40B4-BE49-F238E27FC236}">
                <a16:creationId xmlns:a16="http://schemas.microsoft.com/office/drawing/2014/main" id="{4EFC6584-8E2B-4F5A-FBBD-D21A192DA6DB}"/>
              </a:ext>
            </a:extLst>
          </p:cNvPr>
          <p:cNvSpPr/>
          <p:nvPr/>
        </p:nvSpPr>
        <p:spPr>
          <a:xfrm>
            <a:off x="240323" y="17153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1600" b="1" dirty="0"/>
              <a:t>Pie Chart representation of sentiment class distribution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84AC11-791B-E6C3-085A-3019511996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494"/>
          <a:stretch/>
        </p:blipFill>
        <p:spPr>
          <a:xfrm>
            <a:off x="1517224" y="552530"/>
            <a:ext cx="3956007" cy="3405452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CCEFC2BC-60C6-E706-5117-5AD6925793D5}"/>
              </a:ext>
            </a:extLst>
          </p:cNvPr>
          <p:cNvGrpSpPr/>
          <p:nvPr/>
        </p:nvGrpSpPr>
        <p:grpSpPr>
          <a:xfrm>
            <a:off x="6250906" y="681382"/>
            <a:ext cx="5032790" cy="5115914"/>
            <a:chOff x="385763" y="1262063"/>
            <a:chExt cx="3648075" cy="3286125"/>
          </a:xfrm>
        </p:grpSpPr>
        <p:sp>
          <p:nvSpPr>
            <p:cNvPr id="23" name="Shape 2"/>
            <p:cNvSpPr/>
            <p:nvPr/>
          </p:nvSpPr>
          <p:spPr>
            <a:xfrm>
              <a:off x="385763" y="1262063"/>
              <a:ext cx="3648075" cy="3286125"/>
            </a:xfrm>
            <a:custGeom>
              <a:avLst/>
              <a:gdLst/>
              <a:ahLst/>
              <a:cxnLst/>
              <a:rect l="l" t="t" r="r" b="b"/>
              <a:pathLst>
                <a:path w="3648075" h="3286125">
                  <a:moveTo>
                    <a:pt x="152410" y="0"/>
                  </a:moveTo>
                  <a:lnTo>
                    <a:pt x="3495665" y="0"/>
                  </a:lnTo>
                  <a:cubicBezTo>
                    <a:pt x="3579839" y="0"/>
                    <a:pt x="3648075" y="68236"/>
                    <a:pt x="3648075" y="152410"/>
                  </a:cubicBezTo>
                  <a:lnTo>
                    <a:pt x="3648075" y="3133715"/>
                  </a:lnTo>
                  <a:cubicBezTo>
                    <a:pt x="3648075" y="3217889"/>
                    <a:pt x="3579839" y="3286125"/>
                    <a:pt x="3495665" y="3286125"/>
                  </a:cubicBezTo>
                  <a:lnTo>
                    <a:pt x="152410" y="3286125"/>
                  </a:lnTo>
                  <a:cubicBezTo>
                    <a:pt x="68236" y="3286125"/>
                    <a:pt x="0" y="3217889"/>
                    <a:pt x="0" y="3133715"/>
                  </a:cubicBezTo>
                  <a:lnTo>
                    <a:pt x="0" y="152410"/>
                  </a:lnTo>
                  <a:cubicBezTo>
                    <a:pt x="0" y="68293"/>
                    <a:pt x="68293" y="0"/>
                    <a:pt x="152410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4" name="Shape 3"/>
            <p:cNvSpPr/>
            <p:nvPr/>
          </p:nvSpPr>
          <p:spPr>
            <a:xfrm>
              <a:off x="619125" y="1495425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0071E3"/>
            </a:solidFill>
            <a:ln/>
          </p:spPr>
        </p:sp>
        <p:sp>
          <p:nvSpPr>
            <p:cNvPr id="25" name="Shape 4"/>
            <p:cNvSpPr/>
            <p:nvPr/>
          </p:nvSpPr>
          <p:spPr>
            <a:xfrm>
              <a:off x="757238" y="1647825"/>
              <a:ext cx="257175" cy="228600"/>
            </a:xfrm>
            <a:custGeom>
              <a:avLst/>
              <a:gdLst/>
              <a:ahLst/>
              <a:cxnLst/>
              <a:rect l="l" t="t" r="r" b="b"/>
              <a:pathLst>
                <a:path w="257175" h="228600">
                  <a:moveTo>
                    <a:pt x="228779" y="107156"/>
                  </a:moveTo>
                  <a:lnTo>
                    <a:pt x="150197" y="107156"/>
                  </a:lnTo>
                  <a:cubicBezTo>
                    <a:pt x="142295" y="107156"/>
                    <a:pt x="135910" y="100772"/>
                    <a:pt x="135910" y="92869"/>
                  </a:cubicBezTo>
                  <a:lnTo>
                    <a:pt x="135910" y="14288"/>
                  </a:lnTo>
                  <a:cubicBezTo>
                    <a:pt x="135910" y="6385"/>
                    <a:pt x="142339" y="-89"/>
                    <a:pt x="150153" y="938"/>
                  </a:cubicBezTo>
                  <a:cubicBezTo>
                    <a:pt x="197927" y="7278"/>
                    <a:pt x="235788" y="45140"/>
                    <a:pt x="242128" y="92913"/>
                  </a:cubicBezTo>
                  <a:cubicBezTo>
                    <a:pt x="243155" y="100727"/>
                    <a:pt x="236681" y="107156"/>
                    <a:pt x="228779" y="107156"/>
                  </a:cubicBezTo>
                  <a:close/>
                  <a:moveTo>
                    <a:pt x="99387" y="16609"/>
                  </a:moveTo>
                  <a:cubicBezTo>
                    <a:pt x="107469" y="14913"/>
                    <a:pt x="114479" y="21521"/>
                    <a:pt x="114479" y="29781"/>
                  </a:cubicBezTo>
                  <a:lnTo>
                    <a:pt x="114479" y="117872"/>
                  </a:lnTo>
                  <a:cubicBezTo>
                    <a:pt x="114479" y="120372"/>
                    <a:pt x="115372" y="122783"/>
                    <a:pt x="116934" y="124703"/>
                  </a:cubicBezTo>
                  <a:lnTo>
                    <a:pt x="175915" y="195873"/>
                  </a:lnTo>
                  <a:cubicBezTo>
                    <a:pt x="181139" y="202168"/>
                    <a:pt x="180023" y="211678"/>
                    <a:pt x="172834" y="215563"/>
                  </a:cubicBezTo>
                  <a:cubicBezTo>
                    <a:pt x="157609" y="223867"/>
                    <a:pt x="140151" y="228600"/>
                    <a:pt x="121622" y="228600"/>
                  </a:cubicBezTo>
                  <a:cubicBezTo>
                    <a:pt x="62463" y="228600"/>
                    <a:pt x="14466" y="180603"/>
                    <a:pt x="14466" y="121444"/>
                  </a:cubicBezTo>
                  <a:cubicBezTo>
                    <a:pt x="14466" y="69875"/>
                    <a:pt x="50855" y="26834"/>
                    <a:pt x="99387" y="16609"/>
                  </a:cubicBezTo>
                  <a:close/>
                  <a:moveTo>
                    <a:pt x="213330" y="128588"/>
                  </a:moveTo>
                  <a:lnTo>
                    <a:pt x="241905" y="128588"/>
                  </a:lnTo>
                  <a:cubicBezTo>
                    <a:pt x="250165" y="128588"/>
                    <a:pt x="256773" y="135597"/>
                    <a:pt x="255077" y="143679"/>
                  </a:cubicBezTo>
                  <a:cubicBezTo>
                    <a:pt x="250522" y="165289"/>
                    <a:pt x="239450" y="184487"/>
                    <a:pt x="224001" y="199132"/>
                  </a:cubicBezTo>
                  <a:cubicBezTo>
                    <a:pt x="218509" y="204356"/>
                    <a:pt x="209892" y="203240"/>
                    <a:pt x="205070" y="197391"/>
                  </a:cubicBezTo>
                  <a:lnTo>
                    <a:pt x="167387" y="151983"/>
                  </a:lnTo>
                  <a:cubicBezTo>
                    <a:pt x="159663" y="142652"/>
                    <a:pt x="166315" y="128588"/>
                    <a:pt x="178371" y="128588"/>
                  </a:cubicBezTo>
                  <a:lnTo>
                    <a:pt x="213286" y="128588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26" name="Text 5"/>
            <p:cNvSpPr/>
            <p:nvPr/>
          </p:nvSpPr>
          <p:spPr>
            <a:xfrm>
              <a:off x="1304925" y="1533525"/>
              <a:ext cx="15716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1D1D1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Class Distribution</a:t>
              </a:r>
              <a:endParaRPr lang="en-US" sz="1600" dirty="0"/>
            </a:p>
          </p:txBody>
        </p:sp>
        <p:sp>
          <p:nvSpPr>
            <p:cNvPr id="27" name="Text 6"/>
            <p:cNvSpPr/>
            <p:nvPr/>
          </p:nvSpPr>
          <p:spPr>
            <a:xfrm>
              <a:off x="1304925" y="1800225"/>
              <a:ext cx="15430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86868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Insight 01</a:t>
              </a:r>
              <a:endParaRPr lang="en-US" sz="1600" dirty="0"/>
            </a:p>
          </p:txBody>
        </p:sp>
        <p:sp>
          <p:nvSpPr>
            <p:cNvPr id="28" name="Text 7"/>
            <p:cNvSpPr/>
            <p:nvPr/>
          </p:nvSpPr>
          <p:spPr>
            <a:xfrm>
              <a:off x="619125" y="2181225"/>
              <a:ext cx="3257550" cy="7429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200" dirty="0">
                  <a:solidFill>
                    <a:srgbClr val="86868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The dataset is </a:t>
              </a:r>
              <a:r>
                <a:rPr lang="en-US" sz="1200" b="1" dirty="0">
                  <a:solidFill>
                    <a:srgbClr val="1D1D1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highly imbalanced</a:t>
              </a:r>
              <a:r>
                <a:rPr lang="en-US" sz="1200" dirty="0">
                  <a:solidFill>
                    <a:srgbClr val="86868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, with the majority of tweets falling under the </a:t>
              </a:r>
              <a:r>
                <a:rPr lang="en-US" sz="1200" dirty="0">
                  <a:solidFill>
                    <a:srgbClr val="FFC000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neutral</a:t>
              </a:r>
              <a:r>
                <a:rPr lang="en-US" sz="1200" dirty="0">
                  <a:solidFill>
                    <a:srgbClr val="86868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 or </a:t>
              </a:r>
              <a:r>
                <a:rPr lang="en-US" sz="1200" dirty="0">
                  <a:solidFill>
                    <a:srgbClr val="00B050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positive</a:t>
              </a:r>
              <a:r>
                <a:rPr lang="en-US" sz="1200" dirty="0">
                  <a:solidFill>
                    <a:srgbClr val="86868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 sentiment categories</a:t>
              </a:r>
              <a:r>
                <a:rPr lang="en-US" sz="1200" dirty="0" smtClean="0">
                  <a:solidFill>
                    <a:srgbClr val="86868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.</a:t>
              </a:r>
            </a:p>
            <a:p>
              <a:pPr>
                <a:lnSpc>
                  <a:spcPct val="140000"/>
                </a:lnSpc>
              </a:pPr>
              <a:r>
                <a:rPr lang="en-US" sz="1200" dirty="0" smtClean="0">
                  <a:solidFill>
                    <a:srgbClr val="86868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The </a:t>
              </a:r>
              <a:r>
                <a:rPr lang="en-US" sz="1200" dirty="0" smtClean="0">
                  <a:solidFill>
                    <a:srgbClr val="FF0000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Negative</a:t>
              </a:r>
              <a:r>
                <a:rPr lang="en-US" sz="1200" dirty="0" smtClean="0">
                  <a:solidFill>
                    <a:srgbClr val="86868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 class is the Minority class</a:t>
              </a:r>
              <a:endParaRPr lang="en-US" sz="1200" dirty="0" smtClean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endParaRPr>
            </a:p>
            <a:p>
              <a:pPr>
                <a:lnSpc>
                  <a:spcPct val="140000"/>
                </a:lnSpc>
              </a:pPr>
              <a:endParaRPr lang="en-US" sz="1600" dirty="0"/>
            </a:p>
          </p:txBody>
        </p:sp>
        <p:sp>
          <p:nvSpPr>
            <p:cNvPr id="29" name="Shape 8"/>
            <p:cNvSpPr/>
            <p:nvPr/>
          </p:nvSpPr>
          <p:spPr>
            <a:xfrm>
              <a:off x="623888" y="3081338"/>
              <a:ext cx="3171825" cy="1228725"/>
            </a:xfrm>
            <a:custGeom>
              <a:avLst/>
              <a:gdLst/>
              <a:ahLst/>
              <a:cxnLst/>
              <a:rect l="l" t="t" r="r" b="b"/>
              <a:pathLst>
                <a:path w="3171825" h="1228725">
                  <a:moveTo>
                    <a:pt x="114296" y="0"/>
                  </a:moveTo>
                  <a:lnTo>
                    <a:pt x="3057529" y="0"/>
                  </a:lnTo>
                  <a:cubicBezTo>
                    <a:pt x="3120653" y="0"/>
                    <a:pt x="3171825" y="51172"/>
                    <a:pt x="3171825" y="114296"/>
                  </a:cubicBezTo>
                  <a:lnTo>
                    <a:pt x="3171825" y="1114429"/>
                  </a:lnTo>
                  <a:cubicBezTo>
                    <a:pt x="3171825" y="1177553"/>
                    <a:pt x="3120653" y="1228725"/>
                    <a:pt x="3057529" y="1228725"/>
                  </a:cubicBezTo>
                  <a:lnTo>
                    <a:pt x="114296" y="1228725"/>
                  </a:lnTo>
                  <a:cubicBezTo>
                    <a:pt x="51172" y="1228725"/>
                    <a:pt x="0" y="1177553"/>
                    <a:pt x="0" y="1114429"/>
                  </a:cubicBezTo>
                  <a:lnTo>
                    <a:pt x="0" y="114296"/>
                  </a:lnTo>
                  <a:cubicBezTo>
                    <a:pt x="0" y="51172"/>
                    <a:pt x="51172" y="0"/>
                    <a:pt x="114296" y="0"/>
                  </a:cubicBezTo>
                  <a:close/>
                </a:path>
              </a:pathLst>
            </a:custGeom>
            <a:solidFill>
              <a:srgbClr val="0071E3">
                <a:alpha val="5098"/>
              </a:srgbClr>
            </a:solidFill>
            <a:ln w="12700">
              <a:solidFill>
                <a:srgbClr val="0071E3">
                  <a:alpha val="20000"/>
                </a:srgbClr>
              </a:solidFill>
              <a:prstDash val="solid"/>
            </a:ln>
          </p:spPr>
        </p:sp>
        <p:sp>
          <p:nvSpPr>
            <p:cNvPr id="30" name="Shape 9"/>
            <p:cNvSpPr/>
            <p:nvPr/>
          </p:nvSpPr>
          <p:spPr>
            <a:xfrm>
              <a:off x="819150" y="327660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87184" y="114300"/>
                  </a:moveTo>
                  <a:cubicBezTo>
                    <a:pt x="89356" y="107662"/>
                    <a:pt x="93702" y="101650"/>
                    <a:pt x="98614" y="96470"/>
                  </a:cubicBezTo>
                  <a:cubicBezTo>
                    <a:pt x="108347" y="86231"/>
                    <a:pt x="114300" y="72390"/>
                    <a:pt x="114300" y="57150"/>
                  </a:cubicBezTo>
                  <a:cubicBezTo>
                    <a:pt x="114300" y="25598"/>
                    <a:pt x="88702" y="0"/>
                    <a:pt x="57150" y="0"/>
                  </a:cubicBezTo>
                  <a:cubicBezTo>
                    <a:pt x="25598" y="0"/>
                    <a:pt x="0" y="25598"/>
                    <a:pt x="0" y="57150"/>
                  </a:cubicBezTo>
                  <a:cubicBezTo>
                    <a:pt x="0" y="72390"/>
                    <a:pt x="5953" y="86231"/>
                    <a:pt x="15686" y="96470"/>
                  </a:cubicBezTo>
                  <a:cubicBezTo>
                    <a:pt x="20598" y="101650"/>
                    <a:pt x="24973" y="107662"/>
                    <a:pt x="27116" y="114300"/>
                  </a:cubicBezTo>
                  <a:lnTo>
                    <a:pt x="87154" y="114300"/>
                  </a:lnTo>
                  <a:close/>
                  <a:moveTo>
                    <a:pt x="85725" y="128588"/>
                  </a:moveTo>
                  <a:lnTo>
                    <a:pt x="28575" y="128588"/>
                  </a:lnTo>
                  <a:lnTo>
                    <a:pt x="28575" y="133350"/>
                  </a:lnTo>
                  <a:cubicBezTo>
                    <a:pt x="28575" y="146506"/>
                    <a:pt x="39231" y="157163"/>
                    <a:pt x="52388" y="157163"/>
                  </a:cubicBezTo>
                  <a:lnTo>
                    <a:pt x="61912" y="157163"/>
                  </a:lnTo>
                  <a:cubicBezTo>
                    <a:pt x="75069" y="157163"/>
                    <a:pt x="85725" y="146506"/>
                    <a:pt x="85725" y="133350"/>
                  </a:cubicBezTo>
                  <a:lnTo>
                    <a:pt x="85725" y="128588"/>
                  </a:lnTo>
                  <a:close/>
                  <a:moveTo>
                    <a:pt x="54769" y="33338"/>
                  </a:moveTo>
                  <a:cubicBezTo>
                    <a:pt x="42922" y="33338"/>
                    <a:pt x="33338" y="42922"/>
                    <a:pt x="33338" y="54769"/>
                  </a:cubicBezTo>
                  <a:cubicBezTo>
                    <a:pt x="33338" y="58728"/>
                    <a:pt x="30153" y="61912"/>
                    <a:pt x="26194" y="61912"/>
                  </a:cubicBezTo>
                  <a:cubicBezTo>
                    <a:pt x="22235" y="61912"/>
                    <a:pt x="19050" y="58728"/>
                    <a:pt x="19050" y="54769"/>
                  </a:cubicBezTo>
                  <a:cubicBezTo>
                    <a:pt x="19050" y="35034"/>
                    <a:pt x="35034" y="19050"/>
                    <a:pt x="54769" y="19050"/>
                  </a:cubicBezTo>
                  <a:cubicBezTo>
                    <a:pt x="58728" y="19050"/>
                    <a:pt x="61912" y="22235"/>
                    <a:pt x="61912" y="26194"/>
                  </a:cubicBezTo>
                  <a:cubicBezTo>
                    <a:pt x="61912" y="30153"/>
                    <a:pt x="58728" y="33338"/>
                    <a:pt x="54769" y="33338"/>
                  </a:cubicBezTo>
                  <a:close/>
                </a:path>
              </a:pathLst>
            </a:custGeom>
            <a:solidFill>
              <a:srgbClr val="0071E3"/>
            </a:solidFill>
            <a:ln/>
          </p:spPr>
        </p:sp>
        <p:sp>
          <p:nvSpPr>
            <p:cNvPr id="31" name="Text 10"/>
            <p:cNvSpPr/>
            <p:nvPr/>
          </p:nvSpPr>
          <p:spPr>
            <a:xfrm>
              <a:off x="1028700" y="3238500"/>
              <a:ext cx="268605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D1D1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Implication:</a:t>
              </a:r>
              <a:r>
                <a:rPr lang="en-US" sz="1200" dirty="0">
                  <a:solidFill>
                    <a:srgbClr val="1D1D1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 Most users express neutral or favorable opinions rather than negative ones, requiring special handling for minority classes.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96179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26D449E-082E-4690-E09D-D51F6565A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78" y="648625"/>
            <a:ext cx="5618446" cy="2989632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4F76717E-D7B0-1829-45CB-AC531F957179}"/>
              </a:ext>
            </a:extLst>
          </p:cNvPr>
          <p:cNvSpPr/>
          <p:nvPr/>
        </p:nvSpPr>
        <p:spPr>
          <a:xfrm>
            <a:off x="381478" y="357143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00" b="1" dirty="0"/>
              <a:t>Word Clouds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608365-C9E2-1D84-3E1A-D194BC21C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78" y="3638257"/>
            <a:ext cx="5618446" cy="2989632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CCEFC2BC-60C6-E706-5117-5AD6925793D5}"/>
              </a:ext>
            </a:extLst>
          </p:cNvPr>
          <p:cNvGrpSpPr/>
          <p:nvPr/>
        </p:nvGrpSpPr>
        <p:grpSpPr>
          <a:xfrm>
            <a:off x="6417286" y="806007"/>
            <a:ext cx="4678606" cy="4355077"/>
            <a:chOff x="385763" y="1262063"/>
            <a:chExt cx="3648075" cy="3286125"/>
          </a:xfrm>
        </p:grpSpPr>
        <p:sp>
          <p:nvSpPr>
            <p:cNvPr id="17" name="Shape 2"/>
            <p:cNvSpPr/>
            <p:nvPr/>
          </p:nvSpPr>
          <p:spPr>
            <a:xfrm>
              <a:off x="385763" y="1262063"/>
              <a:ext cx="3648075" cy="3286125"/>
            </a:xfrm>
            <a:custGeom>
              <a:avLst/>
              <a:gdLst/>
              <a:ahLst/>
              <a:cxnLst/>
              <a:rect l="l" t="t" r="r" b="b"/>
              <a:pathLst>
                <a:path w="3648075" h="3286125">
                  <a:moveTo>
                    <a:pt x="152410" y="0"/>
                  </a:moveTo>
                  <a:lnTo>
                    <a:pt x="3495665" y="0"/>
                  </a:lnTo>
                  <a:cubicBezTo>
                    <a:pt x="3579839" y="0"/>
                    <a:pt x="3648075" y="68236"/>
                    <a:pt x="3648075" y="152410"/>
                  </a:cubicBezTo>
                  <a:lnTo>
                    <a:pt x="3648075" y="3133715"/>
                  </a:lnTo>
                  <a:cubicBezTo>
                    <a:pt x="3648075" y="3217889"/>
                    <a:pt x="3579839" y="3286125"/>
                    <a:pt x="3495665" y="3286125"/>
                  </a:cubicBezTo>
                  <a:lnTo>
                    <a:pt x="152410" y="3286125"/>
                  </a:lnTo>
                  <a:cubicBezTo>
                    <a:pt x="68236" y="3286125"/>
                    <a:pt x="0" y="3217889"/>
                    <a:pt x="0" y="3133715"/>
                  </a:cubicBezTo>
                  <a:lnTo>
                    <a:pt x="0" y="152410"/>
                  </a:lnTo>
                  <a:cubicBezTo>
                    <a:pt x="0" y="68293"/>
                    <a:pt x="68293" y="0"/>
                    <a:pt x="152410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19" name="Shape 4"/>
            <p:cNvSpPr/>
            <p:nvPr/>
          </p:nvSpPr>
          <p:spPr>
            <a:xfrm>
              <a:off x="757238" y="1647825"/>
              <a:ext cx="257175" cy="228600"/>
            </a:xfrm>
            <a:custGeom>
              <a:avLst/>
              <a:gdLst/>
              <a:ahLst/>
              <a:cxnLst/>
              <a:rect l="l" t="t" r="r" b="b"/>
              <a:pathLst>
                <a:path w="257175" h="228600">
                  <a:moveTo>
                    <a:pt x="228779" y="107156"/>
                  </a:moveTo>
                  <a:lnTo>
                    <a:pt x="150197" y="107156"/>
                  </a:lnTo>
                  <a:cubicBezTo>
                    <a:pt x="142295" y="107156"/>
                    <a:pt x="135910" y="100772"/>
                    <a:pt x="135910" y="92869"/>
                  </a:cubicBezTo>
                  <a:lnTo>
                    <a:pt x="135910" y="14288"/>
                  </a:lnTo>
                  <a:cubicBezTo>
                    <a:pt x="135910" y="6385"/>
                    <a:pt x="142339" y="-89"/>
                    <a:pt x="150153" y="938"/>
                  </a:cubicBezTo>
                  <a:cubicBezTo>
                    <a:pt x="197927" y="7278"/>
                    <a:pt x="235788" y="45140"/>
                    <a:pt x="242128" y="92913"/>
                  </a:cubicBezTo>
                  <a:cubicBezTo>
                    <a:pt x="243155" y="100727"/>
                    <a:pt x="236681" y="107156"/>
                    <a:pt x="228779" y="107156"/>
                  </a:cubicBezTo>
                  <a:close/>
                  <a:moveTo>
                    <a:pt x="99387" y="16609"/>
                  </a:moveTo>
                  <a:cubicBezTo>
                    <a:pt x="107469" y="14913"/>
                    <a:pt x="114479" y="21521"/>
                    <a:pt x="114479" y="29781"/>
                  </a:cubicBezTo>
                  <a:lnTo>
                    <a:pt x="114479" y="117872"/>
                  </a:lnTo>
                  <a:cubicBezTo>
                    <a:pt x="114479" y="120372"/>
                    <a:pt x="115372" y="122783"/>
                    <a:pt x="116934" y="124703"/>
                  </a:cubicBezTo>
                  <a:lnTo>
                    <a:pt x="175915" y="195873"/>
                  </a:lnTo>
                  <a:cubicBezTo>
                    <a:pt x="181139" y="202168"/>
                    <a:pt x="180023" y="211678"/>
                    <a:pt x="172834" y="215563"/>
                  </a:cubicBezTo>
                  <a:cubicBezTo>
                    <a:pt x="157609" y="223867"/>
                    <a:pt x="140151" y="228600"/>
                    <a:pt x="121622" y="228600"/>
                  </a:cubicBezTo>
                  <a:cubicBezTo>
                    <a:pt x="62463" y="228600"/>
                    <a:pt x="14466" y="180603"/>
                    <a:pt x="14466" y="121444"/>
                  </a:cubicBezTo>
                  <a:cubicBezTo>
                    <a:pt x="14466" y="69875"/>
                    <a:pt x="50855" y="26834"/>
                    <a:pt x="99387" y="16609"/>
                  </a:cubicBezTo>
                  <a:close/>
                  <a:moveTo>
                    <a:pt x="213330" y="128588"/>
                  </a:moveTo>
                  <a:lnTo>
                    <a:pt x="241905" y="128588"/>
                  </a:lnTo>
                  <a:cubicBezTo>
                    <a:pt x="250165" y="128588"/>
                    <a:pt x="256773" y="135597"/>
                    <a:pt x="255077" y="143679"/>
                  </a:cubicBezTo>
                  <a:cubicBezTo>
                    <a:pt x="250522" y="165289"/>
                    <a:pt x="239450" y="184487"/>
                    <a:pt x="224001" y="199132"/>
                  </a:cubicBezTo>
                  <a:cubicBezTo>
                    <a:pt x="218509" y="204356"/>
                    <a:pt x="209892" y="203240"/>
                    <a:pt x="205070" y="197391"/>
                  </a:cubicBezTo>
                  <a:lnTo>
                    <a:pt x="167387" y="151983"/>
                  </a:lnTo>
                  <a:cubicBezTo>
                    <a:pt x="159663" y="142652"/>
                    <a:pt x="166315" y="128588"/>
                    <a:pt x="178371" y="128588"/>
                  </a:cubicBezTo>
                  <a:lnTo>
                    <a:pt x="213286" y="128588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20" name="Text 5"/>
            <p:cNvSpPr/>
            <p:nvPr/>
          </p:nvSpPr>
          <p:spPr>
            <a:xfrm>
              <a:off x="1304925" y="1533525"/>
              <a:ext cx="15716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endParaRPr lang="en-US" sz="1600" dirty="0"/>
            </a:p>
          </p:txBody>
        </p:sp>
        <p:sp>
          <p:nvSpPr>
            <p:cNvPr id="21" name="Text 6"/>
            <p:cNvSpPr/>
            <p:nvPr/>
          </p:nvSpPr>
          <p:spPr>
            <a:xfrm>
              <a:off x="1304925" y="1800225"/>
              <a:ext cx="15430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600" dirty="0" smtClean="0"/>
                <a:t>Word Cloud</a:t>
              </a:r>
              <a:endParaRPr lang="en-US" sz="1600" dirty="0"/>
            </a:p>
          </p:txBody>
        </p:sp>
        <p:sp>
          <p:nvSpPr>
            <p:cNvPr id="22" name="Text 7"/>
            <p:cNvSpPr/>
            <p:nvPr/>
          </p:nvSpPr>
          <p:spPr>
            <a:xfrm>
              <a:off x="385763" y="2181224"/>
              <a:ext cx="3648075" cy="20906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GB" sz="1600" dirty="0" smtClean="0"/>
                <a:t>These </a:t>
              </a:r>
              <a:r>
                <a:rPr lang="en-GB" sz="1600" dirty="0"/>
                <a:t>word clouds show the most frequent terms in negative, positive, and </a:t>
              </a:r>
              <a:r>
                <a:rPr lang="en-GB" sz="1600" dirty="0" smtClean="0"/>
                <a:t> </a:t>
              </a:r>
              <a:r>
                <a:rPr lang="en-GB" sz="1600" dirty="0"/>
                <a:t>neutral tweets. Larger words appear more often, giving us insight into </a:t>
              </a:r>
              <a:r>
                <a:rPr lang="en-GB" sz="1600" dirty="0" smtClean="0"/>
                <a:t>the language </a:t>
              </a:r>
              <a:r>
                <a:rPr lang="en-GB" sz="1600" dirty="0"/>
                <a:t>patterns associated with each sentiment</a:t>
              </a:r>
            </a:p>
          </p:txBody>
        </p:sp>
        <p:sp>
          <p:nvSpPr>
            <p:cNvPr id="24" name="Shape 9"/>
            <p:cNvSpPr/>
            <p:nvPr/>
          </p:nvSpPr>
          <p:spPr>
            <a:xfrm>
              <a:off x="725789" y="1709738"/>
              <a:ext cx="453784" cy="403425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87184" y="114300"/>
                  </a:moveTo>
                  <a:cubicBezTo>
                    <a:pt x="89356" y="107662"/>
                    <a:pt x="93702" y="101650"/>
                    <a:pt x="98614" y="96470"/>
                  </a:cubicBezTo>
                  <a:cubicBezTo>
                    <a:pt x="108347" y="86231"/>
                    <a:pt x="114300" y="72390"/>
                    <a:pt x="114300" y="57150"/>
                  </a:cubicBezTo>
                  <a:cubicBezTo>
                    <a:pt x="114300" y="25598"/>
                    <a:pt x="88702" y="0"/>
                    <a:pt x="57150" y="0"/>
                  </a:cubicBezTo>
                  <a:cubicBezTo>
                    <a:pt x="25598" y="0"/>
                    <a:pt x="0" y="25598"/>
                    <a:pt x="0" y="57150"/>
                  </a:cubicBezTo>
                  <a:cubicBezTo>
                    <a:pt x="0" y="72390"/>
                    <a:pt x="5953" y="86231"/>
                    <a:pt x="15686" y="96470"/>
                  </a:cubicBezTo>
                  <a:cubicBezTo>
                    <a:pt x="20598" y="101650"/>
                    <a:pt x="24973" y="107662"/>
                    <a:pt x="27116" y="114300"/>
                  </a:cubicBezTo>
                  <a:lnTo>
                    <a:pt x="87154" y="114300"/>
                  </a:lnTo>
                  <a:close/>
                  <a:moveTo>
                    <a:pt x="85725" y="128588"/>
                  </a:moveTo>
                  <a:lnTo>
                    <a:pt x="28575" y="128588"/>
                  </a:lnTo>
                  <a:lnTo>
                    <a:pt x="28575" y="133350"/>
                  </a:lnTo>
                  <a:cubicBezTo>
                    <a:pt x="28575" y="146506"/>
                    <a:pt x="39231" y="157163"/>
                    <a:pt x="52388" y="157163"/>
                  </a:cubicBezTo>
                  <a:lnTo>
                    <a:pt x="61912" y="157163"/>
                  </a:lnTo>
                  <a:cubicBezTo>
                    <a:pt x="75069" y="157163"/>
                    <a:pt x="85725" y="146506"/>
                    <a:pt x="85725" y="133350"/>
                  </a:cubicBezTo>
                  <a:lnTo>
                    <a:pt x="85725" y="128588"/>
                  </a:lnTo>
                  <a:close/>
                  <a:moveTo>
                    <a:pt x="54769" y="33338"/>
                  </a:moveTo>
                  <a:cubicBezTo>
                    <a:pt x="42922" y="33338"/>
                    <a:pt x="33338" y="42922"/>
                    <a:pt x="33338" y="54769"/>
                  </a:cubicBezTo>
                  <a:cubicBezTo>
                    <a:pt x="33338" y="58728"/>
                    <a:pt x="30153" y="61912"/>
                    <a:pt x="26194" y="61912"/>
                  </a:cubicBezTo>
                  <a:cubicBezTo>
                    <a:pt x="22235" y="61912"/>
                    <a:pt x="19050" y="58728"/>
                    <a:pt x="19050" y="54769"/>
                  </a:cubicBezTo>
                  <a:cubicBezTo>
                    <a:pt x="19050" y="35034"/>
                    <a:pt x="35034" y="19050"/>
                    <a:pt x="54769" y="19050"/>
                  </a:cubicBezTo>
                  <a:cubicBezTo>
                    <a:pt x="58728" y="19050"/>
                    <a:pt x="61912" y="22235"/>
                    <a:pt x="61912" y="26194"/>
                  </a:cubicBezTo>
                  <a:cubicBezTo>
                    <a:pt x="61912" y="30153"/>
                    <a:pt x="58728" y="33338"/>
                    <a:pt x="54769" y="33338"/>
                  </a:cubicBezTo>
                  <a:close/>
                </a:path>
              </a:pathLst>
            </a:custGeom>
            <a:solidFill>
              <a:srgbClr val="0071E3"/>
            </a:solidFill>
            <a:ln/>
          </p:spPr>
        </p:sp>
        <p:sp>
          <p:nvSpPr>
            <p:cNvPr id="25" name="Text 10"/>
            <p:cNvSpPr/>
            <p:nvPr/>
          </p:nvSpPr>
          <p:spPr>
            <a:xfrm>
              <a:off x="1028700" y="3238500"/>
              <a:ext cx="268605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16358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63416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Project Objectives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Building a Comprehensive NLP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404938"/>
            <a:ext cx="11420475" cy="1571625"/>
          </a:xfrm>
          <a:custGeom>
            <a:avLst/>
            <a:gdLst/>
            <a:ahLst/>
            <a:cxnLst/>
            <a:rect l="l" t="t" r="r" b="b"/>
            <a:pathLst>
              <a:path w="11420475" h="1571625">
                <a:moveTo>
                  <a:pt x="152400" y="0"/>
                </a:moveTo>
                <a:lnTo>
                  <a:pt x="11268075" y="0"/>
                </a:lnTo>
                <a:cubicBezTo>
                  <a:pt x="11352243" y="0"/>
                  <a:pt x="11420475" y="68232"/>
                  <a:pt x="11420475" y="152400"/>
                </a:cubicBezTo>
                <a:lnTo>
                  <a:pt x="11420475" y="1419225"/>
                </a:lnTo>
                <a:cubicBezTo>
                  <a:pt x="11420475" y="1503393"/>
                  <a:pt x="11352243" y="1571625"/>
                  <a:pt x="11268075" y="1571625"/>
                </a:cubicBezTo>
                <a:lnTo>
                  <a:pt x="152400" y="1571625"/>
                </a:lnTo>
                <a:cubicBezTo>
                  <a:pt x="68232" y="1571625"/>
                  <a:pt x="0" y="1503393"/>
                  <a:pt x="0" y="1419225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9125" y="1638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Shape 4"/>
          <p:cNvSpPr/>
          <p:nvPr/>
        </p:nvSpPr>
        <p:spPr>
          <a:xfrm>
            <a:off x="752475" y="17716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228725" y="1714500"/>
            <a:ext cx="161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Objective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9125" y="2247900"/>
            <a:ext cx="11029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 an </a:t>
            </a: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Natural Language Processing pipeline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automated multi-class text classification that accurately categorizes text data into positive, negative, none, and unknown emotion classes, and evaluates the performance of different machine learning models on an imbalanced dataset.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" y="31718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95300" y="3286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9826" y="10805"/>
                </a:moveTo>
                <a:cubicBezTo>
                  <a:pt x="43071" y="13067"/>
                  <a:pt x="43845" y="17532"/>
                  <a:pt x="41583" y="20747"/>
                </a:cubicBezTo>
                <a:lnTo>
                  <a:pt x="24914" y="44559"/>
                </a:lnTo>
                <a:cubicBezTo>
                  <a:pt x="23693" y="46286"/>
                  <a:pt x="21788" y="47387"/>
                  <a:pt x="19675" y="47565"/>
                </a:cubicBezTo>
                <a:cubicBezTo>
                  <a:pt x="17562" y="47744"/>
                  <a:pt x="15478" y="47030"/>
                  <a:pt x="13990" y="45541"/>
                </a:cubicBezTo>
                <a:lnTo>
                  <a:pt x="2084" y="33635"/>
                </a:lnTo>
                <a:cubicBezTo>
                  <a:pt x="-685" y="30837"/>
                  <a:pt x="-685" y="26313"/>
                  <a:pt x="2084" y="23515"/>
                </a:cubicBezTo>
                <a:cubicBezTo>
                  <a:pt x="4852" y="20717"/>
                  <a:pt x="9406" y="20747"/>
                  <a:pt x="12204" y="23515"/>
                </a:cubicBezTo>
                <a:lnTo>
                  <a:pt x="18098" y="29408"/>
                </a:lnTo>
                <a:lnTo>
                  <a:pt x="29885" y="12561"/>
                </a:lnTo>
                <a:cubicBezTo>
                  <a:pt x="32147" y="9317"/>
                  <a:pt x="36612" y="8543"/>
                  <a:pt x="39826" y="10805"/>
                </a:cubicBezTo>
                <a:close/>
                <a:moveTo>
                  <a:pt x="39826" y="58430"/>
                </a:moveTo>
                <a:cubicBezTo>
                  <a:pt x="43071" y="60692"/>
                  <a:pt x="43845" y="65157"/>
                  <a:pt x="41583" y="68372"/>
                </a:cubicBezTo>
                <a:lnTo>
                  <a:pt x="24914" y="92184"/>
                </a:lnTo>
                <a:cubicBezTo>
                  <a:pt x="23693" y="93911"/>
                  <a:pt x="21788" y="95012"/>
                  <a:pt x="19675" y="95190"/>
                </a:cubicBezTo>
                <a:cubicBezTo>
                  <a:pt x="17562" y="95369"/>
                  <a:pt x="15478" y="94655"/>
                  <a:pt x="13990" y="93166"/>
                </a:cubicBezTo>
                <a:lnTo>
                  <a:pt x="2084" y="81260"/>
                </a:lnTo>
                <a:cubicBezTo>
                  <a:pt x="-714" y="78462"/>
                  <a:pt x="-714" y="73938"/>
                  <a:pt x="2084" y="71170"/>
                </a:cubicBezTo>
                <a:cubicBezTo>
                  <a:pt x="4882" y="68401"/>
                  <a:pt x="9406" y="68372"/>
                  <a:pt x="12174" y="71170"/>
                </a:cubicBezTo>
                <a:lnTo>
                  <a:pt x="18068" y="77063"/>
                </a:lnTo>
                <a:lnTo>
                  <a:pt x="29855" y="60216"/>
                </a:lnTo>
                <a:cubicBezTo>
                  <a:pt x="32117" y="56971"/>
                  <a:pt x="36582" y="56197"/>
                  <a:pt x="39797" y="58460"/>
                </a:cubicBezTo>
                <a:close/>
                <a:moveTo>
                  <a:pt x="66675" y="28575"/>
                </a:moveTo>
                <a:cubicBezTo>
                  <a:pt x="66675" y="23306"/>
                  <a:pt x="70931" y="19050"/>
                  <a:pt x="76200" y="19050"/>
                </a:cubicBezTo>
                <a:lnTo>
                  <a:pt x="142875" y="19050"/>
                </a:lnTo>
                <a:cubicBezTo>
                  <a:pt x="148144" y="19050"/>
                  <a:pt x="152400" y="23306"/>
                  <a:pt x="152400" y="28575"/>
                </a:cubicBezTo>
                <a:cubicBezTo>
                  <a:pt x="152400" y="33844"/>
                  <a:pt x="148144" y="38100"/>
                  <a:pt x="142875" y="38100"/>
                </a:cubicBezTo>
                <a:lnTo>
                  <a:pt x="76200" y="38100"/>
                </a:lnTo>
                <a:cubicBezTo>
                  <a:pt x="70931" y="38100"/>
                  <a:pt x="66675" y="33844"/>
                  <a:pt x="66675" y="28575"/>
                </a:cubicBezTo>
                <a:close/>
                <a:moveTo>
                  <a:pt x="66675" y="76200"/>
                </a:moveTo>
                <a:cubicBezTo>
                  <a:pt x="66675" y="70931"/>
                  <a:pt x="70931" y="66675"/>
                  <a:pt x="76200" y="66675"/>
                </a:cubicBezTo>
                <a:lnTo>
                  <a:pt x="142875" y="66675"/>
                </a:lnTo>
                <a:cubicBezTo>
                  <a:pt x="148144" y="66675"/>
                  <a:pt x="152400" y="70931"/>
                  <a:pt x="152400" y="76200"/>
                </a:cubicBezTo>
                <a:cubicBezTo>
                  <a:pt x="152400" y="81469"/>
                  <a:pt x="148144" y="85725"/>
                  <a:pt x="142875" y="85725"/>
                </a:cubicBezTo>
                <a:lnTo>
                  <a:pt x="76200" y="85725"/>
                </a:lnTo>
                <a:cubicBezTo>
                  <a:pt x="70931" y="85725"/>
                  <a:pt x="66675" y="81469"/>
                  <a:pt x="66675" y="76200"/>
                </a:cubicBezTo>
                <a:close/>
                <a:moveTo>
                  <a:pt x="47625" y="123825"/>
                </a:moveTo>
                <a:cubicBezTo>
                  <a:pt x="47625" y="118556"/>
                  <a:pt x="51881" y="114300"/>
                  <a:pt x="57150" y="114300"/>
                </a:cubicBezTo>
                <a:lnTo>
                  <a:pt x="142875" y="114300"/>
                </a:lnTo>
                <a:cubicBezTo>
                  <a:pt x="148144" y="114300"/>
                  <a:pt x="152400" y="118556"/>
                  <a:pt x="152400" y="123825"/>
                </a:cubicBezTo>
                <a:cubicBezTo>
                  <a:pt x="152400" y="129094"/>
                  <a:pt x="148144" y="133350"/>
                  <a:pt x="142875" y="133350"/>
                </a:cubicBezTo>
                <a:lnTo>
                  <a:pt x="57150" y="133350"/>
                </a:lnTo>
                <a:cubicBezTo>
                  <a:pt x="51881" y="133350"/>
                  <a:pt x="47625" y="129094"/>
                  <a:pt x="47625" y="123825"/>
                </a:cubicBezTo>
                <a:close/>
                <a:moveTo>
                  <a:pt x="19050" y="111919"/>
                </a:moveTo>
                <a:cubicBezTo>
                  <a:pt x="25621" y="111919"/>
                  <a:pt x="30956" y="117254"/>
                  <a:pt x="30956" y="123825"/>
                </a:cubicBezTo>
                <a:cubicBezTo>
                  <a:pt x="30956" y="130396"/>
                  <a:pt x="25621" y="135731"/>
                  <a:pt x="19050" y="135731"/>
                </a:cubicBezTo>
                <a:cubicBezTo>
                  <a:pt x="12479" y="135731"/>
                  <a:pt x="7144" y="130396"/>
                  <a:pt x="7144" y="123825"/>
                </a:cubicBezTo>
                <a:cubicBezTo>
                  <a:pt x="7144" y="117254"/>
                  <a:pt x="12479" y="111919"/>
                  <a:pt x="19050" y="111919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3228975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Specific Objectives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1000" y="37433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3" name="Text 11"/>
          <p:cNvSpPr/>
          <p:nvPr/>
        </p:nvSpPr>
        <p:spPr>
          <a:xfrm>
            <a:off x="514350" y="3667125"/>
            <a:ext cx="3600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Explore dataset structure and emotion label distribution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00" y="42767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5" name="Text 13"/>
          <p:cNvSpPr/>
          <p:nvPr/>
        </p:nvSpPr>
        <p:spPr>
          <a:xfrm>
            <a:off x="514350" y="4200525"/>
            <a:ext cx="335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 and preprocess raw text by removing noise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" y="45815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7" name="Text 15"/>
          <p:cNvSpPr/>
          <p:nvPr/>
        </p:nvSpPr>
        <p:spPr>
          <a:xfrm>
            <a:off x="514350" y="4505325"/>
            <a:ext cx="2867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 text using TF-IDF vectorization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000" y="48863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9" name="Text 17"/>
          <p:cNvSpPr/>
          <p:nvPr/>
        </p:nvSpPr>
        <p:spPr>
          <a:xfrm>
            <a:off x="514350" y="4810125"/>
            <a:ext cx="3600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ML pipelines integrating vectorization and classification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1000" y="54197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1" name="Text 19"/>
          <p:cNvSpPr/>
          <p:nvPr/>
        </p:nvSpPr>
        <p:spPr>
          <a:xfrm>
            <a:off x="514350" y="5343525"/>
            <a:ext cx="3600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 and evaluate Logistic Regression, Naïve Bayes, and Linear SVM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000" y="59531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3" name="Text 21"/>
          <p:cNvSpPr/>
          <p:nvPr/>
        </p:nvSpPr>
        <p:spPr>
          <a:xfrm>
            <a:off x="514350" y="5876925"/>
            <a:ext cx="3600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Assess performance using accuracy, precision, recall, and F1-score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67200" y="31718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381500" y="3286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2388" y="0"/>
                </a:moveTo>
                <a:cubicBezTo>
                  <a:pt x="44500" y="0"/>
                  <a:pt x="38100" y="6400"/>
                  <a:pt x="38100" y="14288"/>
                </a:cubicBezTo>
                <a:lnTo>
                  <a:pt x="38100" y="76200"/>
                </a:lnTo>
                <a:cubicBezTo>
                  <a:pt x="38100" y="84088"/>
                  <a:pt x="44500" y="90488"/>
                  <a:pt x="52388" y="90488"/>
                </a:cubicBezTo>
                <a:lnTo>
                  <a:pt x="71438" y="90488"/>
                </a:lnTo>
                <a:cubicBezTo>
                  <a:pt x="79325" y="90488"/>
                  <a:pt x="85725" y="84088"/>
                  <a:pt x="85725" y="76200"/>
                </a:cubicBezTo>
                <a:lnTo>
                  <a:pt x="85725" y="57150"/>
                </a:lnTo>
                <a:lnTo>
                  <a:pt x="95250" y="57150"/>
                </a:lnTo>
                <a:cubicBezTo>
                  <a:pt x="116294" y="57150"/>
                  <a:pt x="133350" y="74206"/>
                  <a:pt x="133350" y="95250"/>
                </a:cubicBezTo>
                <a:cubicBezTo>
                  <a:pt x="133350" y="116294"/>
                  <a:pt x="116294" y="133350"/>
                  <a:pt x="95250" y="133350"/>
                </a:cubicBezTo>
                <a:lnTo>
                  <a:pt x="9525" y="133350"/>
                </a:lnTo>
                <a:cubicBezTo>
                  <a:pt x="4256" y="133350"/>
                  <a:pt x="0" y="137606"/>
                  <a:pt x="0" y="142875"/>
                </a:cubicBezTo>
                <a:cubicBezTo>
                  <a:pt x="0" y="148144"/>
                  <a:pt x="4256" y="152400"/>
                  <a:pt x="9525" y="152400"/>
                </a:cubicBezTo>
                <a:lnTo>
                  <a:pt x="142875" y="152400"/>
                </a:lnTo>
                <a:cubicBezTo>
                  <a:pt x="148144" y="152400"/>
                  <a:pt x="152400" y="148144"/>
                  <a:pt x="152400" y="142875"/>
                </a:cubicBezTo>
                <a:cubicBezTo>
                  <a:pt x="152400" y="137606"/>
                  <a:pt x="148144" y="133350"/>
                  <a:pt x="142875" y="133350"/>
                </a:cubicBezTo>
                <a:lnTo>
                  <a:pt x="137845" y="133350"/>
                </a:lnTo>
                <a:cubicBezTo>
                  <a:pt x="146893" y="123230"/>
                  <a:pt x="152400" y="109895"/>
                  <a:pt x="152400" y="95250"/>
                </a:cubicBezTo>
                <a:cubicBezTo>
                  <a:pt x="152400" y="63698"/>
                  <a:pt x="126802" y="38100"/>
                  <a:pt x="95250" y="38100"/>
                </a:cubicBezTo>
                <a:lnTo>
                  <a:pt x="85725" y="38100"/>
                </a:lnTo>
                <a:lnTo>
                  <a:pt x="85725" y="14288"/>
                </a:lnTo>
                <a:cubicBezTo>
                  <a:pt x="85725" y="6400"/>
                  <a:pt x="79325" y="0"/>
                  <a:pt x="71438" y="0"/>
                </a:cubicBezTo>
                <a:lnTo>
                  <a:pt x="52388" y="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8"/>
                  <a:pt x="31760" y="119062"/>
                  <a:pt x="35719" y="119062"/>
                </a:cubicBezTo>
                <a:lnTo>
                  <a:pt x="88106" y="119062"/>
                </a:lnTo>
                <a:cubicBezTo>
                  <a:pt x="92065" y="119062"/>
                  <a:pt x="95250" y="115878"/>
                  <a:pt x="95250" y="111919"/>
                </a:cubicBezTo>
                <a:cubicBezTo>
                  <a:pt x="95250" y="107960"/>
                  <a:pt x="92065" y="104775"/>
                  <a:pt x="88106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6" name="Text 24"/>
          <p:cNvSpPr/>
          <p:nvPr/>
        </p:nvSpPr>
        <p:spPr>
          <a:xfrm>
            <a:off x="4762500" y="3228975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Objectives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267200" y="37433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8" name="Text 26"/>
          <p:cNvSpPr/>
          <p:nvPr/>
        </p:nvSpPr>
        <p:spPr>
          <a:xfrm>
            <a:off x="4400550" y="3667125"/>
            <a:ext cx="3600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Investigate how different linear classifiers perform on imbalanced multi-class problems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67200" y="42767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0" name="Text 28"/>
          <p:cNvSpPr/>
          <p:nvPr/>
        </p:nvSpPr>
        <p:spPr>
          <a:xfrm>
            <a:off x="4400550" y="4200525"/>
            <a:ext cx="3600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Examine TF-IDF feature engineering effects, including n-grams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267200" y="48101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2" name="Text 30"/>
          <p:cNvSpPr/>
          <p:nvPr/>
        </p:nvSpPr>
        <p:spPr>
          <a:xfrm>
            <a:off x="4400550" y="4733925"/>
            <a:ext cx="3600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Determine which model provides the most balanced and reliable performance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53400" y="31718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286750" y="328612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74384" y="19883"/>
                </a:moveTo>
                <a:cubicBezTo>
                  <a:pt x="77480" y="15627"/>
                  <a:pt x="76527" y="9674"/>
                  <a:pt x="72271" y="6578"/>
                </a:cubicBezTo>
                <a:cubicBezTo>
                  <a:pt x="68014" y="3483"/>
                  <a:pt x="62061" y="4435"/>
                  <a:pt x="58966" y="8692"/>
                </a:cubicBezTo>
                <a:lnTo>
                  <a:pt x="27414" y="52060"/>
                </a:lnTo>
                <a:lnTo>
                  <a:pt x="16252" y="40898"/>
                </a:lnTo>
                <a:cubicBezTo>
                  <a:pt x="12531" y="37177"/>
                  <a:pt x="6489" y="37177"/>
                  <a:pt x="2768" y="40898"/>
                </a:cubicBezTo>
                <a:cubicBezTo>
                  <a:pt x="-952" y="44619"/>
                  <a:pt x="-952" y="50661"/>
                  <a:pt x="2768" y="54382"/>
                </a:cubicBezTo>
                <a:lnTo>
                  <a:pt x="21818" y="73432"/>
                </a:lnTo>
                <a:cubicBezTo>
                  <a:pt x="23783" y="75396"/>
                  <a:pt x="26521" y="76408"/>
                  <a:pt x="29289" y="76200"/>
                </a:cubicBezTo>
                <a:cubicBezTo>
                  <a:pt x="32058" y="75992"/>
                  <a:pt x="34617" y="74563"/>
                  <a:pt x="36255" y="72301"/>
                </a:cubicBezTo>
                <a:lnTo>
                  <a:pt x="74355" y="19913"/>
                </a:lnTo>
                <a:close/>
                <a:moveTo>
                  <a:pt x="112484" y="60365"/>
                </a:moveTo>
                <a:cubicBezTo>
                  <a:pt x="115580" y="56108"/>
                  <a:pt x="114627" y="50155"/>
                  <a:pt x="110371" y="47059"/>
                </a:cubicBezTo>
                <a:cubicBezTo>
                  <a:pt x="106114" y="43964"/>
                  <a:pt x="100161" y="44916"/>
                  <a:pt x="97066" y="49173"/>
                </a:cubicBezTo>
                <a:lnTo>
                  <a:pt x="46464" y="118735"/>
                </a:lnTo>
                <a:lnTo>
                  <a:pt x="25777" y="98048"/>
                </a:lnTo>
                <a:cubicBezTo>
                  <a:pt x="22056" y="94327"/>
                  <a:pt x="16014" y="94327"/>
                  <a:pt x="12293" y="98048"/>
                </a:cubicBezTo>
                <a:cubicBezTo>
                  <a:pt x="8572" y="101769"/>
                  <a:pt x="8572" y="107811"/>
                  <a:pt x="12293" y="111532"/>
                </a:cubicBezTo>
                <a:lnTo>
                  <a:pt x="40868" y="140107"/>
                </a:lnTo>
                <a:cubicBezTo>
                  <a:pt x="42833" y="142071"/>
                  <a:pt x="45571" y="143083"/>
                  <a:pt x="48339" y="142875"/>
                </a:cubicBezTo>
                <a:cubicBezTo>
                  <a:pt x="51108" y="142667"/>
                  <a:pt x="53667" y="141238"/>
                  <a:pt x="55305" y="138976"/>
                </a:cubicBezTo>
                <a:lnTo>
                  <a:pt x="112455" y="60394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5" name="Text 33"/>
          <p:cNvSpPr/>
          <p:nvPr/>
        </p:nvSpPr>
        <p:spPr>
          <a:xfrm>
            <a:off x="8648700" y="3228975"/>
            <a:ext cx="131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 Criteria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53400" y="37433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7" name="Text 35"/>
          <p:cNvSpPr/>
          <p:nvPr/>
        </p:nvSpPr>
        <p:spPr>
          <a:xfrm>
            <a:off x="8286750" y="3667125"/>
            <a:ext cx="3600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Models correctly perform multi-class emotion classification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153400" y="42767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9" name="Text 37"/>
          <p:cNvSpPr/>
          <p:nvPr/>
        </p:nvSpPr>
        <p:spPr>
          <a:xfrm>
            <a:off x="8286750" y="4200525"/>
            <a:ext cx="3600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 least one model demonstrates improved balanced performance across minority classes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53400" y="48101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1" name="Text 39"/>
          <p:cNvSpPr/>
          <p:nvPr/>
        </p:nvSpPr>
        <p:spPr>
          <a:xfrm>
            <a:off x="8286750" y="4733925"/>
            <a:ext cx="3600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Workflow avoids data leakage by separating training and testing data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Key Insights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Findings from the Analysis</a:t>
            </a:r>
            <a:endParaRPr lang="en-US" sz="1600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CEFC2BC-60C6-E706-5117-5AD6925793D5}"/>
              </a:ext>
            </a:extLst>
          </p:cNvPr>
          <p:cNvGrpSpPr/>
          <p:nvPr/>
        </p:nvGrpSpPr>
        <p:grpSpPr>
          <a:xfrm>
            <a:off x="385763" y="1200150"/>
            <a:ext cx="3682035" cy="3276600"/>
            <a:chOff x="385763" y="1262063"/>
            <a:chExt cx="3648075" cy="3286125"/>
          </a:xfrm>
        </p:grpSpPr>
        <p:sp>
          <p:nvSpPr>
            <p:cNvPr id="4" name="Shape 2"/>
            <p:cNvSpPr/>
            <p:nvPr/>
          </p:nvSpPr>
          <p:spPr>
            <a:xfrm>
              <a:off x="385763" y="1262063"/>
              <a:ext cx="3648075" cy="3286125"/>
            </a:xfrm>
            <a:custGeom>
              <a:avLst/>
              <a:gdLst/>
              <a:ahLst/>
              <a:cxnLst/>
              <a:rect l="l" t="t" r="r" b="b"/>
              <a:pathLst>
                <a:path w="3648075" h="3286125">
                  <a:moveTo>
                    <a:pt x="152410" y="0"/>
                  </a:moveTo>
                  <a:lnTo>
                    <a:pt x="3495665" y="0"/>
                  </a:lnTo>
                  <a:cubicBezTo>
                    <a:pt x="3579839" y="0"/>
                    <a:pt x="3648075" y="68236"/>
                    <a:pt x="3648075" y="152410"/>
                  </a:cubicBezTo>
                  <a:lnTo>
                    <a:pt x="3648075" y="3133715"/>
                  </a:lnTo>
                  <a:cubicBezTo>
                    <a:pt x="3648075" y="3217889"/>
                    <a:pt x="3579839" y="3286125"/>
                    <a:pt x="3495665" y="3286125"/>
                  </a:cubicBezTo>
                  <a:lnTo>
                    <a:pt x="152410" y="3286125"/>
                  </a:lnTo>
                  <a:cubicBezTo>
                    <a:pt x="68236" y="3286125"/>
                    <a:pt x="0" y="3217889"/>
                    <a:pt x="0" y="3133715"/>
                  </a:cubicBezTo>
                  <a:lnTo>
                    <a:pt x="0" y="152410"/>
                  </a:lnTo>
                  <a:cubicBezTo>
                    <a:pt x="0" y="68293"/>
                    <a:pt x="68293" y="0"/>
                    <a:pt x="152410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619125" y="1495425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0071E3"/>
            </a:solidFill>
            <a:ln/>
          </p:spPr>
        </p:sp>
        <p:sp>
          <p:nvSpPr>
            <p:cNvPr id="6" name="Shape 4"/>
            <p:cNvSpPr/>
            <p:nvPr/>
          </p:nvSpPr>
          <p:spPr>
            <a:xfrm>
              <a:off x="757238" y="1647825"/>
              <a:ext cx="257175" cy="228600"/>
            </a:xfrm>
            <a:custGeom>
              <a:avLst/>
              <a:gdLst/>
              <a:ahLst/>
              <a:cxnLst/>
              <a:rect l="l" t="t" r="r" b="b"/>
              <a:pathLst>
                <a:path w="257175" h="228600">
                  <a:moveTo>
                    <a:pt x="228779" y="107156"/>
                  </a:moveTo>
                  <a:lnTo>
                    <a:pt x="150197" y="107156"/>
                  </a:lnTo>
                  <a:cubicBezTo>
                    <a:pt x="142295" y="107156"/>
                    <a:pt x="135910" y="100772"/>
                    <a:pt x="135910" y="92869"/>
                  </a:cubicBezTo>
                  <a:lnTo>
                    <a:pt x="135910" y="14288"/>
                  </a:lnTo>
                  <a:cubicBezTo>
                    <a:pt x="135910" y="6385"/>
                    <a:pt x="142339" y="-89"/>
                    <a:pt x="150153" y="938"/>
                  </a:cubicBezTo>
                  <a:cubicBezTo>
                    <a:pt x="197927" y="7278"/>
                    <a:pt x="235788" y="45140"/>
                    <a:pt x="242128" y="92913"/>
                  </a:cubicBezTo>
                  <a:cubicBezTo>
                    <a:pt x="243155" y="100727"/>
                    <a:pt x="236681" y="107156"/>
                    <a:pt x="228779" y="107156"/>
                  </a:cubicBezTo>
                  <a:close/>
                  <a:moveTo>
                    <a:pt x="99387" y="16609"/>
                  </a:moveTo>
                  <a:cubicBezTo>
                    <a:pt x="107469" y="14913"/>
                    <a:pt x="114479" y="21521"/>
                    <a:pt x="114479" y="29781"/>
                  </a:cubicBezTo>
                  <a:lnTo>
                    <a:pt x="114479" y="117872"/>
                  </a:lnTo>
                  <a:cubicBezTo>
                    <a:pt x="114479" y="120372"/>
                    <a:pt x="115372" y="122783"/>
                    <a:pt x="116934" y="124703"/>
                  </a:cubicBezTo>
                  <a:lnTo>
                    <a:pt x="175915" y="195873"/>
                  </a:lnTo>
                  <a:cubicBezTo>
                    <a:pt x="181139" y="202168"/>
                    <a:pt x="180023" y="211678"/>
                    <a:pt x="172834" y="215563"/>
                  </a:cubicBezTo>
                  <a:cubicBezTo>
                    <a:pt x="157609" y="223867"/>
                    <a:pt x="140151" y="228600"/>
                    <a:pt x="121622" y="228600"/>
                  </a:cubicBezTo>
                  <a:cubicBezTo>
                    <a:pt x="62463" y="228600"/>
                    <a:pt x="14466" y="180603"/>
                    <a:pt x="14466" y="121444"/>
                  </a:cubicBezTo>
                  <a:cubicBezTo>
                    <a:pt x="14466" y="69875"/>
                    <a:pt x="50855" y="26834"/>
                    <a:pt x="99387" y="16609"/>
                  </a:cubicBezTo>
                  <a:close/>
                  <a:moveTo>
                    <a:pt x="213330" y="128588"/>
                  </a:moveTo>
                  <a:lnTo>
                    <a:pt x="241905" y="128588"/>
                  </a:lnTo>
                  <a:cubicBezTo>
                    <a:pt x="250165" y="128588"/>
                    <a:pt x="256773" y="135597"/>
                    <a:pt x="255077" y="143679"/>
                  </a:cubicBezTo>
                  <a:cubicBezTo>
                    <a:pt x="250522" y="165289"/>
                    <a:pt x="239450" y="184487"/>
                    <a:pt x="224001" y="199132"/>
                  </a:cubicBezTo>
                  <a:cubicBezTo>
                    <a:pt x="218509" y="204356"/>
                    <a:pt x="209892" y="203240"/>
                    <a:pt x="205070" y="197391"/>
                  </a:cubicBezTo>
                  <a:lnTo>
                    <a:pt x="167387" y="151983"/>
                  </a:lnTo>
                  <a:cubicBezTo>
                    <a:pt x="159663" y="142652"/>
                    <a:pt x="166315" y="128588"/>
                    <a:pt x="178371" y="128588"/>
                  </a:cubicBezTo>
                  <a:lnTo>
                    <a:pt x="213286" y="128588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7" name="Text 5"/>
            <p:cNvSpPr/>
            <p:nvPr/>
          </p:nvSpPr>
          <p:spPr>
            <a:xfrm>
              <a:off x="1304925" y="1533525"/>
              <a:ext cx="15716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1D1D1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Class Distribution</a:t>
              </a:r>
              <a:endParaRPr lang="en-US" sz="1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304925" y="1800225"/>
              <a:ext cx="15430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86868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Insight 01</a:t>
              </a:r>
              <a:endParaRPr lang="en-US" sz="16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619125" y="2181225"/>
              <a:ext cx="3257550" cy="7429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200" dirty="0">
                  <a:solidFill>
                    <a:srgbClr val="86868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The dataset is </a:t>
              </a:r>
              <a:r>
                <a:rPr lang="en-US" sz="1200" b="1" dirty="0">
                  <a:solidFill>
                    <a:srgbClr val="1D1D1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highly imbalanced</a:t>
              </a:r>
              <a:r>
                <a:rPr lang="en-US" sz="1200" dirty="0">
                  <a:solidFill>
                    <a:srgbClr val="86868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, with the majority of tweets falling under the neutral or positive sentiment categories.</a:t>
              </a:r>
              <a:endParaRPr lang="en-US" sz="16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623888" y="3081338"/>
              <a:ext cx="3171825" cy="1228725"/>
            </a:xfrm>
            <a:custGeom>
              <a:avLst/>
              <a:gdLst/>
              <a:ahLst/>
              <a:cxnLst/>
              <a:rect l="l" t="t" r="r" b="b"/>
              <a:pathLst>
                <a:path w="3171825" h="1228725">
                  <a:moveTo>
                    <a:pt x="114296" y="0"/>
                  </a:moveTo>
                  <a:lnTo>
                    <a:pt x="3057529" y="0"/>
                  </a:lnTo>
                  <a:cubicBezTo>
                    <a:pt x="3120653" y="0"/>
                    <a:pt x="3171825" y="51172"/>
                    <a:pt x="3171825" y="114296"/>
                  </a:cubicBezTo>
                  <a:lnTo>
                    <a:pt x="3171825" y="1114429"/>
                  </a:lnTo>
                  <a:cubicBezTo>
                    <a:pt x="3171825" y="1177553"/>
                    <a:pt x="3120653" y="1228725"/>
                    <a:pt x="3057529" y="1228725"/>
                  </a:cubicBezTo>
                  <a:lnTo>
                    <a:pt x="114296" y="1228725"/>
                  </a:lnTo>
                  <a:cubicBezTo>
                    <a:pt x="51172" y="1228725"/>
                    <a:pt x="0" y="1177553"/>
                    <a:pt x="0" y="1114429"/>
                  </a:cubicBezTo>
                  <a:lnTo>
                    <a:pt x="0" y="114296"/>
                  </a:lnTo>
                  <a:cubicBezTo>
                    <a:pt x="0" y="51172"/>
                    <a:pt x="51172" y="0"/>
                    <a:pt x="114296" y="0"/>
                  </a:cubicBezTo>
                  <a:close/>
                </a:path>
              </a:pathLst>
            </a:custGeom>
            <a:solidFill>
              <a:srgbClr val="0071E3">
                <a:alpha val="5098"/>
              </a:srgbClr>
            </a:solidFill>
            <a:ln w="12700">
              <a:solidFill>
                <a:srgbClr val="0071E3">
                  <a:alpha val="20000"/>
                </a:srgbClr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819150" y="327660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87184" y="114300"/>
                  </a:moveTo>
                  <a:cubicBezTo>
                    <a:pt x="89356" y="107662"/>
                    <a:pt x="93702" y="101650"/>
                    <a:pt x="98614" y="96470"/>
                  </a:cubicBezTo>
                  <a:cubicBezTo>
                    <a:pt x="108347" y="86231"/>
                    <a:pt x="114300" y="72390"/>
                    <a:pt x="114300" y="57150"/>
                  </a:cubicBezTo>
                  <a:cubicBezTo>
                    <a:pt x="114300" y="25598"/>
                    <a:pt x="88702" y="0"/>
                    <a:pt x="57150" y="0"/>
                  </a:cubicBezTo>
                  <a:cubicBezTo>
                    <a:pt x="25598" y="0"/>
                    <a:pt x="0" y="25598"/>
                    <a:pt x="0" y="57150"/>
                  </a:cubicBezTo>
                  <a:cubicBezTo>
                    <a:pt x="0" y="72390"/>
                    <a:pt x="5953" y="86231"/>
                    <a:pt x="15686" y="96470"/>
                  </a:cubicBezTo>
                  <a:cubicBezTo>
                    <a:pt x="20598" y="101650"/>
                    <a:pt x="24973" y="107662"/>
                    <a:pt x="27116" y="114300"/>
                  </a:cubicBezTo>
                  <a:lnTo>
                    <a:pt x="87154" y="114300"/>
                  </a:lnTo>
                  <a:close/>
                  <a:moveTo>
                    <a:pt x="85725" y="128588"/>
                  </a:moveTo>
                  <a:lnTo>
                    <a:pt x="28575" y="128588"/>
                  </a:lnTo>
                  <a:lnTo>
                    <a:pt x="28575" y="133350"/>
                  </a:lnTo>
                  <a:cubicBezTo>
                    <a:pt x="28575" y="146506"/>
                    <a:pt x="39231" y="157163"/>
                    <a:pt x="52388" y="157163"/>
                  </a:cubicBezTo>
                  <a:lnTo>
                    <a:pt x="61912" y="157163"/>
                  </a:lnTo>
                  <a:cubicBezTo>
                    <a:pt x="75069" y="157163"/>
                    <a:pt x="85725" y="146506"/>
                    <a:pt x="85725" y="133350"/>
                  </a:cubicBezTo>
                  <a:lnTo>
                    <a:pt x="85725" y="128588"/>
                  </a:lnTo>
                  <a:close/>
                  <a:moveTo>
                    <a:pt x="54769" y="33338"/>
                  </a:moveTo>
                  <a:cubicBezTo>
                    <a:pt x="42922" y="33338"/>
                    <a:pt x="33338" y="42922"/>
                    <a:pt x="33338" y="54769"/>
                  </a:cubicBezTo>
                  <a:cubicBezTo>
                    <a:pt x="33338" y="58728"/>
                    <a:pt x="30153" y="61912"/>
                    <a:pt x="26194" y="61912"/>
                  </a:cubicBezTo>
                  <a:cubicBezTo>
                    <a:pt x="22235" y="61912"/>
                    <a:pt x="19050" y="58728"/>
                    <a:pt x="19050" y="54769"/>
                  </a:cubicBezTo>
                  <a:cubicBezTo>
                    <a:pt x="19050" y="35034"/>
                    <a:pt x="35034" y="19050"/>
                    <a:pt x="54769" y="19050"/>
                  </a:cubicBezTo>
                  <a:cubicBezTo>
                    <a:pt x="58728" y="19050"/>
                    <a:pt x="61912" y="22235"/>
                    <a:pt x="61912" y="26194"/>
                  </a:cubicBezTo>
                  <a:cubicBezTo>
                    <a:pt x="61912" y="30153"/>
                    <a:pt x="58728" y="33338"/>
                    <a:pt x="54769" y="33338"/>
                  </a:cubicBezTo>
                  <a:close/>
                </a:path>
              </a:pathLst>
            </a:custGeom>
            <a:solidFill>
              <a:srgbClr val="0071E3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1028700" y="3238500"/>
              <a:ext cx="268605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D1D1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Implication:</a:t>
              </a:r>
              <a:r>
                <a:rPr lang="en-US" sz="1200" dirty="0">
                  <a:solidFill>
                    <a:srgbClr val="1D1D1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 Most users express neutral or favorable opinions rather than negative ones, requiring special handling for minority classes.</a:t>
              </a:r>
              <a:endParaRPr lang="en-US" sz="1600" dirty="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E96A4CE-D934-8346-1823-9AA4B0AA2B84}"/>
              </a:ext>
            </a:extLst>
          </p:cNvPr>
          <p:cNvGrpSpPr/>
          <p:nvPr/>
        </p:nvGrpSpPr>
        <p:grpSpPr>
          <a:xfrm>
            <a:off x="8158163" y="1257301"/>
            <a:ext cx="3648075" cy="3281364"/>
            <a:chOff x="8158163" y="1262063"/>
            <a:chExt cx="3648075" cy="3286125"/>
          </a:xfrm>
        </p:grpSpPr>
        <p:sp>
          <p:nvSpPr>
            <p:cNvPr id="22" name="Shape 20"/>
            <p:cNvSpPr/>
            <p:nvPr/>
          </p:nvSpPr>
          <p:spPr>
            <a:xfrm>
              <a:off x="8158163" y="1262063"/>
              <a:ext cx="3648075" cy="3286125"/>
            </a:xfrm>
            <a:custGeom>
              <a:avLst/>
              <a:gdLst/>
              <a:ahLst/>
              <a:cxnLst/>
              <a:rect l="l" t="t" r="r" b="b"/>
              <a:pathLst>
                <a:path w="3648075" h="3286125">
                  <a:moveTo>
                    <a:pt x="152410" y="0"/>
                  </a:moveTo>
                  <a:lnTo>
                    <a:pt x="3495665" y="0"/>
                  </a:lnTo>
                  <a:cubicBezTo>
                    <a:pt x="3579839" y="0"/>
                    <a:pt x="3648075" y="68236"/>
                    <a:pt x="3648075" y="152410"/>
                  </a:cubicBezTo>
                  <a:lnTo>
                    <a:pt x="3648075" y="3133715"/>
                  </a:lnTo>
                  <a:cubicBezTo>
                    <a:pt x="3648075" y="3217889"/>
                    <a:pt x="3579839" y="3286125"/>
                    <a:pt x="3495665" y="3286125"/>
                  </a:cubicBezTo>
                  <a:lnTo>
                    <a:pt x="152410" y="3286125"/>
                  </a:lnTo>
                  <a:cubicBezTo>
                    <a:pt x="68236" y="3286125"/>
                    <a:pt x="0" y="3217889"/>
                    <a:pt x="0" y="3133715"/>
                  </a:cubicBezTo>
                  <a:lnTo>
                    <a:pt x="0" y="152410"/>
                  </a:lnTo>
                  <a:cubicBezTo>
                    <a:pt x="0" y="68293"/>
                    <a:pt x="68293" y="0"/>
                    <a:pt x="152410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8391525" y="1495425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0071E3"/>
            </a:solidFill>
            <a:ln/>
          </p:spPr>
        </p:sp>
        <p:sp>
          <p:nvSpPr>
            <p:cNvPr id="24" name="Shape 22"/>
            <p:cNvSpPr/>
            <p:nvPr/>
          </p:nvSpPr>
          <p:spPr>
            <a:xfrm>
              <a:off x="8529638" y="1647825"/>
              <a:ext cx="257175" cy="228600"/>
            </a:xfrm>
            <a:custGeom>
              <a:avLst/>
              <a:gdLst/>
              <a:ahLst/>
              <a:cxnLst/>
              <a:rect l="l" t="t" r="r" b="b"/>
              <a:pathLst>
                <a:path w="257175" h="228600">
                  <a:moveTo>
                    <a:pt x="252978" y="24378"/>
                  </a:moveTo>
                  <a:cubicBezTo>
                    <a:pt x="258559" y="18797"/>
                    <a:pt x="258559" y="9733"/>
                    <a:pt x="252978" y="4152"/>
                  </a:cubicBezTo>
                  <a:cubicBezTo>
                    <a:pt x="247397" y="-1429"/>
                    <a:pt x="238333" y="-1429"/>
                    <a:pt x="232752" y="4152"/>
                  </a:cubicBezTo>
                  <a:lnTo>
                    <a:pt x="147027" y="89877"/>
                  </a:lnTo>
                  <a:lnTo>
                    <a:pt x="131534" y="74384"/>
                  </a:lnTo>
                  <a:cubicBezTo>
                    <a:pt x="129659" y="72509"/>
                    <a:pt x="127069" y="71438"/>
                    <a:pt x="124391" y="71438"/>
                  </a:cubicBezTo>
                  <a:cubicBezTo>
                    <a:pt x="118809" y="71438"/>
                    <a:pt x="114300" y="75947"/>
                    <a:pt x="114300" y="81528"/>
                  </a:cubicBezTo>
                  <a:lnTo>
                    <a:pt x="114300" y="94521"/>
                  </a:lnTo>
                  <a:lnTo>
                    <a:pt x="162654" y="142875"/>
                  </a:lnTo>
                  <a:lnTo>
                    <a:pt x="175647" y="142875"/>
                  </a:lnTo>
                  <a:cubicBezTo>
                    <a:pt x="181228" y="142875"/>
                    <a:pt x="185738" y="138366"/>
                    <a:pt x="185738" y="132784"/>
                  </a:cubicBezTo>
                  <a:cubicBezTo>
                    <a:pt x="185738" y="130106"/>
                    <a:pt x="184666" y="127516"/>
                    <a:pt x="182791" y="125641"/>
                  </a:cubicBezTo>
                  <a:lnTo>
                    <a:pt x="167298" y="110148"/>
                  </a:lnTo>
                  <a:lnTo>
                    <a:pt x="253023" y="24423"/>
                  </a:lnTo>
                  <a:close/>
                  <a:moveTo>
                    <a:pt x="152296" y="157788"/>
                  </a:moveTo>
                  <a:lnTo>
                    <a:pt x="99387" y="104879"/>
                  </a:lnTo>
                  <a:cubicBezTo>
                    <a:pt x="80323" y="103227"/>
                    <a:pt x="61347" y="110103"/>
                    <a:pt x="47685" y="123765"/>
                  </a:cubicBezTo>
                  <a:lnTo>
                    <a:pt x="44113" y="127337"/>
                  </a:lnTo>
                  <a:cubicBezTo>
                    <a:pt x="34156" y="137294"/>
                    <a:pt x="28575" y="150778"/>
                    <a:pt x="28575" y="164842"/>
                  </a:cubicBezTo>
                  <a:cubicBezTo>
                    <a:pt x="28575" y="167878"/>
                    <a:pt x="31745" y="169843"/>
                    <a:pt x="34469" y="168503"/>
                  </a:cubicBezTo>
                  <a:lnTo>
                    <a:pt x="57284" y="157118"/>
                  </a:lnTo>
                  <a:cubicBezTo>
                    <a:pt x="59516" y="156002"/>
                    <a:pt x="61526" y="158948"/>
                    <a:pt x="59695" y="160645"/>
                  </a:cubicBezTo>
                  <a:lnTo>
                    <a:pt x="3259" y="211366"/>
                  </a:lnTo>
                  <a:cubicBezTo>
                    <a:pt x="1206" y="213241"/>
                    <a:pt x="0" y="215920"/>
                    <a:pt x="0" y="218733"/>
                  </a:cubicBezTo>
                  <a:cubicBezTo>
                    <a:pt x="0" y="224180"/>
                    <a:pt x="4420" y="228600"/>
                    <a:pt x="9867" y="228600"/>
                  </a:cubicBezTo>
                  <a:lnTo>
                    <a:pt x="87243" y="228600"/>
                  </a:lnTo>
                  <a:cubicBezTo>
                    <a:pt x="104567" y="228600"/>
                    <a:pt x="121131" y="221724"/>
                    <a:pt x="133410" y="209490"/>
                  </a:cubicBezTo>
                  <a:cubicBezTo>
                    <a:pt x="147072" y="195828"/>
                    <a:pt x="153903" y="176852"/>
                    <a:pt x="152296" y="157788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9077325" y="1533525"/>
              <a:ext cx="18859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1D1D1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Data Cleaning Impact</a:t>
              </a:r>
              <a:endParaRPr lang="en-US" sz="16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9077325" y="1800225"/>
              <a:ext cx="18573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86868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Insight 03</a:t>
              </a:r>
              <a:endParaRPr lang="en-US" sz="16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8391525" y="2181225"/>
              <a:ext cx="3257550" cy="7429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200" dirty="0">
                  <a:solidFill>
                    <a:srgbClr val="86868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Preprocessing steps </a:t>
              </a:r>
              <a:r>
                <a:rPr lang="en-US" sz="1200" b="1" dirty="0">
                  <a:solidFill>
                    <a:srgbClr val="1D1D1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significantly improved model accuracy</a:t>
              </a:r>
              <a:r>
                <a:rPr lang="en-US" sz="1200" dirty="0">
                  <a:solidFill>
                    <a:srgbClr val="86868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 and reduced noise in the text data.</a:t>
              </a:r>
              <a:endParaRPr lang="en-US" sz="16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8396288" y="3081338"/>
              <a:ext cx="3171825" cy="1000125"/>
            </a:xfrm>
            <a:custGeom>
              <a:avLst/>
              <a:gdLst/>
              <a:ahLst/>
              <a:cxnLst/>
              <a:rect l="l" t="t" r="r" b="b"/>
              <a:pathLst>
                <a:path w="3171825" h="1000125">
                  <a:moveTo>
                    <a:pt x="114304" y="0"/>
                  </a:moveTo>
                  <a:lnTo>
                    <a:pt x="3057521" y="0"/>
                  </a:lnTo>
                  <a:cubicBezTo>
                    <a:pt x="3120649" y="0"/>
                    <a:pt x="3171825" y="51176"/>
                    <a:pt x="3171825" y="114304"/>
                  </a:cubicBezTo>
                  <a:lnTo>
                    <a:pt x="3171825" y="885821"/>
                  </a:lnTo>
                  <a:cubicBezTo>
                    <a:pt x="3171825" y="948949"/>
                    <a:pt x="3120649" y="1000125"/>
                    <a:pt x="3057521" y="1000125"/>
                  </a:cubicBezTo>
                  <a:lnTo>
                    <a:pt x="114304" y="1000125"/>
                  </a:lnTo>
                  <a:cubicBezTo>
                    <a:pt x="51176" y="1000125"/>
                    <a:pt x="0" y="948949"/>
                    <a:pt x="0" y="885821"/>
                  </a:cubicBezTo>
                  <a:lnTo>
                    <a:pt x="0" y="114304"/>
                  </a:lnTo>
                  <a:cubicBezTo>
                    <a:pt x="0" y="51176"/>
                    <a:pt x="51176" y="0"/>
                    <a:pt x="114304" y="0"/>
                  </a:cubicBezTo>
                  <a:close/>
                </a:path>
              </a:pathLst>
            </a:custGeom>
            <a:solidFill>
              <a:srgbClr val="0071E3">
                <a:alpha val="5098"/>
              </a:srgbClr>
            </a:solidFill>
            <a:ln w="12700">
              <a:solidFill>
                <a:srgbClr val="0071E3">
                  <a:alpha val="20000"/>
                </a:srgbClr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8591550" y="327660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87184" y="114300"/>
                  </a:moveTo>
                  <a:cubicBezTo>
                    <a:pt x="89356" y="107662"/>
                    <a:pt x="93702" y="101650"/>
                    <a:pt x="98614" y="96470"/>
                  </a:cubicBezTo>
                  <a:cubicBezTo>
                    <a:pt x="108347" y="86231"/>
                    <a:pt x="114300" y="72390"/>
                    <a:pt x="114300" y="57150"/>
                  </a:cubicBezTo>
                  <a:cubicBezTo>
                    <a:pt x="114300" y="25598"/>
                    <a:pt x="88702" y="0"/>
                    <a:pt x="57150" y="0"/>
                  </a:cubicBezTo>
                  <a:cubicBezTo>
                    <a:pt x="25598" y="0"/>
                    <a:pt x="0" y="25598"/>
                    <a:pt x="0" y="57150"/>
                  </a:cubicBezTo>
                  <a:cubicBezTo>
                    <a:pt x="0" y="72390"/>
                    <a:pt x="5953" y="86231"/>
                    <a:pt x="15686" y="96470"/>
                  </a:cubicBezTo>
                  <a:cubicBezTo>
                    <a:pt x="20598" y="101650"/>
                    <a:pt x="24973" y="107662"/>
                    <a:pt x="27116" y="114300"/>
                  </a:cubicBezTo>
                  <a:lnTo>
                    <a:pt x="87154" y="114300"/>
                  </a:lnTo>
                  <a:close/>
                  <a:moveTo>
                    <a:pt x="85725" y="128588"/>
                  </a:moveTo>
                  <a:lnTo>
                    <a:pt x="28575" y="128588"/>
                  </a:lnTo>
                  <a:lnTo>
                    <a:pt x="28575" y="133350"/>
                  </a:lnTo>
                  <a:cubicBezTo>
                    <a:pt x="28575" y="146506"/>
                    <a:pt x="39231" y="157163"/>
                    <a:pt x="52388" y="157163"/>
                  </a:cubicBezTo>
                  <a:lnTo>
                    <a:pt x="61912" y="157163"/>
                  </a:lnTo>
                  <a:cubicBezTo>
                    <a:pt x="75069" y="157163"/>
                    <a:pt x="85725" y="146506"/>
                    <a:pt x="85725" y="133350"/>
                  </a:cubicBezTo>
                  <a:lnTo>
                    <a:pt x="85725" y="128588"/>
                  </a:lnTo>
                  <a:close/>
                  <a:moveTo>
                    <a:pt x="54769" y="33338"/>
                  </a:moveTo>
                  <a:cubicBezTo>
                    <a:pt x="42922" y="33338"/>
                    <a:pt x="33338" y="42922"/>
                    <a:pt x="33338" y="54769"/>
                  </a:cubicBezTo>
                  <a:cubicBezTo>
                    <a:pt x="33338" y="58728"/>
                    <a:pt x="30153" y="61912"/>
                    <a:pt x="26194" y="61912"/>
                  </a:cubicBezTo>
                  <a:cubicBezTo>
                    <a:pt x="22235" y="61912"/>
                    <a:pt x="19050" y="58728"/>
                    <a:pt x="19050" y="54769"/>
                  </a:cubicBezTo>
                  <a:cubicBezTo>
                    <a:pt x="19050" y="35034"/>
                    <a:pt x="35034" y="19050"/>
                    <a:pt x="54769" y="19050"/>
                  </a:cubicBezTo>
                  <a:cubicBezTo>
                    <a:pt x="58728" y="19050"/>
                    <a:pt x="61912" y="22235"/>
                    <a:pt x="61912" y="26194"/>
                  </a:cubicBezTo>
                  <a:cubicBezTo>
                    <a:pt x="61912" y="30153"/>
                    <a:pt x="58728" y="33338"/>
                    <a:pt x="54769" y="33338"/>
                  </a:cubicBezTo>
                  <a:close/>
                </a:path>
              </a:pathLst>
            </a:custGeom>
            <a:solidFill>
              <a:srgbClr val="0071E3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8801100" y="3238500"/>
              <a:ext cx="268605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D1D1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Implication:</a:t>
              </a:r>
              <a:r>
                <a:rPr lang="en-US" sz="1200" dirty="0">
                  <a:solidFill>
                    <a:srgbClr val="1D1D1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 Proper text preprocessing is essential for achieving reliable sentiment classification results.</a:t>
              </a:r>
              <a:endParaRPr lang="en-US" sz="1600" dirty="0"/>
            </a:p>
          </p:txBody>
        </p:sp>
      </p:grpSp>
      <p:sp>
        <p:nvSpPr>
          <p:cNvPr id="35" name="Shape 33"/>
          <p:cNvSpPr/>
          <p:nvPr/>
        </p:nvSpPr>
        <p:spPr>
          <a:xfrm>
            <a:off x="733425" y="5534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84862" y="15091"/>
                </a:moveTo>
                <a:cubicBezTo>
                  <a:pt x="83314" y="11698"/>
                  <a:pt x="79921" y="9525"/>
                  <a:pt x="76200" y="9525"/>
                </a:cubicBezTo>
                <a:cubicBezTo>
                  <a:pt x="72479" y="9525"/>
                  <a:pt x="69086" y="11698"/>
                  <a:pt x="67538" y="15091"/>
                </a:cubicBezTo>
                <a:lnTo>
                  <a:pt x="17711" y="123825"/>
                </a:lnTo>
                <a:lnTo>
                  <a:pt x="14288" y="123825"/>
                </a:lnTo>
                <a:cubicBezTo>
                  <a:pt x="9019" y="123825"/>
                  <a:pt x="4763" y="128081"/>
                  <a:pt x="4763" y="133350"/>
                </a:cubicBezTo>
                <a:cubicBezTo>
                  <a:pt x="4763" y="138619"/>
                  <a:pt x="9019" y="142875"/>
                  <a:pt x="14288" y="142875"/>
                </a:cubicBezTo>
                <a:lnTo>
                  <a:pt x="40481" y="142875"/>
                </a:lnTo>
                <a:cubicBezTo>
                  <a:pt x="45750" y="142875"/>
                  <a:pt x="50006" y="138619"/>
                  <a:pt x="50006" y="133350"/>
                </a:cubicBezTo>
                <a:cubicBezTo>
                  <a:pt x="50006" y="128081"/>
                  <a:pt x="45750" y="123825"/>
                  <a:pt x="40481" y="123825"/>
                </a:cubicBezTo>
                <a:lnTo>
                  <a:pt x="38666" y="123825"/>
                </a:lnTo>
                <a:lnTo>
                  <a:pt x="45214" y="109537"/>
                </a:lnTo>
                <a:lnTo>
                  <a:pt x="107216" y="109537"/>
                </a:lnTo>
                <a:lnTo>
                  <a:pt x="113764" y="123825"/>
                </a:lnTo>
                <a:lnTo>
                  <a:pt x="111949" y="123825"/>
                </a:lnTo>
                <a:cubicBezTo>
                  <a:pt x="106680" y="123825"/>
                  <a:pt x="102424" y="128081"/>
                  <a:pt x="102424" y="133350"/>
                </a:cubicBezTo>
                <a:cubicBezTo>
                  <a:pt x="102424" y="138619"/>
                  <a:pt x="106680" y="142875"/>
                  <a:pt x="111949" y="142875"/>
                </a:cubicBezTo>
                <a:lnTo>
                  <a:pt x="138142" y="142875"/>
                </a:lnTo>
                <a:cubicBezTo>
                  <a:pt x="143411" y="142875"/>
                  <a:pt x="147667" y="138619"/>
                  <a:pt x="147667" y="133350"/>
                </a:cubicBezTo>
                <a:cubicBezTo>
                  <a:pt x="147667" y="128081"/>
                  <a:pt x="143411" y="123825"/>
                  <a:pt x="138142" y="123825"/>
                </a:cubicBezTo>
                <a:lnTo>
                  <a:pt x="134719" y="123825"/>
                </a:lnTo>
                <a:lnTo>
                  <a:pt x="84892" y="15091"/>
                </a:lnTo>
                <a:close/>
                <a:moveTo>
                  <a:pt x="98465" y="90488"/>
                </a:moveTo>
                <a:lnTo>
                  <a:pt x="53935" y="90488"/>
                </a:lnTo>
                <a:lnTo>
                  <a:pt x="76200" y="41910"/>
                </a:lnTo>
                <a:lnTo>
                  <a:pt x="98465" y="90488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9" name="Shape 37"/>
          <p:cNvSpPr/>
          <p:nvPr/>
        </p:nvSpPr>
        <p:spPr>
          <a:xfrm>
            <a:off x="3500438" y="55340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24867" y="28575"/>
                </a:moveTo>
                <a:cubicBezTo>
                  <a:pt x="119926" y="28575"/>
                  <a:pt x="115133" y="29914"/>
                  <a:pt x="110936" y="32355"/>
                </a:cubicBezTo>
                <a:cubicBezTo>
                  <a:pt x="106234" y="27593"/>
                  <a:pt x="100757" y="23604"/>
                  <a:pt x="94714" y="20598"/>
                </a:cubicBezTo>
                <a:cubicBezTo>
                  <a:pt x="103108" y="13454"/>
                  <a:pt x="113794" y="9525"/>
                  <a:pt x="124867" y="9525"/>
                </a:cubicBezTo>
                <a:cubicBezTo>
                  <a:pt x="150584" y="9525"/>
                  <a:pt x="171450" y="30361"/>
                  <a:pt x="171450" y="56108"/>
                </a:cubicBezTo>
                <a:cubicBezTo>
                  <a:pt x="171450" y="68461"/>
                  <a:pt x="166539" y="80308"/>
                  <a:pt x="157817" y="89029"/>
                </a:cubicBezTo>
                <a:lnTo>
                  <a:pt x="136654" y="110192"/>
                </a:lnTo>
                <a:cubicBezTo>
                  <a:pt x="127933" y="118914"/>
                  <a:pt x="116086" y="123825"/>
                  <a:pt x="103733" y="123825"/>
                </a:cubicBezTo>
                <a:cubicBezTo>
                  <a:pt x="78016" y="123825"/>
                  <a:pt x="57150" y="102989"/>
                  <a:pt x="57150" y="77242"/>
                </a:cubicBezTo>
                <a:cubicBezTo>
                  <a:pt x="57150" y="76795"/>
                  <a:pt x="57150" y="76349"/>
                  <a:pt x="57180" y="75902"/>
                </a:cubicBezTo>
                <a:cubicBezTo>
                  <a:pt x="57329" y="70634"/>
                  <a:pt x="61704" y="66496"/>
                  <a:pt x="66973" y="66645"/>
                </a:cubicBezTo>
                <a:cubicBezTo>
                  <a:pt x="72241" y="66794"/>
                  <a:pt x="76379" y="71170"/>
                  <a:pt x="76230" y="76438"/>
                </a:cubicBezTo>
                <a:cubicBezTo>
                  <a:pt x="76230" y="76706"/>
                  <a:pt x="76230" y="76974"/>
                  <a:pt x="76230" y="77212"/>
                </a:cubicBezTo>
                <a:cubicBezTo>
                  <a:pt x="76230" y="92422"/>
                  <a:pt x="88553" y="104745"/>
                  <a:pt x="103763" y="104745"/>
                </a:cubicBezTo>
                <a:cubicBezTo>
                  <a:pt x="111056" y="104745"/>
                  <a:pt x="118050" y="101858"/>
                  <a:pt x="123230" y="96679"/>
                </a:cubicBezTo>
                <a:lnTo>
                  <a:pt x="144393" y="75515"/>
                </a:lnTo>
                <a:cubicBezTo>
                  <a:pt x="149543" y="70366"/>
                  <a:pt x="152460" y="63341"/>
                  <a:pt x="152460" y="56049"/>
                </a:cubicBezTo>
                <a:cubicBezTo>
                  <a:pt x="152460" y="40838"/>
                  <a:pt x="140137" y="28515"/>
                  <a:pt x="124926" y="28515"/>
                </a:cubicBezTo>
                <a:close/>
                <a:moveTo>
                  <a:pt x="81915" y="51584"/>
                </a:moveTo>
                <a:cubicBezTo>
                  <a:pt x="81349" y="51346"/>
                  <a:pt x="80784" y="51018"/>
                  <a:pt x="80278" y="50661"/>
                </a:cubicBezTo>
                <a:cubicBezTo>
                  <a:pt x="76527" y="48726"/>
                  <a:pt x="72241" y="47625"/>
                  <a:pt x="67747" y="47625"/>
                </a:cubicBezTo>
                <a:cubicBezTo>
                  <a:pt x="60454" y="47625"/>
                  <a:pt x="53459" y="50512"/>
                  <a:pt x="48280" y="55691"/>
                </a:cubicBezTo>
                <a:lnTo>
                  <a:pt x="27116" y="76855"/>
                </a:lnTo>
                <a:cubicBezTo>
                  <a:pt x="21967" y="82004"/>
                  <a:pt x="19050" y="89029"/>
                  <a:pt x="19050" y="96322"/>
                </a:cubicBezTo>
                <a:cubicBezTo>
                  <a:pt x="19050" y="111532"/>
                  <a:pt x="31373" y="123855"/>
                  <a:pt x="46583" y="123855"/>
                </a:cubicBezTo>
                <a:cubicBezTo>
                  <a:pt x="51495" y="123855"/>
                  <a:pt x="56287" y="122545"/>
                  <a:pt x="60484" y="120104"/>
                </a:cubicBezTo>
                <a:cubicBezTo>
                  <a:pt x="65187" y="124867"/>
                  <a:pt x="70664" y="128855"/>
                  <a:pt x="76736" y="131862"/>
                </a:cubicBezTo>
                <a:cubicBezTo>
                  <a:pt x="68342" y="138976"/>
                  <a:pt x="57686" y="142935"/>
                  <a:pt x="46583" y="142935"/>
                </a:cubicBezTo>
                <a:cubicBezTo>
                  <a:pt x="20866" y="142935"/>
                  <a:pt x="0" y="122099"/>
                  <a:pt x="0" y="96351"/>
                </a:cubicBezTo>
                <a:cubicBezTo>
                  <a:pt x="0" y="83999"/>
                  <a:pt x="4911" y="72152"/>
                  <a:pt x="13633" y="63431"/>
                </a:cubicBezTo>
                <a:lnTo>
                  <a:pt x="34796" y="42267"/>
                </a:lnTo>
                <a:cubicBezTo>
                  <a:pt x="43517" y="33546"/>
                  <a:pt x="55364" y="28635"/>
                  <a:pt x="67717" y="28635"/>
                </a:cubicBezTo>
                <a:cubicBezTo>
                  <a:pt x="93494" y="28635"/>
                  <a:pt x="114300" y="49649"/>
                  <a:pt x="114300" y="75337"/>
                </a:cubicBezTo>
                <a:cubicBezTo>
                  <a:pt x="114300" y="75724"/>
                  <a:pt x="114300" y="76111"/>
                  <a:pt x="114300" y="76498"/>
                </a:cubicBezTo>
                <a:cubicBezTo>
                  <a:pt x="114181" y="81766"/>
                  <a:pt x="109805" y="85904"/>
                  <a:pt x="104537" y="85785"/>
                </a:cubicBezTo>
                <a:cubicBezTo>
                  <a:pt x="99268" y="85665"/>
                  <a:pt x="95131" y="81290"/>
                  <a:pt x="95250" y="76021"/>
                </a:cubicBezTo>
                <a:cubicBezTo>
                  <a:pt x="95250" y="75783"/>
                  <a:pt x="95250" y="75575"/>
                  <a:pt x="95250" y="75337"/>
                </a:cubicBezTo>
                <a:cubicBezTo>
                  <a:pt x="95250" y="65306"/>
                  <a:pt x="89892" y="56495"/>
                  <a:pt x="81915" y="5164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3" name="Shape 41"/>
          <p:cNvSpPr/>
          <p:nvPr/>
        </p:nvSpPr>
        <p:spPr>
          <a:xfrm>
            <a:off x="6286500" y="5534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9050"/>
                </a:moveTo>
                <a:cubicBezTo>
                  <a:pt x="44648" y="19050"/>
                  <a:pt x="19050" y="44648"/>
                  <a:pt x="19050" y="76200"/>
                </a:cubicBezTo>
                <a:cubicBezTo>
                  <a:pt x="19050" y="107752"/>
                  <a:pt x="44648" y="133350"/>
                  <a:pt x="76200" y="133350"/>
                </a:cubicBezTo>
                <a:cubicBezTo>
                  <a:pt x="81469" y="133350"/>
                  <a:pt x="85725" y="137606"/>
                  <a:pt x="85725" y="142875"/>
                </a:cubicBezTo>
                <a:cubicBezTo>
                  <a:pt x="85725" y="148144"/>
                  <a:pt x="81469" y="152400"/>
                  <a:pt x="76200" y="152400"/>
                </a:cubicBezTo>
                <a:cubicBezTo>
                  <a:pt x="34111" y="152400"/>
                  <a:pt x="0" y="118289"/>
                  <a:pt x="0" y="76200"/>
                </a:cubicBezTo>
                <a:cubicBezTo>
                  <a:pt x="0" y="34111"/>
                  <a:pt x="34111" y="0"/>
                  <a:pt x="76200" y="0"/>
                </a:cubicBezTo>
                <a:cubicBezTo>
                  <a:pt x="118289" y="0"/>
                  <a:pt x="152400" y="34111"/>
                  <a:pt x="152400" y="76200"/>
                </a:cubicBezTo>
                <a:lnTo>
                  <a:pt x="152400" y="85725"/>
                </a:lnTo>
                <a:cubicBezTo>
                  <a:pt x="152400" y="101501"/>
                  <a:pt x="139601" y="114300"/>
                  <a:pt x="123825" y="114300"/>
                </a:cubicBezTo>
                <a:cubicBezTo>
                  <a:pt x="115104" y="114300"/>
                  <a:pt x="107275" y="110371"/>
                  <a:pt x="102037" y="104209"/>
                </a:cubicBezTo>
                <a:cubicBezTo>
                  <a:pt x="95250" y="110460"/>
                  <a:pt x="86171" y="114300"/>
                  <a:pt x="76200" y="114300"/>
                </a:cubicBezTo>
                <a:cubicBezTo>
                  <a:pt x="55156" y="114300"/>
                  <a:pt x="38100" y="97244"/>
                  <a:pt x="38100" y="76200"/>
                </a:cubicBezTo>
                <a:cubicBezTo>
                  <a:pt x="38100" y="55156"/>
                  <a:pt x="55156" y="38100"/>
                  <a:pt x="76200" y="38100"/>
                </a:cubicBezTo>
                <a:cubicBezTo>
                  <a:pt x="84505" y="38100"/>
                  <a:pt x="92184" y="40749"/>
                  <a:pt x="98435" y="45274"/>
                </a:cubicBezTo>
                <a:cubicBezTo>
                  <a:pt x="100132" y="43785"/>
                  <a:pt x="102334" y="42863"/>
                  <a:pt x="104775" y="42863"/>
                </a:cubicBezTo>
                <a:cubicBezTo>
                  <a:pt x="110044" y="42863"/>
                  <a:pt x="114300" y="47119"/>
                  <a:pt x="114300" y="52388"/>
                </a:cubicBezTo>
                <a:lnTo>
                  <a:pt x="114300" y="85725"/>
                </a:lnTo>
                <a:cubicBezTo>
                  <a:pt x="114300" y="90994"/>
                  <a:pt x="118556" y="95250"/>
                  <a:pt x="123825" y="95250"/>
                </a:cubicBezTo>
                <a:cubicBezTo>
                  <a:pt x="129094" y="95250"/>
                  <a:pt x="133350" y="90994"/>
                  <a:pt x="133350" y="85725"/>
                </a:cubicBezTo>
                <a:lnTo>
                  <a:pt x="133350" y="76200"/>
                </a:lnTo>
                <a:cubicBezTo>
                  <a:pt x="133350" y="44648"/>
                  <a:pt x="107752" y="19050"/>
                  <a:pt x="76200" y="19050"/>
                </a:cubicBezTo>
                <a:close/>
                <a:moveTo>
                  <a:pt x="95250" y="76200"/>
                </a:moveTo>
                <a:cubicBezTo>
                  <a:pt x="95250" y="65686"/>
                  <a:pt x="86714" y="57150"/>
                  <a:pt x="76200" y="57150"/>
                </a:cubicBezTo>
                <a:cubicBezTo>
                  <a:pt x="65686" y="57150"/>
                  <a:pt x="57150" y="65686"/>
                  <a:pt x="57150" y="76200"/>
                </a:cubicBezTo>
                <a:cubicBezTo>
                  <a:pt x="57150" y="86714"/>
                  <a:pt x="65686" y="95250"/>
                  <a:pt x="76200" y="95250"/>
                </a:cubicBezTo>
                <a:cubicBezTo>
                  <a:pt x="86714" y="95250"/>
                  <a:pt x="95250" y="86714"/>
                  <a:pt x="95250" y="7620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6" name="Shape 44"/>
          <p:cNvSpPr/>
          <p:nvPr/>
        </p:nvSpPr>
        <p:spPr>
          <a:xfrm>
            <a:off x="8948738" y="5419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90575" y="6105525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8100" h="152400">
                <a:moveTo>
                  <a:pt x="28575" y="9525"/>
                </a:moveTo>
                <a:cubicBezTo>
                  <a:pt x="28575" y="4256"/>
                  <a:pt x="24319" y="0"/>
                  <a:pt x="19050" y="0"/>
                </a:cubicBezTo>
                <a:cubicBezTo>
                  <a:pt x="13781" y="0"/>
                  <a:pt x="9525" y="4256"/>
                  <a:pt x="9525" y="9525"/>
                </a:cubicBezTo>
                <a:lnTo>
                  <a:pt x="9525" y="104775"/>
                </a:lnTo>
                <a:cubicBezTo>
                  <a:pt x="9525" y="110044"/>
                  <a:pt x="13781" y="114300"/>
                  <a:pt x="19050" y="114300"/>
                </a:cubicBezTo>
                <a:cubicBezTo>
                  <a:pt x="24319" y="114300"/>
                  <a:pt x="28575" y="110044"/>
                  <a:pt x="28575" y="104775"/>
                </a:cubicBezTo>
                <a:lnTo>
                  <a:pt x="28575" y="9525"/>
                </a:lnTo>
                <a:close/>
                <a:moveTo>
                  <a:pt x="19050" y="152400"/>
                </a:moveTo>
                <a:cubicBezTo>
                  <a:pt x="25628" y="152400"/>
                  <a:pt x="30956" y="147072"/>
                  <a:pt x="30956" y="140494"/>
                </a:cubicBezTo>
                <a:cubicBezTo>
                  <a:pt x="30956" y="133916"/>
                  <a:pt x="25628" y="128588"/>
                  <a:pt x="19050" y="128588"/>
                </a:cubicBezTo>
                <a:cubicBezTo>
                  <a:pt x="12472" y="128588"/>
                  <a:pt x="7144" y="133916"/>
                  <a:pt x="7144" y="140494"/>
                </a:cubicBezTo>
                <a:cubicBezTo>
                  <a:pt x="7144" y="147072"/>
                  <a:pt x="12472" y="152400"/>
                  <a:pt x="19050" y="15240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5" name="Shape 53"/>
          <p:cNvSpPr/>
          <p:nvPr/>
        </p:nvSpPr>
        <p:spPr>
          <a:xfrm>
            <a:off x="3509963" y="6105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4827" y="12323"/>
                </a:moveTo>
                <a:cubicBezTo>
                  <a:pt x="41106" y="8602"/>
                  <a:pt x="35064" y="8602"/>
                  <a:pt x="31343" y="12323"/>
                </a:cubicBezTo>
                <a:lnTo>
                  <a:pt x="2768" y="40898"/>
                </a:lnTo>
                <a:cubicBezTo>
                  <a:pt x="-953" y="44619"/>
                  <a:pt x="-953" y="50661"/>
                  <a:pt x="2768" y="54382"/>
                </a:cubicBezTo>
                <a:cubicBezTo>
                  <a:pt x="6489" y="58103"/>
                  <a:pt x="12531" y="58103"/>
                  <a:pt x="16252" y="54382"/>
                </a:cubicBezTo>
                <a:lnTo>
                  <a:pt x="28575" y="42059"/>
                </a:lnTo>
                <a:lnTo>
                  <a:pt x="28575" y="133350"/>
                </a:lnTo>
                <a:cubicBezTo>
                  <a:pt x="28575" y="138619"/>
                  <a:pt x="32831" y="142875"/>
                  <a:pt x="38100" y="142875"/>
                </a:cubicBezTo>
                <a:cubicBezTo>
                  <a:pt x="43369" y="142875"/>
                  <a:pt x="47625" y="138619"/>
                  <a:pt x="47625" y="133350"/>
                </a:cubicBezTo>
                <a:lnTo>
                  <a:pt x="47625" y="42059"/>
                </a:lnTo>
                <a:lnTo>
                  <a:pt x="59948" y="54382"/>
                </a:lnTo>
                <a:cubicBezTo>
                  <a:pt x="63669" y="58103"/>
                  <a:pt x="69711" y="58103"/>
                  <a:pt x="73432" y="54382"/>
                </a:cubicBezTo>
                <a:cubicBezTo>
                  <a:pt x="77152" y="50661"/>
                  <a:pt x="77152" y="44619"/>
                  <a:pt x="73432" y="40898"/>
                </a:cubicBezTo>
                <a:lnTo>
                  <a:pt x="44857" y="12323"/>
                </a:lnTo>
                <a:close/>
                <a:moveTo>
                  <a:pt x="124629" y="11311"/>
                </a:moveTo>
                <a:cubicBezTo>
                  <a:pt x="122158" y="9525"/>
                  <a:pt x="118943" y="9019"/>
                  <a:pt x="116056" y="10001"/>
                </a:cubicBezTo>
                <a:lnTo>
                  <a:pt x="101769" y="14764"/>
                </a:lnTo>
                <a:cubicBezTo>
                  <a:pt x="96768" y="16431"/>
                  <a:pt x="94089" y="21818"/>
                  <a:pt x="95756" y="26819"/>
                </a:cubicBezTo>
                <a:cubicBezTo>
                  <a:pt x="97423" y="31819"/>
                  <a:pt x="102810" y="34498"/>
                  <a:pt x="107811" y="32831"/>
                </a:cubicBezTo>
                <a:lnTo>
                  <a:pt x="109567" y="32236"/>
                </a:lnTo>
                <a:lnTo>
                  <a:pt x="109567" y="47595"/>
                </a:lnTo>
                <a:lnTo>
                  <a:pt x="104805" y="47595"/>
                </a:lnTo>
                <a:cubicBezTo>
                  <a:pt x="99536" y="47595"/>
                  <a:pt x="95280" y="51852"/>
                  <a:pt x="95280" y="57120"/>
                </a:cubicBezTo>
                <a:cubicBezTo>
                  <a:pt x="95280" y="62389"/>
                  <a:pt x="99536" y="66645"/>
                  <a:pt x="104805" y="66645"/>
                </a:cubicBezTo>
                <a:lnTo>
                  <a:pt x="133380" y="66645"/>
                </a:lnTo>
                <a:cubicBezTo>
                  <a:pt x="138648" y="66645"/>
                  <a:pt x="142905" y="62389"/>
                  <a:pt x="142905" y="57120"/>
                </a:cubicBezTo>
                <a:cubicBezTo>
                  <a:pt x="142905" y="51852"/>
                  <a:pt x="138648" y="47595"/>
                  <a:pt x="133380" y="47595"/>
                </a:cubicBezTo>
                <a:lnTo>
                  <a:pt x="128617" y="47595"/>
                </a:lnTo>
                <a:lnTo>
                  <a:pt x="128617" y="19020"/>
                </a:lnTo>
                <a:cubicBezTo>
                  <a:pt x="128617" y="15954"/>
                  <a:pt x="127159" y="13097"/>
                  <a:pt x="124658" y="11281"/>
                </a:cubicBezTo>
                <a:close/>
                <a:moveTo>
                  <a:pt x="108674" y="128171"/>
                </a:moveTo>
                <a:cubicBezTo>
                  <a:pt x="105817" y="132576"/>
                  <a:pt x="107067" y="138470"/>
                  <a:pt x="111472" y="141357"/>
                </a:cubicBezTo>
                <a:cubicBezTo>
                  <a:pt x="115878" y="144244"/>
                  <a:pt x="121771" y="142964"/>
                  <a:pt x="124658" y="138559"/>
                </a:cubicBezTo>
                <a:lnTo>
                  <a:pt x="137190" y="119241"/>
                </a:lnTo>
                <a:cubicBezTo>
                  <a:pt x="140881" y="113526"/>
                  <a:pt x="142875" y="106859"/>
                  <a:pt x="142875" y="100042"/>
                </a:cubicBezTo>
                <a:cubicBezTo>
                  <a:pt x="142875" y="86886"/>
                  <a:pt x="132219" y="76230"/>
                  <a:pt x="119063" y="76230"/>
                </a:cubicBezTo>
                <a:cubicBezTo>
                  <a:pt x="105906" y="76230"/>
                  <a:pt x="95250" y="86886"/>
                  <a:pt x="95250" y="100042"/>
                </a:cubicBezTo>
                <a:cubicBezTo>
                  <a:pt x="95250" y="110788"/>
                  <a:pt x="102364" y="119896"/>
                  <a:pt x="112157" y="122843"/>
                </a:cubicBezTo>
                <a:lnTo>
                  <a:pt x="108674" y="128201"/>
                </a:lnTo>
                <a:close/>
                <a:moveTo>
                  <a:pt x="111919" y="100013"/>
                </a:moveTo>
                <a:cubicBezTo>
                  <a:pt x="111919" y="96070"/>
                  <a:pt x="115120" y="92869"/>
                  <a:pt x="119062" y="92869"/>
                </a:cubicBezTo>
                <a:cubicBezTo>
                  <a:pt x="123005" y="92869"/>
                  <a:pt x="126206" y="96070"/>
                  <a:pt x="126206" y="100013"/>
                </a:cubicBezTo>
                <a:cubicBezTo>
                  <a:pt x="126206" y="103955"/>
                  <a:pt x="123005" y="107156"/>
                  <a:pt x="119062" y="107156"/>
                </a:cubicBezTo>
                <a:cubicBezTo>
                  <a:pt x="115120" y="107156"/>
                  <a:pt x="111919" y="103955"/>
                  <a:pt x="111919" y="10001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9" name="Shape 57"/>
          <p:cNvSpPr/>
          <p:nvPr/>
        </p:nvSpPr>
        <p:spPr>
          <a:xfrm>
            <a:off x="6286500" y="6105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7150" y="76200"/>
                </a:moveTo>
                <a:lnTo>
                  <a:pt x="45393" y="87957"/>
                </a:lnTo>
                <a:cubicBezTo>
                  <a:pt x="41642" y="86499"/>
                  <a:pt x="37594" y="85725"/>
                  <a:pt x="33338" y="85725"/>
                </a:cubicBezTo>
                <a:cubicBezTo>
                  <a:pt x="14913" y="85725"/>
                  <a:pt x="0" y="100638"/>
                  <a:pt x="0" y="119062"/>
                </a:cubicBezTo>
                <a:cubicBezTo>
                  <a:pt x="0" y="137487"/>
                  <a:pt x="14913" y="152400"/>
                  <a:pt x="33338" y="152400"/>
                </a:cubicBezTo>
                <a:cubicBezTo>
                  <a:pt x="51762" y="152400"/>
                  <a:pt x="66675" y="137487"/>
                  <a:pt x="66675" y="119062"/>
                </a:cubicBezTo>
                <a:cubicBezTo>
                  <a:pt x="66675" y="114806"/>
                  <a:pt x="65871" y="110758"/>
                  <a:pt x="64443" y="107007"/>
                </a:cubicBezTo>
                <a:lnTo>
                  <a:pt x="148590" y="22860"/>
                </a:lnTo>
                <a:cubicBezTo>
                  <a:pt x="150703" y="20747"/>
                  <a:pt x="150703" y="17353"/>
                  <a:pt x="148590" y="15240"/>
                </a:cubicBezTo>
                <a:cubicBezTo>
                  <a:pt x="140166" y="6816"/>
                  <a:pt x="126534" y="6816"/>
                  <a:pt x="118110" y="15240"/>
                </a:cubicBezTo>
                <a:lnTo>
                  <a:pt x="76200" y="57150"/>
                </a:lnTo>
                <a:lnTo>
                  <a:pt x="64443" y="45393"/>
                </a:lnTo>
                <a:cubicBezTo>
                  <a:pt x="65901" y="41642"/>
                  <a:pt x="66675" y="37594"/>
                  <a:pt x="66675" y="33338"/>
                </a:cubicBezTo>
                <a:cubicBezTo>
                  <a:pt x="66675" y="14913"/>
                  <a:pt x="51762" y="0"/>
                  <a:pt x="33338" y="0"/>
                </a:cubicBezTo>
                <a:cubicBezTo>
                  <a:pt x="14913" y="0"/>
                  <a:pt x="0" y="14913"/>
                  <a:pt x="0" y="33338"/>
                </a:cubicBezTo>
                <a:cubicBezTo>
                  <a:pt x="0" y="51762"/>
                  <a:pt x="14913" y="66675"/>
                  <a:pt x="33338" y="66675"/>
                </a:cubicBezTo>
                <a:cubicBezTo>
                  <a:pt x="37594" y="66675"/>
                  <a:pt x="41642" y="65871"/>
                  <a:pt x="45393" y="64443"/>
                </a:cubicBezTo>
                <a:lnTo>
                  <a:pt x="57150" y="76200"/>
                </a:lnTo>
                <a:close/>
                <a:moveTo>
                  <a:pt x="86291" y="105341"/>
                </a:moveTo>
                <a:lnTo>
                  <a:pt x="118110" y="137160"/>
                </a:lnTo>
                <a:cubicBezTo>
                  <a:pt x="126534" y="145584"/>
                  <a:pt x="140166" y="145584"/>
                  <a:pt x="148590" y="137160"/>
                </a:cubicBezTo>
                <a:cubicBezTo>
                  <a:pt x="150703" y="135047"/>
                  <a:pt x="150703" y="131653"/>
                  <a:pt x="148590" y="129540"/>
                </a:cubicBezTo>
                <a:lnTo>
                  <a:pt x="105341" y="86291"/>
                </a:lnTo>
                <a:lnTo>
                  <a:pt x="86291" y="105341"/>
                </a:lnTo>
                <a:close/>
                <a:moveTo>
                  <a:pt x="19050" y="33338"/>
                </a:moveTo>
                <a:cubicBezTo>
                  <a:pt x="19050" y="25452"/>
                  <a:pt x="25452" y="19050"/>
                  <a:pt x="33337" y="19050"/>
                </a:cubicBezTo>
                <a:cubicBezTo>
                  <a:pt x="41223" y="19050"/>
                  <a:pt x="47625" y="25452"/>
                  <a:pt x="47625" y="33337"/>
                </a:cubicBezTo>
                <a:cubicBezTo>
                  <a:pt x="47625" y="41223"/>
                  <a:pt x="41223" y="47625"/>
                  <a:pt x="33338" y="47625"/>
                </a:cubicBezTo>
                <a:cubicBezTo>
                  <a:pt x="25452" y="47625"/>
                  <a:pt x="19050" y="41223"/>
                  <a:pt x="19050" y="33338"/>
                </a:cubicBezTo>
                <a:close/>
                <a:moveTo>
                  <a:pt x="33338" y="104775"/>
                </a:moveTo>
                <a:cubicBezTo>
                  <a:pt x="41223" y="104775"/>
                  <a:pt x="47625" y="111177"/>
                  <a:pt x="47625" y="119062"/>
                </a:cubicBezTo>
                <a:cubicBezTo>
                  <a:pt x="47625" y="126948"/>
                  <a:pt x="41223" y="133350"/>
                  <a:pt x="33338" y="133350"/>
                </a:cubicBezTo>
                <a:cubicBezTo>
                  <a:pt x="25452" y="133350"/>
                  <a:pt x="19050" y="126948"/>
                  <a:pt x="19050" y="119062"/>
                </a:cubicBezTo>
                <a:cubicBezTo>
                  <a:pt x="19050" y="111177"/>
                  <a:pt x="25452" y="104775"/>
                  <a:pt x="33337" y="10477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3" name="Shape 61"/>
          <p:cNvSpPr/>
          <p:nvPr/>
        </p:nvSpPr>
        <p:spPr>
          <a:xfrm>
            <a:off x="9063038" y="6105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9299" y="122783"/>
                </a:moveTo>
                <a:lnTo>
                  <a:pt x="29617" y="43101"/>
                </a:lnTo>
                <a:cubicBezTo>
                  <a:pt x="22949" y="52447"/>
                  <a:pt x="19050" y="63877"/>
                  <a:pt x="19050" y="76200"/>
                </a:cubicBezTo>
                <a:cubicBezTo>
                  <a:pt x="19050" y="107752"/>
                  <a:pt x="44648" y="133350"/>
                  <a:pt x="76200" y="133350"/>
                </a:cubicBezTo>
                <a:cubicBezTo>
                  <a:pt x="88553" y="133350"/>
                  <a:pt x="99983" y="129451"/>
                  <a:pt x="109299" y="122783"/>
                </a:cubicBezTo>
                <a:close/>
                <a:moveTo>
                  <a:pt x="122783" y="109299"/>
                </a:moveTo>
                <a:cubicBezTo>
                  <a:pt x="129451" y="99953"/>
                  <a:pt x="133350" y="88523"/>
                  <a:pt x="133350" y="76200"/>
                </a:cubicBezTo>
                <a:cubicBezTo>
                  <a:pt x="133350" y="44648"/>
                  <a:pt x="107752" y="19050"/>
                  <a:pt x="76200" y="19050"/>
                </a:cubicBezTo>
                <a:cubicBezTo>
                  <a:pt x="63847" y="19050"/>
                  <a:pt x="52417" y="22949"/>
                  <a:pt x="43101" y="29617"/>
                </a:cubicBezTo>
                <a:lnTo>
                  <a:pt x="122783" y="109299"/>
                </a:ln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C2FC2AA-CDAF-BD70-34C5-B59D4D463158}"/>
              </a:ext>
            </a:extLst>
          </p:cNvPr>
          <p:cNvGrpSpPr/>
          <p:nvPr/>
        </p:nvGrpSpPr>
        <p:grpSpPr>
          <a:xfrm>
            <a:off x="385763" y="4748213"/>
            <a:ext cx="11420475" cy="1876425"/>
            <a:chOff x="385763" y="4748213"/>
            <a:chExt cx="11420475" cy="1876425"/>
          </a:xfrm>
        </p:grpSpPr>
        <p:sp>
          <p:nvSpPr>
            <p:cNvPr id="31" name="Shape 29"/>
            <p:cNvSpPr/>
            <p:nvPr/>
          </p:nvSpPr>
          <p:spPr>
            <a:xfrm>
              <a:off x="385763" y="4748213"/>
              <a:ext cx="11420475" cy="1876425"/>
            </a:xfrm>
            <a:custGeom>
              <a:avLst/>
              <a:gdLst/>
              <a:ahLst/>
              <a:cxnLst/>
              <a:rect l="l" t="t" r="r" b="b"/>
              <a:pathLst>
                <a:path w="11420475" h="1876425">
                  <a:moveTo>
                    <a:pt x="152403" y="0"/>
                  </a:moveTo>
                  <a:lnTo>
                    <a:pt x="11268072" y="0"/>
                  </a:lnTo>
                  <a:cubicBezTo>
                    <a:pt x="11352242" y="0"/>
                    <a:pt x="11420475" y="68233"/>
                    <a:pt x="11420475" y="152403"/>
                  </a:cubicBezTo>
                  <a:lnTo>
                    <a:pt x="11420475" y="1724022"/>
                  </a:lnTo>
                  <a:cubicBezTo>
                    <a:pt x="11420475" y="1808192"/>
                    <a:pt x="11352242" y="1876425"/>
                    <a:pt x="11268072" y="1876425"/>
                  </a:cubicBezTo>
                  <a:lnTo>
                    <a:pt x="152403" y="1876425"/>
                  </a:lnTo>
                  <a:cubicBezTo>
                    <a:pt x="68233" y="1876425"/>
                    <a:pt x="0" y="1808192"/>
                    <a:pt x="0" y="1724022"/>
                  </a:cubicBezTo>
                  <a:lnTo>
                    <a:pt x="0" y="152403"/>
                  </a:lnTo>
                  <a:cubicBezTo>
                    <a:pt x="0" y="68290"/>
                    <a:pt x="68290" y="0"/>
                    <a:pt x="152403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642938" y="501967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49783" y="13506"/>
                  </a:moveTo>
                  <a:cubicBezTo>
                    <a:pt x="53839" y="16334"/>
                    <a:pt x="54806" y="21915"/>
                    <a:pt x="51978" y="25933"/>
                  </a:cubicBezTo>
                  <a:lnTo>
                    <a:pt x="31142" y="55699"/>
                  </a:lnTo>
                  <a:cubicBezTo>
                    <a:pt x="29617" y="57857"/>
                    <a:pt x="27236" y="59234"/>
                    <a:pt x="24594" y="59457"/>
                  </a:cubicBezTo>
                  <a:cubicBezTo>
                    <a:pt x="21952" y="59680"/>
                    <a:pt x="19348" y="58787"/>
                    <a:pt x="17487" y="56927"/>
                  </a:cubicBezTo>
                  <a:lnTo>
                    <a:pt x="2604" y="42044"/>
                  </a:lnTo>
                  <a:cubicBezTo>
                    <a:pt x="-856" y="38546"/>
                    <a:pt x="-856" y="32891"/>
                    <a:pt x="2604" y="29394"/>
                  </a:cubicBezTo>
                  <a:cubicBezTo>
                    <a:pt x="6065" y="25896"/>
                    <a:pt x="11757" y="25933"/>
                    <a:pt x="15255" y="29394"/>
                  </a:cubicBezTo>
                  <a:lnTo>
                    <a:pt x="22622" y="36761"/>
                  </a:lnTo>
                  <a:lnTo>
                    <a:pt x="37356" y="15701"/>
                  </a:lnTo>
                  <a:cubicBezTo>
                    <a:pt x="40184" y="11646"/>
                    <a:pt x="45765" y="10678"/>
                    <a:pt x="49783" y="13506"/>
                  </a:cubicBezTo>
                  <a:close/>
                  <a:moveTo>
                    <a:pt x="49783" y="73037"/>
                  </a:moveTo>
                  <a:cubicBezTo>
                    <a:pt x="53839" y="75865"/>
                    <a:pt x="54806" y="81446"/>
                    <a:pt x="51978" y="85465"/>
                  </a:cubicBezTo>
                  <a:lnTo>
                    <a:pt x="31142" y="115230"/>
                  </a:lnTo>
                  <a:cubicBezTo>
                    <a:pt x="29617" y="117388"/>
                    <a:pt x="27236" y="118765"/>
                    <a:pt x="24594" y="118988"/>
                  </a:cubicBezTo>
                  <a:cubicBezTo>
                    <a:pt x="21952" y="119211"/>
                    <a:pt x="19348" y="118318"/>
                    <a:pt x="17487" y="116458"/>
                  </a:cubicBezTo>
                  <a:lnTo>
                    <a:pt x="2604" y="101575"/>
                  </a:lnTo>
                  <a:cubicBezTo>
                    <a:pt x="-893" y="98078"/>
                    <a:pt x="-893" y="92422"/>
                    <a:pt x="2604" y="88962"/>
                  </a:cubicBezTo>
                  <a:cubicBezTo>
                    <a:pt x="6102" y="85502"/>
                    <a:pt x="11757" y="85465"/>
                    <a:pt x="15218" y="88962"/>
                  </a:cubicBezTo>
                  <a:lnTo>
                    <a:pt x="22585" y="96329"/>
                  </a:lnTo>
                  <a:lnTo>
                    <a:pt x="37319" y="75270"/>
                  </a:lnTo>
                  <a:cubicBezTo>
                    <a:pt x="40146" y="71214"/>
                    <a:pt x="45727" y="70247"/>
                    <a:pt x="49746" y="73075"/>
                  </a:cubicBezTo>
                  <a:close/>
                  <a:moveTo>
                    <a:pt x="83344" y="35719"/>
                  </a:moveTo>
                  <a:cubicBezTo>
                    <a:pt x="83344" y="29133"/>
                    <a:pt x="88664" y="23812"/>
                    <a:pt x="95250" y="23812"/>
                  </a:cubicBezTo>
                  <a:lnTo>
                    <a:pt x="178594" y="23812"/>
                  </a:lnTo>
                  <a:cubicBezTo>
                    <a:pt x="185179" y="23812"/>
                    <a:pt x="190500" y="29133"/>
                    <a:pt x="190500" y="35719"/>
                  </a:cubicBezTo>
                  <a:cubicBezTo>
                    <a:pt x="190500" y="42304"/>
                    <a:pt x="185179" y="47625"/>
                    <a:pt x="178594" y="47625"/>
                  </a:cubicBezTo>
                  <a:lnTo>
                    <a:pt x="95250" y="47625"/>
                  </a:lnTo>
                  <a:cubicBezTo>
                    <a:pt x="88664" y="47625"/>
                    <a:pt x="83344" y="42304"/>
                    <a:pt x="83344" y="35719"/>
                  </a:cubicBezTo>
                  <a:close/>
                  <a:moveTo>
                    <a:pt x="83344" y="95250"/>
                  </a:moveTo>
                  <a:cubicBezTo>
                    <a:pt x="83344" y="88664"/>
                    <a:pt x="88664" y="83344"/>
                    <a:pt x="95250" y="83344"/>
                  </a:cubicBezTo>
                  <a:lnTo>
                    <a:pt x="178594" y="83344"/>
                  </a:lnTo>
                  <a:cubicBezTo>
                    <a:pt x="185179" y="83344"/>
                    <a:pt x="190500" y="88664"/>
                    <a:pt x="190500" y="95250"/>
                  </a:cubicBezTo>
                  <a:cubicBezTo>
                    <a:pt x="190500" y="101836"/>
                    <a:pt x="185179" y="107156"/>
                    <a:pt x="178594" y="107156"/>
                  </a:cubicBezTo>
                  <a:lnTo>
                    <a:pt x="95250" y="107156"/>
                  </a:lnTo>
                  <a:cubicBezTo>
                    <a:pt x="88664" y="107156"/>
                    <a:pt x="83344" y="101836"/>
                    <a:pt x="83344" y="95250"/>
                  </a:cubicBezTo>
                  <a:close/>
                  <a:moveTo>
                    <a:pt x="59531" y="154781"/>
                  </a:moveTo>
                  <a:cubicBezTo>
                    <a:pt x="59531" y="148196"/>
                    <a:pt x="64852" y="142875"/>
                    <a:pt x="71438" y="142875"/>
                  </a:cubicBezTo>
                  <a:lnTo>
                    <a:pt x="178594" y="142875"/>
                  </a:lnTo>
                  <a:cubicBezTo>
                    <a:pt x="185179" y="142875"/>
                    <a:pt x="190500" y="148196"/>
                    <a:pt x="190500" y="154781"/>
                  </a:cubicBezTo>
                  <a:cubicBezTo>
                    <a:pt x="190500" y="161367"/>
                    <a:pt x="185179" y="166688"/>
                    <a:pt x="178594" y="166688"/>
                  </a:cubicBezTo>
                  <a:lnTo>
                    <a:pt x="71438" y="166688"/>
                  </a:lnTo>
                  <a:cubicBezTo>
                    <a:pt x="64852" y="166688"/>
                    <a:pt x="59531" y="161367"/>
                    <a:pt x="59531" y="154781"/>
                  </a:cubicBezTo>
                  <a:close/>
                  <a:moveTo>
                    <a:pt x="23812" y="139898"/>
                  </a:moveTo>
                  <a:cubicBezTo>
                    <a:pt x="32027" y="139898"/>
                    <a:pt x="38695" y="146567"/>
                    <a:pt x="38695" y="154781"/>
                  </a:cubicBezTo>
                  <a:cubicBezTo>
                    <a:pt x="38695" y="162995"/>
                    <a:pt x="32027" y="169664"/>
                    <a:pt x="23812" y="169664"/>
                  </a:cubicBezTo>
                  <a:cubicBezTo>
                    <a:pt x="15598" y="169664"/>
                    <a:pt x="8930" y="162995"/>
                    <a:pt x="8930" y="154781"/>
                  </a:cubicBezTo>
                  <a:cubicBezTo>
                    <a:pt x="8930" y="146567"/>
                    <a:pt x="15598" y="139898"/>
                    <a:pt x="23812" y="139898"/>
                  </a:cubicBezTo>
                  <a:close/>
                </a:path>
              </a:pathLst>
            </a:custGeom>
            <a:solidFill>
              <a:srgbClr val="0071E3"/>
            </a:solidFill>
            <a:ln/>
          </p:spPr>
        </p:sp>
        <p:sp>
          <p:nvSpPr>
            <p:cNvPr id="33" name="Text 31"/>
            <p:cNvSpPr/>
            <p:nvPr/>
          </p:nvSpPr>
          <p:spPr>
            <a:xfrm>
              <a:off x="857250" y="4981575"/>
              <a:ext cx="1081087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1D1D1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Preprocessing Steps Applied</a:t>
              </a:r>
              <a:endParaRPr lang="en-US" sz="16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619125" y="541972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0071E3">
                <a:alpha val="10196"/>
              </a:srgbClr>
            </a:solidFill>
            <a:ln/>
          </p:spPr>
        </p:sp>
        <p:sp>
          <p:nvSpPr>
            <p:cNvPr id="36" name="Text 34"/>
            <p:cNvSpPr/>
            <p:nvPr/>
          </p:nvSpPr>
          <p:spPr>
            <a:xfrm>
              <a:off x="1114425" y="5400675"/>
              <a:ext cx="10287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D1D1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Lowercasing</a:t>
              </a:r>
              <a:endParaRPr lang="en-US" sz="16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1114425" y="5629275"/>
              <a:ext cx="10191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86868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Standardize text</a:t>
              </a:r>
              <a:endParaRPr lang="en-US" sz="16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3395663" y="541972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0071E3">
                <a:alpha val="10196"/>
              </a:srgbClr>
            </a:solidFill>
            <a:ln/>
          </p:spPr>
        </p:sp>
        <p:sp>
          <p:nvSpPr>
            <p:cNvPr id="40" name="Text 38"/>
            <p:cNvSpPr/>
            <p:nvPr/>
          </p:nvSpPr>
          <p:spPr>
            <a:xfrm>
              <a:off x="3890962" y="5400675"/>
              <a:ext cx="9715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D1D1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URL Removal</a:t>
              </a:r>
              <a:endParaRPr lang="en-US" sz="16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3890962" y="5629275"/>
              <a:ext cx="9620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86868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Remove links</a:t>
              </a:r>
              <a:endParaRPr lang="en-US" sz="16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6172200" y="541972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0071E3">
                <a:alpha val="10196"/>
              </a:srgbClr>
            </a:solidFill>
            <a:ln/>
          </p:spPr>
        </p:sp>
        <p:sp>
          <p:nvSpPr>
            <p:cNvPr id="44" name="Text 42"/>
            <p:cNvSpPr/>
            <p:nvPr/>
          </p:nvSpPr>
          <p:spPr>
            <a:xfrm>
              <a:off x="6667500" y="5400675"/>
              <a:ext cx="124777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D1D1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Mention Removal</a:t>
              </a:r>
              <a:endParaRPr lang="en-US" sz="16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6667500" y="5629275"/>
              <a:ext cx="12382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86868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Remove @user</a:t>
              </a:r>
              <a:endParaRPr lang="en-US" sz="160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9063038" y="553402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63907" y="208"/>
                  </a:moveTo>
                  <a:cubicBezTo>
                    <a:pt x="69056" y="1310"/>
                    <a:pt x="72330" y="6370"/>
                    <a:pt x="71229" y="11519"/>
                  </a:cubicBezTo>
                  <a:lnTo>
                    <a:pt x="65544" y="38100"/>
                  </a:lnTo>
                  <a:lnTo>
                    <a:pt x="103197" y="38100"/>
                  </a:lnTo>
                  <a:lnTo>
                    <a:pt x="109746" y="7531"/>
                  </a:lnTo>
                  <a:cubicBezTo>
                    <a:pt x="110847" y="2381"/>
                    <a:pt x="115907" y="-893"/>
                    <a:pt x="121057" y="208"/>
                  </a:cubicBezTo>
                  <a:cubicBezTo>
                    <a:pt x="126206" y="1310"/>
                    <a:pt x="129480" y="6370"/>
                    <a:pt x="128379" y="11519"/>
                  </a:cubicBezTo>
                  <a:lnTo>
                    <a:pt x="122694" y="38100"/>
                  </a:lnTo>
                  <a:lnTo>
                    <a:pt x="142875" y="38100"/>
                  </a:lnTo>
                  <a:cubicBezTo>
                    <a:pt x="148144" y="38100"/>
                    <a:pt x="152400" y="42356"/>
                    <a:pt x="152400" y="47625"/>
                  </a:cubicBezTo>
                  <a:cubicBezTo>
                    <a:pt x="152400" y="52894"/>
                    <a:pt x="148144" y="57150"/>
                    <a:pt x="142875" y="57150"/>
                  </a:cubicBezTo>
                  <a:lnTo>
                    <a:pt x="118586" y="57150"/>
                  </a:lnTo>
                  <a:lnTo>
                    <a:pt x="110430" y="95250"/>
                  </a:lnTo>
                  <a:lnTo>
                    <a:pt x="130612" y="95250"/>
                  </a:lnTo>
                  <a:cubicBezTo>
                    <a:pt x="135880" y="95250"/>
                    <a:pt x="140137" y="99506"/>
                    <a:pt x="140137" y="104775"/>
                  </a:cubicBezTo>
                  <a:cubicBezTo>
                    <a:pt x="140137" y="110044"/>
                    <a:pt x="135880" y="114300"/>
                    <a:pt x="130612" y="114300"/>
                  </a:cubicBezTo>
                  <a:lnTo>
                    <a:pt x="106323" y="114300"/>
                  </a:lnTo>
                  <a:lnTo>
                    <a:pt x="99774" y="144869"/>
                  </a:lnTo>
                  <a:cubicBezTo>
                    <a:pt x="98673" y="150019"/>
                    <a:pt x="93613" y="153293"/>
                    <a:pt x="88463" y="152192"/>
                  </a:cubicBezTo>
                  <a:cubicBezTo>
                    <a:pt x="83314" y="151090"/>
                    <a:pt x="80040" y="146030"/>
                    <a:pt x="81141" y="140881"/>
                  </a:cubicBezTo>
                  <a:lnTo>
                    <a:pt x="86826" y="114300"/>
                  </a:lnTo>
                  <a:lnTo>
                    <a:pt x="49173" y="114300"/>
                  </a:lnTo>
                  <a:lnTo>
                    <a:pt x="42624" y="144869"/>
                  </a:lnTo>
                  <a:cubicBezTo>
                    <a:pt x="41523" y="150019"/>
                    <a:pt x="36463" y="153293"/>
                    <a:pt x="31313" y="152192"/>
                  </a:cubicBezTo>
                  <a:cubicBezTo>
                    <a:pt x="26164" y="151090"/>
                    <a:pt x="22890" y="146030"/>
                    <a:pt x="23991" y="140881"/>
                  </a:cubicBezTo>
                  <a:lnTo>
                    <a:pt x="29706" y="114300"/>
                  </a:lnTo>
                  <a:lnTo>
                    <a:pt x="9525" y="114300"/>
                  </a:lnTo>
                  <a:cubicBezTo>
                    <a:pt x="4256" y="114300"/>
                    <a:pt x="0" y="110044"/>
                    <a:pt x="0" y="104775"/>
                  </a:cubicBezTo>
                  <a:cubicBezTo>
                    <a:pt x="0" y="99506"/>
                    <a:pt x="4256" y="95250"/>
                    <a:pt x="9525" y="95250"/>
                  </a:cubicBezTo>
                  <a:lnTo>
                    <a:pt x="33814" y="95250"/>
                  </a:lnTo>
                  <a:lnTo>
                    <a:pt x="41970" y="57150"/>
                  </a:lnTo>
                  <a:lnTo>
                    <a:pt x="21788" y="57150"/>
                  </a:lnTo>
                  <a:cubicBezTo>
                    <a:pt x="16520" y="57150"/>
                    <a:pt x="12263" y="52894"/>
                    <a:pt x="12263" y="47625"/>
                  </a:cubicBezTo>
                  <a:cubicBezTo>
                    <a:pt x="12263" y="42356"/>
                    <a:pt x="16520" y="38100"/>
                    <a:pt x="21788" y="38100"/>
                  </a:cubicBezTo>
                  <a:lnTo>
                    <a:pt x="46077" y="38100"/>
                  </a:lnTo>
                  <a:lnTo>
                    <a:pt x="52626" y="7531"/>
                  </a:lnTo>
                  <a:cubicBezTo>
                    <a:pt x="53697" y="2381"/>
                    <a:pt x="58757" y="-893"/>
                    <a:pt x="63907" y="208"/>
                  </a:cubicBezTo>
                  <a:close/>
                  <a:moveTo>
                    <a:pt x="61436" y="57150"/>
                  </a:moveTo>
                  <a:lnTo>
                    <a:pt x="53280" y="95250"/>
                  </a:lnTo>
                  <a:lnTo>
                    <a:pt x="90934" y="95250"/>
                  </a:lnTo>
                  <a:lnTo>
                    <a:pt x="99090" y="57150"/>
                  </a:lnTo>
                  <a:lnTo>
                    <a:pt x="61436" y="57150"/>
                  </a:lnTo>
                  <a:close/>
                </a:path>
              </a:pathLst>
            </a:custGeom>
            <a:solidFill>
              <a:srgbClr val="0071E3"/>
            </a:solidFill>
            <a:ln/>
          </p:spPr>
        </p:sp>
        <p:sp>
          <p:nvSpPr>
            <p:cNvPr id="48" name="Text 46"/>
            <p:cNvSpPr/>
            <p:nvPr/>
          </p:nvSpPr>
          <p:spPr>
            <a:xfrm>
              <a:off x="9444038" y="5400675"/>
              <a:ext cx="12573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D1D1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Hashtag Removal</a:t>
              </a:r>
              <a:endParaRPr lang="en-US" sz="160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9444038" y="5629275"/>
              <a:ext cx="12477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86868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Remove #tags</a:t>
              </a:r>
              <a:endParaRPr lang="en-US" sz="1600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619125" y="599122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0071E3">
                <a:alpha val="10196"/>
              </a:srgbClr>
            </a:solidFill>
            <a:ln/>
          </p:spPr>
        </p:sp>
        <p:sp>
          <p:nvSpPr>
            <p:cNvPr id="52" name="Text 50"/>
            <p:cNvSpPr/>
            <p:nvPr/>
          </p:nvSpPr>
          <p:spPr>
            <a:xfrm>
              <a:off x="1114425" y="5972175"/>
              <a:ext cx="14954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D1D1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Punctuation Removal</a:t>
              </a:r>
              <a:endParaRPr lang="en-US" sz="1600" dirty="0"/>
            </a:p>
          </p:txBody>
        </p:sp>
        <p:sp>
          <p:nvSpPr>
            <p:cNvPr id="53" name="Text 51"/>
            <p:cNvSpPr/>
            <p:nvPr/>
          </p:nvSpPr>
          <p:spPr>
            <a:xfrm>
              <a:off x="1114425" y="6200775"/>
              <a:ext cx="1485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86868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Clean symbols</a:t>
              </a:r>
              <a:endParaRPr lang="en-US" sz="1600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3395663" y="599122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0071E3">
                <a:alpha val="10196"/>
              </a:srgbClr>
            </a:solidFill>
            <a:ln/>
          </p:spPr>
        </p:sp>
        <p:sp>
          <p:nvSpPr>
            <p:cNvPr id="56" name="Text 54"/>
            <p:cNvSpPr/>
            <p:nvPr/>
          </p:nvSpPr>
          <p:spPr>
            <a:xfrm>
              <a:off x="3890962" y="5972175"/>
              <a:ext cx="12382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D1D1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Number Removal</a:t>
              </a:r>
              <a:endParaRPr lang="en-US" sz="1600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3890962" y="6200775"/>
              <a:ext cx="12287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86868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Remove digits</a:t>
              </a:r>
              <a:endParaRPr lang="en-US" sz="1600" dirty="0"/>
            </a:p>
          </p:txBody>
        </p:sp>
        <p:sp>
          <p:nvSpPr>
            <p:cNvPr id="58" name="Shape 56"/>
            <p:cNvSpPr/>
            <p:nvPr/>
          </p:nvSpPr>
          <p:spPr>
            <a:xfrm>
              <a:off x="6172200" y="599122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0071E3">
                <a:alpha val="10196"/>
              </a:srgbClr>
            </a:solidFill>
            <a:ln/>
          </p:spPr>
        </p:sp>
        <p:sp>
          <p:nvSpPr>
            <p:cNvPr id="60" name="Text 58"/>
            <p:cNvSpPr/>
            <p:nvPr/>
          </p:nvSpPr>
          <p:spPr>
            <a:xfrm>
              <a:off x="6667500" y="5972175"/>
              <a:ext cx="98107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D1D1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Tokenization</a:t>
              </a:r>
              <a:endParaRPr lang="en-US" sz="1600" dirty="0"/>
            </a:p>
          </p:txBody>
        </p:sp>
        <p:sp>
          <p:nvSpPr>
            <p:cNvPr id="61" name="Text 59"/>
            <p:cNvSpPr/>
            <p:nvPr/>
          </p:nvSpPr>
          <p:spPr>
            <a:xfrm>
              <a:off x="6667500" y="6200775"/>
              <a:ext cx="9715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86868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Split into words</a:t>
              </a:r>
              <a:endParaRPr lang="en-US" sz="1600" dirty="0"/>
            </a:p>
          </p:txBody>
        </p:sp>
        <p:sp>
          <p:nvSpPr>
            <p:cNvPr id="62" name="Shape 60"/>
            <p:cNvSpPr/>
            <p:nvPr/>
          </p:nvSpPr>
          <p:spPr>
            <a:xfrm>
              <a:off x="8948738" y="599122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0071E3">
                <a:alpha val="10196"/>
              </a:srgbClr>
            </a:solidFill>
            <a:ln/>
          </p:spPr>
        </p:sp>
        <p:sp>
          <p:nvSpPr>
            <p:cNvPr id="64" name="Text 62"/>
            <p:cNvSpPr/>
            <p:nvPr/>
          </p:nvSpPr>
          <p:spPr>
            <a:xfrm>
              <a:off x="9444038" y="5972175"/>
              <a:ext cx="14954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D1D1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Stopword Removal</a:t>
              </a:r>
              <a:endParaRPr lang="en-US" sz="1600" dirty="0"/>
            </a:p>
          </p:txBody>
        </p:sp>
        <p:sp>
          <p:nvSpPr>
            <p:cNvPr id="65" name="Text 63"/>
            <p:cNvSpPr/>
            <p:nvPr/>
          </p:nvSpPr>
          <p:spPr>
            <a:xfrm>
              <a:off x="9444038" y="6200775"/>
              <a:ext cx="1485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86868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Remove common words</a:t>
              </a:r>
              <a:endParaRPr lang="en-US" sz="1600" dirty="0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D0D63F4-22C1-3737-B034-85A20CBE2D25}"/>
              </a:ext>
            </a:extLst>
          </p:cNvPr>
          <p:cNvGrpSpPr/>
          <p:nvPr/>
        </p:nvGrpSpPr>
        <p:grpSpPr>
          <a:xfrm>
            <a:off x="4247621" y="1257300"/>
            <a:ext cx="3648075" cy="3281364"/>
            <a:chOff x="4271963" y="1262063"/>
            <a:chExt cx="3648075" cy="3286125"/>
          </a:xfrm>
        </p:grpSpPr>
        <p:sp>
          <p:nvSpPr>
            <p:cNvPr id="73" name="Shape 11">
              <a:extLst>
                <a:ext uri="{FF2B5EF4-FFF2-40B4-BE49-F238E27FC236}">
                  <a16:creationId xmlns:a16="http://schemas.microsoft.com/office/drawing/2014/main" id="{F943F282-AEA6-B3B0-9021-4B5AE993A803}"/>
                </a:ext>
              </a:extLst>
            </p:cNvPr>
            <p:cNvSpPr/>
            <p:nvPr/>
          </p:nvSpPr>
          <p:spPr>
            <a:xfrm>
              <a:off x="4271963" y="1262063"/>
              <a:ext cx="3648075" cy="3286125"/>
            </a:xfrm>
            <a:custGeom>
              <a:avLst/>
              <a:gdLst/>
              <a:ahLst/>
              <a:cxnLst/>
              <a:rect l="l" t="t" r="r" b="b"/>
              <a:pathLst>
                <a:path w="3648075" h="3286125">
                  <a:moveTo>
                    <a:pt x="152410" y="0"/>
                  </a:moveTo>
                  <a:lnTo>
                    <a:pt x="3495665" y="0"/>
                  </a:lnTo>
                  <a:cubicBezTo>
                    <a:pt x="3579839" y="0"/>
                    <a:pt x="3648075" y="68236"/>
                    <a:pt x="3648075" y="152410"/>
                  </a:cubicBezTo>
                  <a:lnTo>
                    <a:pt x="3648075" y="3133715"/>
                  </a:lnTo>
                  <a:cubicBezTo>
                    <a:pt x="3648075" y="3217889"/>
                    <a:pt x="3579839" y="3286125"/>
                    <a:pt x="3495665" y="3286125"/>
                  </a:cubicBezTo>
                  <a:lnTo>
                    <a:pt x="152410" y="3286125"/>
                  </a:lnTo>
                  <a:cubicBezTo>
                    <a:pt x="68236" y="3286125"/>
                    <a:pt x="0" y="3217889"/>
                    <a:pt x="0" y="3133715"/>
                  </a:cubicBezTo>
                  <a:lnTo>
                    <a:pt x="0" y="152410"/>
                  </a:lnTo>
                  <a:cubicBezTo>
                    <a:pt x="0" y="68293"/>
                    <a:pt x="68293" y="0"/>
                    <a:pt x="152410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" name="Shape 12">
              <a:extLst>
                <a:ext uri="{FF2B5EF4-FFF2-40B4-BE49-F238E27FC236}">
                  <a16:creationId xmlns:a16="http://schemas.microsoft.com/office/drawing/2014/main" id="{0C2C5B20-175D-EF1A-AB35-216DDC68B41F}"/>
                </a:ext>
              </a:extLst>
            </p:cNvPr>
            <p:cNvSpPr/>
            <p:nvPr/>
          </p:nvSpPr>
          <p:spPr>
            <a:xfrm>
              <a:off x="4505325" y="1495425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0071E3"/>
            </a:solidFill>
            <a:ln/>
          </p:spPr>
        </p:sp>
        <p:sp>
          <p:nvSpPr>
            <p:cNvPr id="75" name="Shape 13">
              <a:extLst>
                <a:ext uri="{FF2B5EF4-FFF2-40B4-BE49-F238E27FC236}">
                  <a16:creationId xmlns:a16="http://schemas.microsoft.com/office/drawing/2014/main" id="{5F2BBE29-C696-AEDF-28B5-5B36E4D2504E}"/>
                </a:ext>
              </a:extLst>
            </p:cNvPr>
            <p:cNvSpPr/>
            <p:nvPr/>
          </p:nvSpPr>
          <p:spPr>
            <a:xfrm>
              <a:off x="4657725" y="164782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64428" y="0"/>
                  </a:moveTo>
                  <a:lnTo>
                    <a:pt x="164440" y="0"/>
                  </a:lnTo>
                  <a:cubicBezTo>
                    <a:pt x="176272" y="0"/>
                    <a:pt x="185916" y="9733"/>
                    <a:pt x="185470" y="21521"/>
                  </a:cubicBezTo>
                  <a:cubicBezTo>
                    <a:pt x="185380" y="23887"/>
                    <a:pt x="185291" y="26253"/>
                    <a:pt x="185157" y="28575"/>
                  </a:cubicBezTo>
                  <a:lnTo>
                    <a:pt x="207303" y="28575"/>
                  </a:lnTo>
                  <a:cubicBezTo>
                    <a:pt x="218956" y="28575"/>
                    <a:pt x="229225" y="38219"/>
                    <a:pt x="228332" y="50810"/>
                  </a:cubicBezTo>
                  <a:cubicBezTo>
                    <a:pt x="224983" y="97110"/>
                    <a:pt x="201320" y="122560"/>
                    <a:pt x="175647" y="135865"/>
                  </a:cubicBezTo>
                  <a:cubicBezTo>
                    <a:pt x="168593" y="139526"/>
                    <a:pt x="161404" y="142250"/>
                    <a:pt x="154573" y="144259"/>
                  </a:cubicBezTo>
                  <a:cubicBezTo>
                    <a:pt x="145554" y="157029"/>
                    <a:pt x="136178" y="163770"/>
                    <a:pt x="128721" y="167387"/>
                  </a:cubicBezTo>
                  <a:lnTo>
                    <a:pt x="128721" y="200025"/>
                  </a:lnTo>
                  <a:lnTo>
                    <a:pt x="157296" y="200025"/>
                  </a:lnTo>
                  <a:cubicBezTo>
                    <a:pt x="165199" y="200025"/>
                    <a:pt x="171584" y="206410"/>
                    <a:pt x="171584" y="214313"/>
                  </a:cubicBezTo>
                  <a:cubicBezTo>
                    <a:pt x="171584" y="222215"/>
                    <a:pt x="165199" y="228600"/>
                    <a:pt x="157296" y="228600"/>
                  </a:cubicBezTo>
                  <a:lnTo>
                    <a:pt x="71571" y="228600"/>
                  </a:lnTo>
                  <a:cubicBezTo>
                    <a:pt x="63669" y="228600"/>
                    <a:pt x="57284" y="222215"/>
                    <a:pt x="57284" y="214313"/>
                  </a:cubicBezTo>
                  <a:cubicBezTo>
                    <a:pt x="57284" y="206410"/>
                    <a:pt x="63669" y="200025"/>
                    <a:pt x="71571" y="200025"/>
                  </a:cubicBezTo>
                  <a:lnTo>
                    <a:pt x="100146" y="200025"/>
                  </a:lnTo>
                  <a:lnTo>
                    <a:pt x="100146" y="167387"/>
                  </a:lnTo>
                  <a:cubicBezTo>
                    <a:pt x="93003" y="163949"/>
                    <a:pt x="84118" y="157564"/>
                    <a:pt x="75456" y="145822"/>
                  </a:cubicBezTo>
                  <a:cubicBezTo>
                    <a:pt x="67241" y="143679"/>
                    <a:pt x="58311" y="140419"/>
                    <a:pt x="49604" y="135508"/>
                  </a:cubicBezTo>
                  <a:cubicBezTo>
                    <a:pt x="25450" y="121980"/>
                    <a:pt x="3661" y="96485"/>
                    <a:pt x="536" y="50721"/>
                  </a:cubicBezTo>
                  <a:cubicBezTo>
                    <a:pt x="-313" y="38174"/>
                    <a:pt x="9912" y="28530"/>
                    <a:pt x="21565" y="28530"/>
                  </a:cubicBezTo>
                  <a:lnTo>
                    <a:pt x="43711" y="28530"/>
                  </a:lnTo>
                  <a:cubicBezTo>
                    <a:pt x="43577" y="26209"/>
                    <a:pt x="43488" y="23887"/>
                    <a:pt x="43398" y="21476"/>
                  </a:cubicBezTo>
                  <a:cubicBezTo>
                    <a:pt x="42952" y="9644"/>
                    <a:pt x="52596" y="-45"/>
                    <a:pt x="64428" y="-45"/>
                  </a:cubicBezTo>
                  <a:close/>
                  <a:moveTo>
                    <a:pt x="45318" y="50006"/>
                  </a:moveTo>
                  <a:lnTo>
                    <a:pt x="21922" y="50006"/>
                  </a:lnTo>
                  <a:cubicBezTo>
                    <a:pt x="24691" y="87823"/>
                    <a:pt x="42059" y="106754"/>
                    <a:pt x="59963" y="116800"/>
                  </a:cubicBezTo>
                  <a:cubicBezTo>
                    <a:pt x="53533" y="100146"/>
                    <a:pt x="48220" y="78403"/>
                    <a:pt x="45318" y="50006"/>
                  </a:cubicBezTo>
                  <a:close/>
                  <a:moveTo>
                    <a:pt x="169664" y="114657"/>
                  </a:moveTo>
                  <a:cubicBezTo>
                    <a:pt x="187747" y="104031"/>
                    <a:pt x="204088" y="85145"/>
                    <a:pt x="206856" y="50006"/>
                  </a:cubicBezTo>
                  <a:lnTo>
                    <a:pt x="183505" y="50006"/>
                  </a:lnTo>
                  <a:cubicBezTo>
                    <a:pt x="180737" y="77197"/>
                    <a:pt x="175736" y="98316"/>
                    <a:pt x="169664" y="114657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76" name="Text 14">
              <a:extLst>
                <a:ext uri="{FF2B5EF4-FFF2-40B4-BE49-F238E27FC236}">
                  <a16:creationId xmlns:a16="http://schemas.microsoft.com/office/drawing/2014/main" id="{8912F17D-C6B1-F25E-A0C3-8C37CF1C3FC3}"/>
                </a:ext>
              </a:extLst>
            </p:cNvPr>
            <p:cNvSpPr/>
            <p:nvPr/>
          </p:nvSpPr>
          <p:spPr>
            <a:xfrm>
              <a:off x="5191125" y="1533525"/>
              <a:ext cx="1752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1D1D1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Model Performance</a:t>
              </a:r>
              <a:endParaRPr lang="en-US" sz="1600" dirty="0"/>
            </a:p>
          </p:txBody>
        </p:sp>
        <p:sp>
          <p:nvSpPr>
            <p:cNvPr id="77" name="Text 15">
              <a:extLst>
                <a:ext uri="{FF2B5EF4-FFF2-40B4-BE49-F238E27FC236}">
                  <a16:creationId xmlns:a16="http://schemas.microsoft.com/office/drawing/2014/main" id="{DBEF1B1B-CC67-7BC3-042B-607EB1937F26}"/>
                </a:ext>
              </a:extLst>
            </p:cNvPr>
            <p:cNvSpPr/>
            <p:nvPr/>
          </p:nvSpPr>
          <p:spPr>
            <a:xfrm>
              <a:off x="5191125" y="1800225"/>
              <a:ext cx="17240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86868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Insight 02</a:t>
              </a:r>
              <a:endParaRPr lang="en-US" sz="1600" dirty="0"/>
            </a:p>
          </p:txBody>
        </p:sp>
        <p:sp>
          <p:nvSpPr>
            <p:cNvPr id="78" name="Text 16">
              <a:extLst>
                <a:ext uri="{FF2B5EF4-FFF2-40B4-BE49-F238E27FC236}">
                  <a16:creationId xmlns:a16="http://schemas.microsoft.com/office/drawing/2014/main" id="{08209E8A-1827-D0D7-9EF8-8CED29E63D44}"/>
                </a:ext>
              </a:extLst>
            </p:cNvPr>
            <p:cNvSpPr/>
            <p:nvPr/>
          </p:nvSpPr>
          <p:spPr>
            <a:xfrm>
              <a:off x="4505325" y="2181225"/>
              <a:ext cx="3257550" cy="7429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200" dirty="0">
                  <a:solidFill>
                    <a:srgbClr val="86868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Among the models tested, </a:t>
              </a:r>
              <a:r>
                <a:rPr lang="en-US" sz="1200" b="1" dirty="0">
                  <a:solidFill>
                    <a:srgbClr val="1D1D1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Linear SVC performed the best</a:t>
              </a:r>
              <a:r>
                <a:rPr lang="en-US" sz="1200" dirty="0">
                  <a:solidFill>
                    <a:srgbClr val="86868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, achieving the highest accuracy and macro F1 score.</a:t>
              </a:r>
              <a:endParaRPr lang="en-US" sz="1600" dirty="0"/>
            </a:p>
          </p:txBody>
        </p:sp>
        <p:sp>
          <p:nvSpPr>
            <p:cNvPr id="79" name="Shape 17">
              <a:extLst>
                <a:ext uri="{FF2B5EF4-FFF2-40B4-BE49-F238E27FC236}">
                  <a16:creationId xmlns:a16="http://schemas.microsoft.com/office/drawing/2014/main" id="{336306B1-A441-F2F9-52A9-801024E1FB42}"/>
                </a:ext>
              </a:extLst>
            </p:cNvPr>
            <p:cNvSpPr/>
            <p:nvPr/>
          </p:nvSpPr>
          <p:spPr>
            <a:xfrm>
              <a:off x="4510088" y="3081338"/>
              <a:ext cx="3171825" cy="1228725"/>
            </a:xfrm>
            <a:custGeom>
              <a:avLst/>
              <a:gdLst/>
              <a:ahLst/>
              <a:cxnLst/>
              <a:rect l="l" t="t" r="r" b="b"/>
              <a:pathLst>
                <a:path w="3171825" h="1228725">
                  <a:moveTo>
                    <a:pt x="114296" y="0"/>
                  </a:moveTo>
                  <a:lnTo>
                    <a:pt x="3057529" y="0"/>
                  </a:lnTo>
                  <a:cubicBezTo>
                    <a:pt x="3120653" y="0"/>
                    <a:pt x="3171825" y="51172"/>
                    <a:pt x="3171825" y="114296"/>
                  </a:cubicBezTo>
                  <a:lnTo>
                    <a:pt x="3171825" y="1114429"/>
                  </a:lnTo>
                  <a:cubicBezTo>
                    <a:pt x="3171825" y="1177553"/>
                    <a:pt x="3120653" y="1228725"/>
                    <a:pt x="3057529" y="1228725"/>
                  </a:cubicBezTo>
                  <a:lnTo>
                    <a:pt x="114296" y="1228725"/>
                  </a:lnTo>
                  <a:cubicBezTo>
                    <a:pt x="51172" y="1228725"/>
                    <a:pt x="0" y="1177553"/>
                    <a:pt x="0" y="1114429"/>
                  </a:cubicBezTo>
                  <a:lnTo>
                    <a:pt x="0" y="114296"/>
                  </a:lnTo>
                  <a:cubicBezTo>
                    <a:pt x="0" y="51172"/>
                    <a:pt x="51172" y="0"/>
                    <a:pt x="114296" y="0"/>
                  </a:cubicBezTo>
                  <a:close/>
                </a:path>
              </a:pathLst>
            </a:custGeom>
            <a:solidFill>
              <a:srgbClr val="0071E3">
                <a:alpha val="5098"/>
              </a:srgbClr>
            </a:solidFill>
            <a:ln w="12700">
              <a:solidFill>
                <a:srgbClr val="0071E3">
                  <a:alpha val="20000"/>
                </a:srgbClr>
              </a:solidFill>
              <a:prstDash val="solid"/>
            </a:ln>
          </p:spPr>
        </p:sp>
        <p:sp>
          <p:nvSpPr>
            <p:cNvPr id="80" name="Shape 18">
              <a:extLst>
                <a:ext uri="{FF2B5EF4-FFF2-40B4-BE49-F238E27FC236}">
                  <a16:creationId xmlns:a16="http://schemas.microsoft.com/office/drawing/2014/main" id="{F0FAA109-4AAF-FC19-3CC4-1EF4C96AB4EE}"/>
                </a:ext>
              </a:extLst>
            </p:cNvPr>
            <p:cNvSpPr/>
            <p:nvPr/>
          </p:nvSpPr>
          <p:spPr>
            <a:xfrm>
              <a:off x="4705350" y="327660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87184" y="114300"/>
                  </a:moveTo>
                  <a:cubicBezTo>
                    <a:pt x="89356" y="107662"/>
                    <a:pt x="93702" y="101650"/>
                    <a:pt x="98614" y="96470"/>
                  </a:cubicBezTo>
                  <a:cubicBezTo>
                    <a:pt x="108347" y="86231"/>
                    <a:pt x="114300" y="72390"/>
                    <a:pt x="114300" y="57150"/>
                  </a:cubicBezTo>
                  <a:cubicBezTo>
                    <a:pt x="114300" y="25598"/>
                    <a:pt x="88702" y="0"/>
                    <a:pt x="57150" y="0"/>
                  </a:cubicBezTo>
                  <a:cubicBezTo>
                    <a:pt x="25598" y="0"/>
                    <a:pt x="0" y="25598"/>
                    <a:pt x="0" y="57150"/>
                  </a:cubicBezTo>
                  <a:cubicBezTo>
                    <a:pt x="0" y="72390"/>
                    <a:pt x="5953" y="86231"/>
                    <a:pt x="15686" y="96470"/>
                  </a:cubicBezTo>
                  <a:cubicBezTo>
                    <a:pt x="20598" y="101650"/>
                    <a:pt x="24973" y="107662"/>
                    <a:pt x="27116" y="114300"/>
                  </a:cubicBezTo>
                  <a:lnTo>
                    <a:pt x="87154" y="114300"/>
                  </a:lnTo>
                  <a:close/>
                  <a:moveTo>
                    <a:pt x="85725" y="128588"/>
                  </a:moveTo>
                  <a:lnTo>
                    <a:pt x="28575" y="128588"/>
                  </a:lnTo>
                  <a:lnTo>
                    <a:pt x="28575" y="133350"/>
                  </a:lnTo>
                  <a:cubicBezTo>
                    <a:pt x="28575" y="146506"/>
                    <a:pt x="39231" y="157163"/>
                    <a:pt x="52388" y="157163"/>
                  </a:cubicBezTo>
                  <a:lnTo>
                    <a:pt x="61912" y="157163"/>
                  </a:lnTo>
                  <a:cubicBezTo>
                    <a:pt x="75069" y="157163"/>
                    <a:pt x="85725" y="146506"/>
                    <a:pt x="85725" y="133350"/>
                  </a:cubicBezTo>
                  <a:lnTo>
                    <a:pt x="85725" y="128588"/>
                  </a:lnTo>
                  <a:close/>
                  <a:moveTo>
                    <a:pt x="54769" y="33338"/>
                  </a:moveTo>
                  <a:cubicBezTo>
                    <a:pt x="42922" y="33338"/>
                    <a:pt x="33338" y="42922"/>
                    <a:pt x="33338" y="54769"/>
                  </a:cubicBezTo>
                  <a:cubicBezTo>
                    <a:pt x="33338" y="58728"/>
                    <a:pt x="30153" y="61912"/>
                    <a:pt x="26194" y="61912"/>
                  </a:cubicBezTo>
                  <a:cubicBezTo>
                    <a:pt x="22235" y="61912"/>
                    <a:pt x="19050" y="58728"/>
                    <a:pt x="19050" y="54769"/>
                  </a:cubicBezTo>
                  <a:cubicBezTo>
                    <a:pt x="19050" y="35034"/>
                    <a:pt x="35034" y="19050"/>
                    <a:pt x="54769" y="19050"/>
                  </a:cubicBezTo>
                  <a:cubicBezTo>
                    <a:pt x="58728" y="19050"/>
                    <a:pt x="61912" y="22235"/>
                    <a:pt x="61912" y="26194"/>
                  </a:cubicBezTo>
                  <a:cubicBezTo>
                    <a:pt x="61912" y="30153"/>
                    <a:pt x="58728" y="33338"/>
                    <a:pt x="54769" y="33338"/>
                  </a:cubicBezTo>
                  <a:close/>
                </a:path>
              </a:pathLst>
            </a:custGeom>
            <a:solidFill>
              <a:srgbClr val="0071E3"/>
            </a:solidFill>
            <a:ln/>
          </p:spPr>
        </p:sp>
        <p:sp>
          <p:nvSpPr>
            <p:cNvPr id="81" name="Text 19">
              <a:extLst>
                <a:ext uri="{FF2B5EF4-FFF2-40B4-BE49-F238E27FC236}">
                  <a16:creationId xmlns:a16="http://schemas.microsoft.com/office/drawing/2014/main" id="{0675BBD8-C1B7-3326-6C5A-49F0BBC669C1}"/>
                </a:ext>
              </a:extLst>
            </p:cNvPr>
            <p:cNvSpPr/>
            <p:nvPr/>
          </p:nvSpPr>
          <p:spPr>
            <a:xfrm>
              <a:off x="4914900" y="3238500"/>
              <a:ext cx="268605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D1D1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Implication:</a:t>
              </a:r>
              <a:r>
                <a:rPr lang="en-US" sz="1200" dirty="0">
                  <a:solidFill>
                    <a:srgbClr val="1D1D1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 Linear SVC can effectively distinguish between positive, negative, and neutral sentiments, making it the optimal choice.</a:t>
              </a:r>
              <a:endParaRPr lang="en-US" sz="1600" dirty="0"/>
            </a:p>
          </p:txBody>
        </p:sp>
      </p:grp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3940" y="363940"/>
            <a:ext cx="11527809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b="1" kern="0" spc="5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Model Evaluation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3940" y="618699"/>
            <a:ext cx="11627893" cy="363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9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Model Performance Comparison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8490" y="1205552"/>
            <a:ext cx="11455021" cy="3721290"/>
          </a:xfrm>
          <a:custGeom>
            <a:avLst/>
            <a:gdLst/>
            <a:ahLst/>
            <a:cxnLst/>
            <a:rect l="l" t="t" r="r" b="b"/>
            <a:pathLst>
              <a:path w="11455021" h="3721290">
                <a:moveTo>
                  <a:pt x="145577" y="0"/>
                </a:moveTo>
                <a:lnTo>
                  <a:pt x="11309444" y="0"/>
                </a:lnTo>
                <a:cubicBezTo>
                  <a:pt x="11389844" y="0"/>
                  <a:pt x="11455021" y="65177"/>
                  <a:pt x="11455021" y="145577"/>
                </a:cubicBezTo>
                <a:lnTo>
                  <a:pt x="11455021" y="3575713"/>
                </a:lnTo>
                <a:cubicBezTo>
                  <a:pt x="11455021" y="3656113"/>
                  <a:pt x="11389844" y="3721290"/>
                  <a:pt x="11309444" y="3721290"/>
                </a:cubicBezTo>
                <a:lnTo>
                  <a:pt x="145577" y="3721290"/>
                </a:lnTo>
                <a:cubicBezTo>
                  <a:pt x="65177" y="3721290"/>
                  <a:pt x="0" y="3656113"/>
                  <a:pt x="0" y="3575713"/>
                </a:cubicBezTo>
                <a:lnTo>
                  <a:pt x="0" y="145577"/>
                </a:lnTo>
                <a:cubicBezTo>
                  <a:pt x="0" y="65231"/>
                  <a:pt x="65231" y="0"/>
                  <a:pt x="14557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1403" y="1428466"/>
            <a:ext cx="11081982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performance of three tuned models—Logistic Regression, Multinomial Naive Bayes, and Linear SVC—was evaluated on the test set using multiple metrics:</a:t>
            </a:r>
            <a:endParaRPr lang="en-US" sz="1600" dirty="0"/>
          </a:p>
        </p:txBody>
      </p:sp>
      <p:pic>
        <p:nvPicPr>
          <p:cNvPr id="6" name="Image 0" descr="https://kimi-img.moonshot.cn/pub/slides/26-02-05-01:32:31-d61o5brv466jiu3d3vt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1403" y="1792406"/>
            <a:ext cx="10463284" cy="2911522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359393" y="5067868"/>
            <a:ext cx="3693994" cy="1737815"/>
          </a:xfrm>
          <a:custGeom>
            <a:avLst/>
            <a:gdLst/>
            <a:ahLst/>
            <a:cxnLst/>
            <a:rect l="l" t="t" r="r" b="b"/>
            <a:pathLst>
              <a:path w="3693994" h="1737815">
                <a:moveTo>
                  <a:pt x="109187" y="0"/>
                </a:moveTo>
                <a:lnTo>
                  <a:pt x="3584807" y="0"/>
                </a:lnTo>
                <a:cubicBezTo>
                  <a:pt x="3645109" y="0"/>
                  <a:pt x="3693994" y="48885"/>
                  <a:pt x="3693994" y="109187"/>
                </a:cubicBezTo>
                <a:lnTo>
                  <a:pt x="3693994" y="1628628"/>
                </a:lnTo>
                <a:cubicBezTo>
                  <a:pt x="3693994" y="1688930"/>
                  <a:pt x="3645109" y="1737815"/>
                  <a:pt x="3584807" y="1737815"/>
                </a:cubicBezTo>
                <a:lnTo>
                  <a:pt x="109187" y="1737815"/>
                </a:lnTo>
                <a:cubicBezTo>
                  <a:pt x="48885" y="1737815"/>
                  <a:pt x="0" y="1688930"/>
                  <a:pt x="0" y="1628628"/>
                </a:cubicBezTo>
                <a:lnTo>
                  <a:pt x="0" y="109187"/>
                </a:lnTo>
                <a:cubicBezTo>
                  <a:pt x="0" y="48925"/>
                  <a:pt x="48925" y="0"/>
                  <a:pt x="10918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55009" y="5304430"/>
            <a:ext cx="363940" cy="363940"/>
          </a:xfrm>
          <a:custGeom>
            <a:avLst/>
            <a:gdLst/>
            <a:ahLst/>
            <a:cxnLst/>
            <a:rect l="l" t="t" r="r" b="b"/>
            <a:pathLst>
              <a:path w="363940" h="363940">
                <a:moveTo>
                  <a:pt x="72788" y="0"/>
                </a:moveTo>
                <a:lnTo>
                  <a:pt x="291152" y="0"/>
                </a:lnTo>
                <a:cubicBezTo>
                  <a:pt x="331352" y="0"/>
                  <a:pt x="363940" y="32588"/>
                  <a:pt x="363940" y="72788"/>
                </a:cubicBezTo>
                <a:lnTo>
                  <a:pt x="363940" y="291152"/>
                </a:lnTo>
                <a:cubicBezTo>
                  <a:pt x="363940" y="331352"/>
                  <a:pt x="331352" y="363940"/>
                  <a:pt x="291152" y="363940"/>
                </a:cubicBezTo>
                <a:lnTo>
                  <a:pt x="72788" y="363940"/>
                </a:lnTo>
                <a:cubicBezTo>
                  <a:pt x="32588" y="363940"/>
                  <a:pt x="0" y="331352"/>
                  <a:pt x="0" y="291152"/>
                </a:cubicBezTo>
                <a:lnTo>
                  <a:pt x="0" y="72788"/>
                </a:lnTo>
                <a:cubicBezTo>
                  <a:pt x="0" y="32615"/>
                  <a:pt x="32615" y="0"/>
                  <a:pt x="72788" y="0"/>
                </a:cubicBez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9" name="Shape 6"/>
          <p:cNvSpPr/>
          <p:nvPr/>
        </p:nvSpPr>
        <p:spPr>
          <a:xfrm>
            <a:off x="664191" y="5413612"/>
            <a:ext cx="145576" cy="145576"/>
          </a:xfrm>
          <a:custGeom>
            <a:avLst/>
            <a:gdLst/>
            <a:ahLst/>
            <a:cxnLst/>
            <a:rect l="l" t="t" r="r" b="b"/>
            <a:pathLst>
              <a:path w="145576" h="145576">
                <a:moveTo>
                  <a:pt x="18197" y="18197"/>
                </a:moveTo>
                <a:cubicBezTo>
                  <a:pt x="18197" y="13164"/>
                  <a:pt x="14131" y="9099"/>
                  <a:pt x="9099" y="9099"/>
                </a:cubicBezTo>
                <a:cubicBezTo>
                  <a:pt x="4066" y="9099"/>
                  <a:pt x="0" y="13164"/>
                  <a:pt x="0" y="18197"/>
                </a:cubicBezTo>
                <a:lnTo>
                  <a:pt x="0" y="113731"/>
                </a:lnTo>
                <a:cubicBezTo>
                  <a:pt x="0" y="126299"/>
                  <a:pt x="10179" y="136478"/>
                  <a:pt x="22746" y="136478"/>
                </a:cubicBezTo>
                <a:lnTo>
                  <a:pt x="136478" y="136478"/>
                </a:lnTo>
                <a:cubicBezTo>
                  <a:pt x="141510" y="136478"/>
                  <a:pt x="145576" y="132412"/>
                  <a:pt x="145576" y="127379"/>
                </a:cubicBezTo>
                <a:cubicBezTo>
                  <a:pt x="145576" y="122346"/>
                  <a:pt x="141510" y="118281"/>
                  <a:pt x="136478" y="118281"/>
                </a:cubicBezTo>
                <a:lnTo>
                  <a:pt x="22746" y="118281"/>
                </a:lnTo>
                <a:cubicBezTo>
                  <a:pt x="20244" y="118281"/>
                  <a:pt x="18197" y="116233"/>
                  <a:pt x="18197" y="113731"/>
                </a:cubicBezTo>
                <a:lnTo>
                  <a:pt x="18197" y="18197"/>
                </a:lnTo>
                <a:close/>
                <a:moveTo>
                  <a:pt x="133805" y="42820"/>
                </a:moveTo>
                <a:cubicBezTo>
                  <a:pt x="137359" y="39266"/>
                  <a:pt x="137359" y="33494"/>
                  <a:pt x="133805" y="29940"/>
                </a:cubicBezTo>
                <a:cubicBezTo>
                  <a:pt x="130251" y="26386"/>
                  <a:pt x="124479" y="26386"/>
                  <a:pt x="120925" y="29940"/>
                </a:cubicBezTo>
                <a:lnTo>
                  <a:pt x="90985" y="59908"/>
                </a:lnTo>
                <a:lnTo>
                  <a:pt x="74665" y="43616"/>
                </a:lnTo>
                <a:cubicBezTo>
                  <a:pt x="71111" y="40062"/>
                  <a:pt x="65339" y="40062"/>
                  <a:pt x="61785" y="43616"/>
                </a:cubicBezTo>
                <a:lnTo>
                  <a:pt x="34489" y="70911"/>
                </a:lnTo>
                <a:cubicBezTo>
                  <a:pt x="30935" y="74466"/>
                  <a:pt x="30935" y="80237"/>
                  <a:pt x="34489" y="83792"/>
                </a:cubicBezTo>
                <a:cubicBezTo>
                  <a:pt x="38043" y="87346"/>
                  <a:pt x="43815" y="87346"/>
                  <a:pt x="47369" y="83792"/>
                </a:cubicBezTo>
                <a:lnTo>
                  <a:pt x="68239" y="62922"/>
                </a:lnTo>
                <a:lnTo>
                  <a:pt x="84559" y="79242"/>
                </a:lnTo>
                <a:cubicBezTo>
                  <a:pt x="88113" y="82796"/>
                  <a:pt x="93885" y="82796"/>
                  <a:pt x="97439" y="79242"/>
                </a:cubicBezTo>
                <a:lnTo>
                  <a:pt x="133833" y="42848"/>
                </a:lnTo>
                <a:close/>
              </a:path>
            </a:pathLst>
          </a:custGeom>
          <a:solidFill>
            <a:srgbClr val="4A5565"/>
          </a:solidFill>
          <a:ln/>
        </p:spPr>
      </p:sp>
      <p:sp>
        <p:nvSpPr>
          <p:cNvPr id="10" name="Text 7"/>
          <p:cNvSpPr/>
          <p:nvPr/>
        </p:nvSpPr>
        <p:spPr>
          <a:xfrm>
            <a:off x="1028131" y="5359021"/>
            <a:ext cx="1501254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55009" y="5795749"/>
            <a:ext cx="655093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Macro F1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360619" y="5777552"/>
            <a:ext cx="591403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0.5337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55009" y="6123296"/>
            <a:ext cx="873457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Weighted F1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376328" y="6105099"/>
            <a:ext cx="582304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0.6195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55009" y="6469039"/>
            <a:ext cx="3384645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Reasonable baseline performance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250926" y="5067868"/>
            <a:ext cx="3693994" cy="1737815"/>
          </a:xfrm>
          <a:custGeom>
            <a:avLst/>
            <a:gdLst/>
            <a:ahLst/>
            <a:cxnLst/>
            <a:rect l="l" t="t" r="r" b="b"/>
            <a:pathLst>
              <a:path w="3693994" h="1737815">
                <a:moveTo>
                  <a:pt x="109187" y="0"/>
                </a:moveTo>
                <a:lnTo>
                  <a:pt x="3584807" y="0"/>
                </a:lnTo>
                <a:cubicBezTo>
                  <a:pt x="3645109" y="0"/>
                  <a:pt x="3693994" y="48885"/>
                  <a:pt x="3693994" y="109187"/>
                </a:cubicBezTo>
                <a:lnTo>
                  <a:pt x="3693994" y="1628628"/>
                </a:lnTo>
                <a:cubicBezTo>
                  <a:pt x="3693994" y="1688930"/>
                  <a:pt x="3645109" y="1737815"/>
                  <a:pt x="3584807" y="1737815"/>
                </a:cubicBezTo>
                <a:lnTo>
                  <a:pt x="109187" y="1737815"/>
                </a:lnTo>
                <a:cubicBezTo>
                  <a:pt x="48885" y="1737815"/>
                  <a:pt x="0" y="1688930"/>
                  <a:pt x="0" y="1628628"/>
                </a:cubicBezTo>
                <a:lnTo>
                  <a:pt x="0" y="109187"/>
                </a:lnTo>
                <a:cubicBezTo>
                  <a:pt x="0" y="48925"/>
                  <a:pt x="48925" y="0"/>
                  <a:pt x="10918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38366" y="5304430"/>
            <a:ext cx="363940" cy="363940"/>
          </a:xfrm>
          <a:custGeom>
            <a:avLst/>
            <a:gdLst/>
            <a:ahLst/>
            <a:cxnLst/>
            <a:rect l="l" t="t" r="r" b="b"/>
            <a:pathLst>
              <a:path w="363940" h="363940">
                <a:moveTo>
                  <a:pt x="72788" y="0"/>
                </a:moveTo>
                <a:lnTo>
                  <a:pt x="291152" y="0"/>
                </a:lnTo>
                <a:cubicBezTo>
                  <a:pt x="331352" y="0"/>
                  <a:pt x="363940" y="32588"/>
                  <a:pt x="363940" y="72788"/>
                </a:cubicBezTo>
                <a:lnTo>
                  <a:pt x="363940" y="291152"/>
                </a:lnTo>
                <a:cubicBezTo>
                  <a:pt x="363940" y="331352"/>
                  <a:pt x="331352" y="363940"/>
                  <a:pt x="291152" y="363940"/>
                </a:cubicBezTo>
                <a:lnTo>
                  <a:pt x="72788" y="363940"/>
                </a:lnTo>
                <a:cubicBezTo>
                  <a:pt x="32588" y="363940"/>
                  <a:pt x="0" y="331352"/>
                  <a:pt x="0" y="291152"/>
                </a:cubicBezTo>
                <a:lnTo>
                  <a:pt x="0" y="72788"/>
                </a:lnTo>
                <a:cubicBezTo>
                  <a:pt x="0" y="32615"/>
                  <a:pt x="32615" y="0"/>
                  <a:pt x="72788" y="0"/>
                </a:cubicBez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18" name="Shape 15"/>
          <p:cNvSpPr/>
          <p:nvPr/>
        </p:nvSpPr>
        <p:spPr>
          <a:xfrm>
            <a:off x="4529351" y="5413612"/>
            <a:ext cx="181970" cy="145576"/>
          </a:xfrm>
          <a:custGeom>
            <a:avLst/>
            <a:gdLst/>
            <a:ahLst/>
            <a:cxnLst/>
            <a:rect l="l" t="t" r="r" b="b"/>
            <a:pathLst>
              <a:path w="181970" h="145576">
                <a:moveTo>
                  <a:pt x="109182" y="9099"/>
                </a:moveTo>
                <a:lnTo>
                  <a:pt x="145576" y="9099"/>
                </a:lnTo>
                <a:cubicBezTo>
                  <a:pt x="150609" y="9099"/>
                  <a:pt x="154675" y="13164"/>
                  <a:pt x="154675" y="18197"/>
                </a:cubicBezTo>
                <a:cubicBezTo>
                  <a:pt x="154675" y="23230"/>
                  <a:pt x="150609" y="27296"/>
                  <a:pt x="145576" y="27296"/>
                </a:cubicBezTo>
                <a:lnTo>
                  <a:pt x="113276" y="27296"/>
                </a:lnTo>
                <a:cubicBezTo>
                  <a:pt x="111798" y="34631"/>
                  <a:pt x="106765" y="40687"/>
                  <a:pt x="100084" y="43588"/>
                </a:cubicBezTo>
                <a:lnTo>
                  <a:pt x="100084" y="127379"/>
                </a:lnTo>
                <a:lnTo>
                  <a:pt x="145576" y="127379"/>
                </a:lnTo>
                <a:cubicBezTo>
                  <a:pt x="150609" y="127379"/>
                  <a:pt x="154675" y="131445"/>
                  <a:pt x="154675" y="136478"/>
                </a:cubicBezTo>
                <a:cubicBezTo>
                  <a:pt x="154675" y="141510"/>
                  <a:pt x="150609" y="145576"/>
                  <a:pt x="145576" y="145576"/>
                </a:cubicBezTo>
                <a:lnTo>
                  <a:pt x="36394" y="145576"/>
                </a:lnTo>
                <a:cubicBezTo>
                  <a:pt x="31361" y="145576"/>
                  <a:pt x="27296" y="141510"/>
                  <a:pt x="27296" y="136478"/>
                </a:cubicBezTo>
                <a:cubicBezTo>
                  <a:pt x="27296" y="131445"/>
                  <a:pt x="31361" y="127379"/>
                  <a:pt x="36394" y="127379"/>
                </a:cubicBezTo>
                <a:lnTo>
                  <a:pt x="81887" y="127379"/>
                </a:lnTo>
                <a:lnTo>
                  <a:pt x="81887" y="43588"/>
                </a:lnTo>
                <a:cubicBezTo>
                  <a:pt x="75205" y="40659"/>
                  <a:pt x="70172" y="34603"/>
                  <a:pt x="68694" y="27296"/>
                </a:cubicBezTo>
                <a:lnTo>
                  <a:pt x="36394" y="27296"/>
                </a:lnTo>
                <a:cubicBezTo>
                  <a:pt x="31361" y="27296"/>
                  <a:pt x="27296" y="23230"/>
                  <a:pt x="27296" y="18197"/>
                </a:cubicBezTo>
                <a:cubicBezTo>
                  <a:pt x="27296" y="13164"/>
                  <a:pt x="31361" y="9099"/>
                  <a:pt x="36394" y="9099"/>
                </a:cubicBezTo>
                <a:lnTo>
                  <a:pt x="72788" y="9099"/>
                </a:lnTo>
                <a:cubicBezTo>
                  <a:pt x="76939" y="3583"/>
                  <a:pt x="83536" y="0"/>
                  <a:pt x="90985" y="0"/>
                </a:cubicBezTo>
                <a:cubicBezTo>
                  <a:pt x="98434" y="0"/>
                  <a:pt x="105031" y="3583"/>
                  <a:pt x="109182" y="9099"/>
                </a:cubicBezTo>
                <a:close/>
                <a:moveTo>
                  <a:pt x="124991" y="90985"/>
                </a:moveTo>
                <a:lnTo>
                  <a:pt x="166161" y="90985"/>
                </a:lnTo>
                <a:lnTo>
                  <a:pt x="145576" y="55671"/>
                </a:lnTo>
                <a:lnTo>
                  <a:pt x="124991" y="90985"/>
                </a:lnTo>
                <a:close/>
                <a:moveTo>
                  <a:pt x="145576" y="118281"/>
                </a:moveTo>
                <a:cubicBezTo>
                  <a:pt x="127692" y="118281"/>
                  <a:pt x="112821" y="108613"/>
                  <a:pt x="109751" y="95847"/>
                </a:cubicBezTo>
                <a:cubicBezTo>
                  <a:pt x="109011" y="92719"/>
                  <a:pt x="110035" y="89507"/>
                  <a:pt x="111656" y="86720"/>
                </a:cubicBezTo>
                <a:lnTo>
                  <a:pt x="138724" y="40318"/>
                </a:lnTo>
                <a:cubicBezTo>
                  <a:pt x="140145" y="37873"/>
                  <a:pt x="142761" y="36394"/>
                  <a:pt x="145576" y="36394"/>
                </a:cubicBezTo>
                <a:cubicBezTo>
                  <a:pt x="148391" y="36394"/>
                  <a:pt x="151007" y="37901"/>
                  <a:pt x="152428" y="40318"/>
                </a:cubicBezTo>
                <a:lnTo>
                  <a:pt x="179496" y="86720"/>
                </a:lnTo>
                <a:cubicBezTo>
                  <a:pt x="181117" y="89507"/>
                  <a:pt x="182141" y="92719"/>
                  <a:pt x="181401" y="95847"/>
                </a:cubicBezTo>
                <a:cubicBezTo>
                  <a:pt x="178331" y="108585"/>
                  <a:pt x="163460" y="118281"/>
                  <a:pt x="145576" y="118281"/>
                </a:cubicBezTo>
                <a:close/>
                <a:moveTo>
                  <a:pt x="36053" y="55671"/>
                </a:moveTo>
                <a:lnTo>
                  <a:pt x="15467" y="90985"/>
                </a:lnTo>
                <a:lnTo>
                  <a:pt x="56667" y="90985"/>
                </a:lnTo>
                <a:lnTo>
                  <a:pt x="36053" y="55671"/>
                </a:lnTo>
                <a:close/>
                <a:moveTo>
                  <a:pt x="256" y="95847"/>
                </a:moveTo>
                <a:cubicBezTo>
                  <a:pt x="-483" y="92719"/>
                  <a:pt x="540" y="89507"/>
                  <a:pt x="2161" y="86720"/>
                </a:cubicBezTo>
                <a:lnTo>
                  <a:pt x="29229" y="40318"/>
                </a:lnTo>
                <a:cubicBezTo>
                  <a:pt x="30651" y="37873"/>
                  <a:pt x="33266" y="36394"/>
                  <a:pt x="36081" y="36394"/>
                </a:cubicBezTo>
                <a:cubicBezTo>
                  <a:pt x="38896" y="36394"/>
                  <a:pt x="41512" y="37901"/>
                  <a:pt x="42934" y="40318"/>
                </a:cubicBezTo>
                <a:lnTo>
                  <a:pt x="70002" y="86720"/>
                </a:lnTo>
                <a:cubicBezTo>
                  <a:pt x="71622" y="89507"/>
                  <a:pt x="72646" y="92719"/>
                  <a:pt x="71907" y="95847"/>
                </a:cubicBezTo>
                <a:cubicBezTo>
                  <a:pt x="68836" y="108585"/>
                  <a:pt x="53966" y="118281"/>
                  <a:pt x="36081" y="118281"/>
                </a:cubicBezTo>
                <a:cubicBezTo>
                  <a:pt x="18197" y="118281"/>
                  <a:pt x="3327" y="108613"/>
                  <a:pt x="256" y="95847"/>
                </a:cubicBezTo>
                <a:close/>
              </a:path>
            </a:pathLst>
          </a:custGeom>
          <a:solidFill>
            <a:srgbClr val="4A5565"/>
          </a:solidFill>
          <a:ln/>
        </p:spPr>
      </p:sp>
      <p:sp>
        <p:nvSpPr>
          <p:cNvPr id="19" name="Text 16"/>
          <p:cNvSpPr/>
          <p:nvPr/>
        </p:nvSpPr>
        <p:spPr>
          <a:xfrm>
            <a:off x="4911488" y="5359021"/>
            <a:ext cx="1182806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Multinomial NB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438366" y="5795749"/>
            <a:ext cx="655093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Macro F1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273759" y="5777552"/>
            <a:ext cx="564107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0.5197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438366" y="6123296"/>
            <a:ext cx="873457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Weighted F1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228764" y="6105099"/>
            <a:ext cx="609600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0.6546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438366" y="6469039"/>
            <a:ext cx="3384645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Competitive performance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138614" y="5072418"/>
            <a:ext cx="3684896" cy="1728716"/>
          </a:xfrm>
          <a:custGeom>
            <a:avLst/>
            <a:gdLst/>
            <a:ahLst/>
            <a:cxnLst/>
            <a:rect l="l" t="t" r="r" b="b"/>
            <a:pathLst>
              <a:path w="3684896" h="1728716">
                <a:moveTo>
                  <a:pt x="109186" y="0"/>
                </a:moveTo>
                <a:lnTo>
                  <a:pt x="3575710" y="0"/>
                </a:lnTo>
                <a:cubicBezTo>
                  <a:pt x="3636011" y="0"/>
                  <a:pt x="3684896" y="48884"/>
                  <a:pt x="3684896" y="109186"/>
                </a:cubicBezTo>
                <a:lnTo>
                  <a:pt x="3684896" y="1619531"/>
                </a:lnTo>
                <a:cubicBezTo>
                  <a:pt x="3684896" y="1679832"/>
                  <a:pt x="3636011" y="1728716"/>
                  <a:pt x="3575710" y="1728716"/>
                </a:cubicBezTo>
                <a:lnTo>
                  <a:pt x="109186" y="1728716"/>
                </a:lnTo>
                <a:cubicBezTo>
                  <a:pt x="48924" y="1728716"/>
                  <a:pt x="0" y="1679792"/>
                  <a:pt x="0" y="1619531"/>
                </a:cubicBezTo>
                <a:lnTo>
                  <a:pt x="0" y="109186"/>
                </a:lnTo>
                <a:cubicBezTo>
                  <a:pt x="0" y="48884"/>
                  <a:pt x="48884" y="0"/>
                  <a:pt x="109186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25400">
            <a:solidFill>
              <a:srgbClr val="0071E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330821" y="5313528"/>
            <a:ext cx="363940" cy="363940"/>
          </a:xfrm>
          <a:custGeom>
            <a:avLst/>
            <a:gdLst/>
            <a:ahLst/>
            <a:cxnLst/>
            <a:rect l="l" t="t" r="r" b="b"/>
            <a:pathLst>
              <a:path w="363940" h="363940">
                <a:moveTo>
                  <a:pt x="72788" y="0"/>
                </a:moveTo>
                <a:lnTo>
                  <a:pt x="291152" y="0"/>
                </a:lnTo>
                <a:cubicBezTo>
                  <a:pt x="331352" y="0"/>
                  <a:pt x="363940" y="32588"/>
                  <a:pt x="363940" y="72788"/>
                </a:cubicBezTo>
                <a:lnTo>
                  <a:pt x="363940" y="291152"/>
                </a:lnTo>
                <a:cubicBezTo>
                  <a:pt x="363940" y="331352"/>
                  <a:pt x="331352" y="363940"/>
                  <a:pt x="291152" y="363940"/>
                </a:cubicBezTo>
                <a:lnTo>
                  <a:pt x="72788" y="363940"/>
                </a:lnTo>
                <a:cubicBezTo>
                  <a:pt x="32588" y="363940"/>
                  <a:pt x="0" y="331352"/>
                  <a:pt x="0" y="291152"/>
                </a:cubicBezTo>
                <a:lnTo>
                  <a:pt x="0" y="72788"/>
                </a:lnTo>
                <a:cubicBezTo>
                  <a:pt x="0" y="32615"/>
                  <a:pt x="32615" y="0"/>
                  <a:pt x="72788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7" name="Shape 24"/>
          <p:cNvSpPr/>
          <p:nvPr/>
        </p:nvSpPr>
        <p:spPr>
          <a:xfrm>
            <a:off x="8440003" y="5422710"/>
            <a:ext cx="145576" cy="145576"/>
          </a:xfrm>
          <a:custGeom>
            <a:avLst/>
            <a:gdLst/>
            <a:ahLst/>
            <a:cxnLst/>
            <a:rect l="l" t="t" r="r" b="b"/>
            <a:pathLst>
              <a:path w="145576" h="145576">
                <a:moveTo>
                  <a:pt x="41029" y="0"/>
                </a:moveTo>
                <a:lnTo>
                  <a:pt x="104718" y="0"/>
                </a:lnTo>
                <a:cubicBezTo>
                  <a:pt x="112253" y="0"/>
                  <a:pt x="118394" y="6198"/>
                  <a:pt x="118110" y="13705"/>
                </a:cubicBezTo>
                <a:cubicBezTo>
                  <a:pt x="118053" y="15212"/>
                  <a:pt x="117996" y="16719"/>
                  <a:pt x="117911" y="18197"/>
                </a:cubicBezTo>
                <a:lnTo>
                  <a:pt x="132014" y="18197"/>
                </a:lnTo>
                <a:cubicBezTo>
                  <a:pt x="139435" y="18197"/>
                  <a:pt x="145974" y="24339"/>
                  <a:pt x="145406" y="32357"/>
                </a:cubicBezTo>
                <a:cubicBezTo>
                  <a:pt x="143273" y="61841"/>
                  <a:pt x="128204" y="78048"/>
                  <a:pt x="111855" y="86521"/>
                </a:cubicBezTo>
                <a:cubicBezTo>
                  <a:pt x="107362" y="88853"/>
                  <a:pt x="102785" y="90587"/>
                  <a:pt x="98434" y="91866"/>
                </a:cubicBezTo>
                <a:cubicBezTo>
                  <a:pt x="92691" y="99998"/>
                  <a:pt x="86720" y="104292"/>
                  <a:pt x="81972" y="106595"/>
                </a:cubicBezTo>
                <a:lnTo>
                  <a:pt x="81972" y="127379"/>
                </a:lnTo>
                <a:lnTo>
                  <a:pt x="100169" y="127379"/>
                </a:lnTo>
                <a:cubicBezTo>
                  <a:pt x="105201" y="127379"/>
                  <a:pt x="109267" y="131445"/>
                  <a:pt x="109267" y="136478"/>
                </a:cubicBezTo>
                <a:cubicBezTo>
                  <a:pt x="109267" y="141510"/>
                  <a:pt x="105201" y="145576"/>
                  <a:pt x="100169" y="145576"/>
                </a:cubicBezTo>
                <a:lnTo>
                  <a:pt x="45578" y="145576"/>
                </a:lnTo>
                <a:cubicBezTo>
                  <a:pt x="40545" y="145576"/>
                  <a:pt x="36479" y="141510"/>
                  <a:pt x="36479" y="136478"/>
                </a:cubicBezTo>
                <a:cubicBezTo>
                  <a:pt x="36479" y="131445"/>
                  <a:pt x="40545" y="127379"/>
                  <a:pt x="45578" y="127379"/>
                </a:cubicBezTo>
                <a:lnTo>
                  <a:pt x="63775" y="127379"/>
                </a:lnTo>
                <a:lnTo>
                  <a:pt x="63775" y="106595"/>
                </a:lnTo>
                <a:cubicBezTo>
                  <a:pt x="59226" y="104405"/>
                  <a:pt x="53567" y="100339"/>
                  <a:pt x="48051" y="92862"/>
                </a:cubicBezTo>
                <a:cubicBezTo>
                  <a:pt x="42820" y="91497"/>
                  <a:pt x="37133" y="89421"/>
                  <a:pt x="31589" y="86294"/>
                </a:cubicBezTo>
                <a:cubicBezTo>
                  <a:pt x="16207" y="77679"/>
                  <a:pt x="2331" y="61443"/>
                  <a:pt x="341" y="32300"/>
                </a:cubicBezTo>
                <a:cubicBezTo>
                  <a:pt x="-199" y="24310"/>
                  <a:pt x="6312" y="18169"/>
                  <a:pt x="13733" y="18169"/>
                </a:cubicBezTo>
                <a:lnTo>
                  <a:pt x="27836" y="18169"/>
                </a:lnTo>
                <a:cubicBezTo>
                  <a:pt x="27750" y="16690"/>
                  <a:pt x="27694" y="15212"/>
                  <a:pt x="27637" y="13676"/>
                </a:cubicBezTo>
                <a:cubicBezTo>
                  <a:pt x="27352" y="6141"/>
                  <a:pt x="33494" y="-28"/>
                  <a:pt x="41029" y="-28"/>
                </a:cubicBezTo>
                <a:close/>
                <a:moveTo>
                  <a:pt x="28859" y="31845"/>
                </a:moveTo>
                <a:lnTo>
                  <a:pt x="13961" y="31845"/>
                </a:lnTo>
                <a:cubicBezTo>
                  <a:pt x="15723" y="55927"/>
                  <a:pt x="26784" y="67983"/>
                  <a:pt x="38185" y="74380"/>
                </a:cubicBezTo>
                <a:cubicBezTo>
                  <a:pt x="34091" y="63775"/>
                  <a:pt x="30707" y="49928"/>
                  <a:pt x="28859" y="31845"/>
                </a:cubicBezTo>
                <a:close/>
                <a:moveTo>
                  <a:pt x="108045" y="73016"/>
                </a:moveTo>
                <a:cubicBezTo>
                  <a:pt x="119560" y="66249"/>
                  <a:pt x="129966" y="54221"/>
                  <a:pt x="131729" y="31845"/>
                </a:cubicBezTo>
                <a:lnTo>
                  <a:pt x="116859" y="31845"/>
                </a:lnTo>
                <a:cubicBezTo>
                  <a:pt x="115096" y="49160"/>
                  <a:pt x="111912" y="62609"/>
                  <a:pt x="108045" y="7301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5"/>
          <p:cNvSpPr/>
          <p:nvPr/>
        </p:nvSpPr>
        <p:spPr>
          <a:xfrm>
            <a:off x="8803943" y="5368119"/>
            <a:ext cx="882555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Linear SVC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330821" y="5804848"/>
            <a:ext cx="655093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Macro F1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1104302" y="5786651"/>
            <a:ext cx="609600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0.5626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330821" y="6132394"/>
            <a:ext cx="873457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Weighted F1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1099397" y="6114197"/>
            <a:ext cx="618699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0.6664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330821" y="6478137"/>
            <a:ext cx="3366448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balanced performance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9813" y="379813"/>
            <a:ext cx="11498841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kern="0" spc="52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 / Conclusions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9813" y="645682"/>
            <a:ext cx="11603290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92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Summary and Achievements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561" y="1258131"/>
            <a:ext cx="5554766" cy="1813607"/>
          </a:xfrm>
          <a:custGeom>
            <a:avLst/>
            <a:gdLst/>
            <a:ahLst/>
            <a:cxnLst/>
            <a:rect l="l" t="t" r="r" b="b"/>
            <a:pathLst>
              <a:path w="5554766" h="1813607">
                <a:moveTo>
                  <a:pt x="151926" y="0"/>
                </a:moveTo>
                <a:lnTo>
                  <a:pt x="5402840" y="0"/>
                </a:lnTo>
                <a:cubicBezTo>
                  <a:pt x="5486747" y="0"/>
                  <a:pt x="5554766" y="68020"/>
                  <a:pt x="5554766" y="151926"/>
                </a:cubicBezTo>
                <a:lnTo>
                  <a:pt x="5554766" y="1661682"/>
                </a:lnTo>
                <a:cubicBezTo>
                  <a:pt x="5554766" y="1745588"/>
                  <a:pt x="5486747" y="1813607"/>
                  <a:pt x="5402840" y="1813607"/>
                </a:cubicBezTo>
                <a:lnTo>
                  <a:pt x="151926" y="1813607"/>
                </a:lnTo>
                <a:cubicBezTo>
                  <a:pt x="68020" y="1813607"/>
                  <a:pt x="0" y="1745588"/>
                  <a:pt x="0" y="1661682"/>
                </a:cubicBezTo>
                <a:lnTo>
                  <a:pt x="0" y="151926"/>
                </a:lnTo>
                <a:cubicBezTo>
                  <a:pt x="0" y="68020"/>
                  <a:pt x="68020" y="0"/>
                  <a:pt x="15192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196" y="1490766"/>
            <a:ext cx="455776" cy="455776"/>
          </a:xfrm>
          <a:custGeom>
            <a:avLst/>
            <a:gdLst/>
            <a:ahLst/>
            <a:cxnLst/>
            <a:rect l="l" t="t" r="r" b="b"/>
            <a:pathLst>
              <a:path w="455776" h="455776">
                <a:moveTo>
                  <a:pt x="113944" y="0"/>
                </a:moveTo>
                <a:lnTo>
                  <a:pt x="341832" y="0"/>
                </a:lnTo>
                <a:cubicBezTo>
                  <a:pt x="404761" y="0"/>
                  <a:pt x="455776" y="51014"/>
                  <a:pt x="455776" y="113944"/>
                </a:cubicBezTo>
                <a:lnTo>
                  <a:pt x="455776" y="341832"/>
                </a:lnTo>
                <a:cubicBezTo>
                  <a:pt x="455776" y="404761"/>
                  <a:pt x="404761" y="455776"/>
                  <a:pt x="341832" y="455776"/>
                </a:cubicBezTo>
                <a:lnTo>
                  <a:pt x="113944" y="455776"/>
                </a:lnTo>
                <a:cubicBezTo>
                  <a:pt x="51014" y="455776"/>
                  <a:pt x="0" y="404761"/>
                  <a:pt x="0" y="341832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Shape 4"/>
          <p:cNvSpPr/>
          <p:nvPr/>
        </p:nvSpPr>
        <p:spPr>
          <a:xfrm>
            <a:off x="750131" y="1623701"/>
            <a:ext cx="189907" cy="189907"/>
          </a:xfrm>
          <a:custGeom>
            <a:avLst/>
            <a:gdLst/>
            <a:ahLst/>
            <a:cxnLst/>
            <a:rect l="l" t="t" r="r" b="b"/>
            <a:pathLst>
              <a:path w="189907" h="189907">
                <a:moveTo>
                  <a:pt x="94953" y="189907"/>
                </a:moveTo>
                <a:cubicBezTo>
                  <a:pt x="147359" y="189907"/>
                  <a:pt x="189907" y="147359"/>
                  <a:pt x="189907" y="94953"/>
                </a:cubicBezTo>
                <a:cubicBezTo>
                  <a:pt x="189907" y="42547"/>
                  <a:pt x="147359" y="0"/>
                  <a:pt x="94953" y="0"/>
                </a:cubicBezTo>
                <a:cubicBezTo>
                  <a:pt x="42547" y="0"/>
                  <a:pt x="0" y="42547"/>
                  <a:pt x="0" y="94953"/>
                </a:cubicBezTo>
                <a:cubicBezTo>
                  <a:pt x="0" y="147359"/>
                  <a:pt x="42547" y="189907"/>
                  <a:pt x="94953" y="189907"/>
                </a:cubicBezTo>
                <a:close/>
                <a:moveTo>
                  <a:pt x="126258" y="78893"/>
                </a:moveTo>
                <a:lnTo>
                  <a:pt x="96585" y="126369"/>
                </a:lnTo>
                <a:cubicBezTo>
                  <a:pt x="95027" y="128855"/>
                  <a:pt x="92357" y="130412"/>
                  <a:pt x="89427" y="130561"/>
                </a:cubicBezTo>
                <a:cubicBezTo>
                  <a:pt x="86496" y="130709"/>
                  <a:pt x="83678" y="129374"/>
                  <a:pt x="81934" y="127000"/>
                </a:cubicBezTo>
                <a:lnTo>
                  <a:pt x="64131" y="103262"/>
                </a:lnTo>
                <a:cubicBezTo>
                  <a:pt x="61163" y="99330"/>
                  <a:pt x="61979" y="93766"/>
                  <a:pt x="65911" y="90799"/>
                </a:cubicBezTo>
                <a:cubicBezTo>
                  <a:pt x="69843" y="87832"/>
                  <a:pt x="75406" y="88648"/>
                  <a:pt x="78374" y="92579"/>
                </a:cubicBezTo>
                <a:lnTo>
                  <a:pt x="88388" y="105932"/>
                </a:lnTo>
                <a:lnTo>
                  <a:pt x="111162" y="69472"/>
                </a:lnTo>
                <a:cubicBezTo>
                  <a:pt x="113758" y="65317"/>
                  <a:pt x="119248" y="64019"/>
                  <a:pt x="123439" y="66653"/>
                </a:cubicBezTo>
                <a:cubicBezTo>
                  <a:pt x="127631" y="69286"/>
                  <a:pt x="128892" y="74739"/>
                  <a:pt x="126258" y="7893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224897" y="1585720"/>
            <a:ext cx="1433794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Success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7196" y="2098467"/>
            <a:ext cx="5165458" cy="740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sentiment analysis project </a:t>
            </a:r>
            <a:r>
              <a:rPr lang="en-US" sz="1196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successfully demonstrated</a:t>
            </a:r>
            <a:r>
              <a:rPr lang="en-US" sz="119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complete process of cleaning, preprocessing, and modeling textual data from tweets to classify them into positive, negative, and neutral emotions.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4561" y="3271140"/>
            <a:ext cx="5554766" cy="1813607"/>
          </a:xfrm>
          <a:custGeom>
            <a:avLst/>
            <a:gdLst/>
            <a:ahLst/>
            <a:cxnLst/>
            <a:rect l="l" t="t" r="r" b="b"/>
            <a:pathLst>
              <a:path w="5554766" h="1813607">
                <a:moveTo>
                  <a:pt x="151926" y="0"/>
                </a:moveTo>
                <a:lnTo>
                  <a:pt x="5402840" y="0"/>
                </a:lnTo>
                <a:cubicBezTo>
                  <a:pt x="5486747" y="0"/>
                  <a:pt x="5554766" y="68020"/>
                  <a:pt x="5554766" y="151926"/>
                </a:cubicBezTo>
                <a:lnTo>
                  <a:pt x="5554766" y="1661682"/>
                </a:lnTo>
                <a:cubicBezTo>
                  <a:pt x="5554766" y="1745588"/>
                  <a:pt x="5486747" y="1813607"/>
                  <a:pt x="5402840" y="1813607"/>
                </a:cubicBezTo>
                <a:lnTo>
                  <a:pt x="151926" y="1813607"/>
                </a:lnTo>
                <a:cubicBezTo>
                  <a:pt x="68020" y="1813607"/>
                  <a:pt x="0" y="1745588"/>
                  <a:pt x="0" y="1661682"/>
                </a:cubicBezTo>
                <a:lnTo>
                  <a:pt x="0" y="151926"/>
                </a:lnTo>
                <a:cubicBezTo>
                  <a:pt x="0" y="68020"/>
                  <a:pt x="68020" y="0"/>
                  <a:pt x="15192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196" y="3503776"/>
            <a:ext cx="455776" cy="455776"/>
          </a:xfrm>
          <a:custGeom>
            <a:avLst/>
            <a:gdLst/>
            <a:ahLst/>
            <a:cxnLst/>
            <a:rect l="l" t="t" r="r" b="b"/>
            <a:pathLst>
              <a:path w="455776" h="455776">
                <a:moveTo>
                  <a:pt x="113944" y="0"/>
                </a:moveTo>
                <a:lnTo>
                  <a:pt x="341832" y="0"/>
                </a:lnTo>
                <a:cubicBezTo>
                  <a:pt x="404761" y="0"/>
                  <a:pt x="455776" y="51014"/>
                  <a:pt x="455776" y="113944"/>
                </a:cubicBezTo>
                <a:lnTo>
                  <a:pt x="455776" y="341832"/>
                </a:lnTo>
                <a:cubicBezTo>
                  <a:pt x="455776" y="404761"/>
                  <a:pt x="404761" y="455776"/>
                  <a:pt x="341832" y="455776"/>
                </a:cubicBezTo>
                <a:lnTo>
                  <a:pt x="113944" y="455776"/>
                </a:lnTo>
                <a:cubicBezTo>
                  <a:pt x="51014" y="455776"/>
                  <a:pt x="0" y="404761"/>
                  <a:pt x="0" y="341832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" name="Shape 9"/>
          <p:cNvSpPr/>
          <p:nvPr/>
        </p:nvSpPr>
        <p:spPr>
          <a:xfrm>
            <a:off x="738262" y="3636710"/>
            <a:ext cx="213645" cy="189907"/>
          </a:xfrm>
          <a:custGeom>
            <a:avLst/>
            <a:gdLst/>
            <a:ahLst/>
            <a:cxnLst/>
            <a:rect l="l" t="t" r="r" b="b"/>
            <a:pathLst>
              <a:path w="213645" h="189907">
                <a:moveTo>
                  <a:pt x="114797" y="-7010"/>
                </a:moveTo>
                <a:cubicBezTo>
                  <a:pt x="113276" y="-9978"/>
                  <a:pt x="110198" y="-11869"/>
                  <a:pt x="106860" y="-11869"/>
                </a:cubicBezTo>
                <a:cubicBezTo>
                  <a:pt x="103521" y="-11869"/>
                  <a:pt x="100443" y="-9978"/>
                  <a:pt x="98922" y="-7010"/>
                </a:cubicBezTo>
                <a:lnTo>
                  <a:pt x="71623" y="46475"/>
                </a:lnTo>
                <a:lnTo>
                  <a:pt x="12314" y="55896"/>
                </a:lnTo>
                <a:cubicBezTo>
                  <a:pt x="9013" y="56416"/>
                  <a:pt x="6268" y="58752"/>
                  <a:pt x="5230" y="61942"/>
                </a:cubicBezTo>
                <a:cubicBezTo>
                  <a:pt x="4191" y="65132"/>
                  <a:pt x="5044" y="68619"/>
                  <a:pt x="7381" y="70992"/>
                </a:cubicBezTo>
                <a:lnTo>
                  <a:pt x="49813" y="113462"/>
                </a:lnTo>
                <a:lnTo>
                  <a:pt x="40466" y="172770"/>
                </a:lnTo>
                <a:cubicBezTo>
                  <a:pt x="39947" y="176072"/>
                  <a:pt x="41320" y="179410"/>
                  <a:pt x="44027" y="181376"/>
                </a:cubicBezTo>
                <a:cubicBezTo>
                  <a:pt x="46735" y="183341"/>
                  <a:pt x="50296" y="183638"/>
                  <a:pt x="53300" y="182117"/>
                </a:cubicBezTo>
                <a:lnTo>
                  <a:pt x="106860" y="154893"/>
                </a:lnTo>
                <a:lnTo>
                  <a:pt x="160382" y="182117"/>
                </a:lnTo>
                <a:cubicBezTo>
                  <a:pt x="163349" y="183638"/>
                  <a:pt x="166947" y="183341"/>
                  <a:pt x="169655" y="181376"/>
                </a:cubicBezTo>
                <a:cubicBezTo>
                  <a:pt x="172362" y="179410"/>
                  <a:pt x="173735" y="176109"/>
                  <a:pt x="173216" y="172770"/>
                </a:cubicBezTo>
                <a:lnTo>
                  <a:pt x="163831" y="113462"/>
                </a:lnTo>
                <a:lnTo>
                  <a:pt x="206264" y="70992"/>
                </a:lnTo>
                <a:cubicBezTo>
                  <a:pt x="208638" y="68619"/>
                  <a:pt x="209454" y="65132"/>
                  <a:pt x="208415" y="61942"/>
                </a:cubicBezTo>
                <a:cubicBezTo>
                  <a:pt x="207376" y="58752"/>
                  <a:pt x="204669" y="56416"/>
                  <a:pt x="201331" y="55896"/>
                </a:cubicBezTo>
                <a:lnTo>
                  <a:pt x="142059" y="46475"/>
                </a:lnTo>
                <a:lnTo>
                  <a:pt x="114797" y="-701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224897" y="3598729"/>
            <a:ext cx="2022505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Performing Model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7196" y="4111477"/>
            <a:ext cx="5165458" cy="740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Among the models tested, </a:t>
            </a:r>
            <a:r>
              <a:rPr lang="en-US" sz="1196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Linear SVC achieved the best overall performance</a:t>
            </a:r>
            <a:r>
              <a:rPr lang="en-US" sz="119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making it the most effective choice for sentiment classification in this dataset.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4561" y="5284150"/>
            <a:ext cx="5554766" cy="1566729"/>
          </a:xfrm>
          <a:custGeom>
            <a:avLst/>
            <a:gdLst/>
            <a:ahLst/>
            <a:cxnLst/>
            <a:rect l="l" t="t" r="r" b="b"/>
            <a:pathLst>
              <a:path w="5554766" h="1566729">
                <a:moveTo>
                  <a:pt x="151926" y="0"/>
                </a:moveTo>
                <a:lnTo>
                  <a:pt x="5402841" y="0"/>
                </a:lnTo>
                <a:cubicBezTo>
                  <a:pt x="5486747" y="0"/>
                  <a:pt x="5554766" y="68019"/>
                  <a:pt x="5554766" y="151926"/>
                </a:cubicBezTo>
                <a:lnTo>
                  <a:pt x="5554766" y="1414803"/>
                </a:lnTo>
                <a:cubicBezTo>
                  <a:pt x="5554766" y="1498710"/>
                  <a:pt x="5486747" y="1566729"/>
                  <a:pt x="5402841" y="1566729"/>
                </a:cubicBezTo>
                <a:lnTo>
                  <a:pt x="151926" y="1566729"/>
                </a:lnTo>
                <a:cubicBezTo>
                  <a:pt x="68019" y="1566729"/>
                  <a:pt x="0" y="1498710"/>
                  <a:pt x="0" y="1414803"/>
                </a:cubicBezTo>
                <a:lnTo>
                  <a:pt x="0" y="151926"/>
                </a:lnTo>
                <a:cubicBezTo>
                  <a:pt x="0" y="68076"/>
                  <a:pt x="68076" y="0"/>
                  <a:pt x="15192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196" y="5516785"/>
            <a:ext cx="455776" cy="455776"/>
          </a:xfrm>
          <a:custGeom>
            <a:avLst/>
            <a:gdLst/>
            <a:ahLst/>
            <a:cxnLst/>
            <a:rect l="l" t="t" r="r" b="b"/>
            <a:pathLst>
              <a:path w="455776" h="455776">
                <a:moveTo>
                  <a:pt x="113944" y="0"/>
                </a:moveTo>
                <a:lnTo>
                  <a:pt x="341832" y="0"/>
                </a:lnTo>
                <a:cubicBezTo>
                  <a:pt x="404761" y="0"/>
                  <a:pt x="455776" y="51014"/>
                  <a:pt x="455776" y="113944"/>
                </a:cubicBezTo>
                <a:lnTo>
                  <a:pt x="455776" y="341832"/>
                </a:lnTo>
                <a:cubicBezTo>
                  <a:pt x="455776" y="404761"/>
                  <a:pt x="404761" y="455776"/>
                  <a:pt x="341832" y="455776"/>
                </a:cubicBezTo>
                <a:lnTo>
                  <a:pt x="113944" y="455776"/>
                </a:lnTo>
                <a:cubicBezTo>
                  <a:pt x="51014" y="455776"/>
                  <a:pt x="0" y="404761"/>
                  <a:pt x="0" y="341832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6" name="Shape 14"/>
          <p:cNvSpPr/>
          <p:nvPr/>
        </p:nvSpPr>
        <p:spPr>
          <a:xfrm>
            <a:off x="726393" y="5649720"/>
            <a:ext cx="237383" cy="189907"/>
          </a:xfrm>
          <a:custGeom>
            <a:avLst/>
            <a:gdLst/>
            <a:ahLst/>
            <a:cxnLst/>
            <a:rect l="l" t="t" r="r" b="b"/>
            <a:pathLst>
              <a:path w="237383" h="189907">
                <a:moveTo>
                  <a:pt x="154262" y="78077"/>
                </a:moveTo>
                <a:cubicBezTo>
                  <a:pt x="158787" y="76853"/>
                  <a:pt x="163535" y="79004"/>
                  <a:pt x="165575" y="83195"/>
                </a:cubicBezTo>
                <a:lnTo>
                  <a:pt x="172474" y="97142"/>
                </a:lnTo>
                <a:cubicBezTo>
                  <a:pt x="176294" y="97661"/>
                  <a:pt x="180040" y="98699"/>
                  <a:pt x="183564" y="100146"/>
                </a:cubicBezTo>
                <a:lnTo>
                  <a:pt x="196546" y="91504"/>
                </a:lnTo>
                <a:cubicBezTo>
                  <a:pt x="200440" y="88907"/>
                  <a:pt x="205596" y="89427"/>
                  <a:pt x="208897" y="92728"/>
                </a:cubicBezTo>
                <a:lnTo>
                  <a:pt x="216019" y="99849"/>
                </a:lnTo>
                <a:cubicBezTo>
                  <a:pt x="219320" y="103150"/>
                  <a:pt x="219839" y="108343"/>
                  <a:pt x="217243" y="112201"/>
                </a:cubicBezTo>
                <a:lnTo>
                  <a:pt x="208600" y="125145"/>
                </a:lnTo>
                <a:cubicBezTo>
                  <a:pt x="209305" y="126889"/>
                  <a:pt x="209936" y="128706"/>
                  <a:pt x="210455" y="130598"/>
                </a:cubicBezTo>
                <a:cubicBezTo>
                  <a:pt x="210974" y="132489"/>
                  <a:pt x="211308" y="134344"/>
                  <a:pt x="211568" y="136236"/>
                </a:cubicBezTo>
                <a:lnTo>
                  <a:pt x="225551" y="143135"/>
                </a:lnTo>
                <a:cubicBezTo>
                  <a:pt x="229742" y="145212"/>
                  <a:pt x="231894" y="149959"/>
                  <a:pt x="230670" y="154447"/>
                </a:cubicBezTo>
                <a:lnTo>
                  <a:pt x="228073" y="164165"/>
                </a:lnTo>
                <a:cubicBezTo>
                  <a:pt x="226849" y="168653"/>
                  <a:pt x="222658" y="171695"/>
                  <a:pt x="217985" y="171398"/>
                </a:cubicBezTo>
                <a:lnTo>
                  <a:pt x="202406" y="170397"/>
                </a:lnTo>
                <a:cubicBezTo>
                  <a:pt x="200070" y="173401"/>
                  <a:pt x="197362" y="176183"/>
                  <a:pt x="194283" y="178557"/>
                </a:cubicBezTo>
                <a:lnTo>
                  <a:pt x="195285" y="194098"/>
                </a:lnTo>
                <a:cubicBezTo>
                  <a:pt x="195581" y="198771"/>
                  <a:pt x="192540" y="203000"/>
                  <a:pt x="188052" y="204187"/>
                </a:cubicBezTo>
                <a:lnTo>
                  <a:pt x="178334" y="206783"/>
                </a:lnTo>
                <a:cubicBezTo>
                  <a:pt x="173809" y="208007"/>
                  <a:pt x="169098" y="205856"/>
                  <a:pt x="167021" y="201664"/>
                </a:cubicBezTo>
                <a:lnTo>
                  <a:pt x="160122" y="187718"/>
                </a:lnTo>
                <a:cubicBezTo>
                  <a:pt x="156302" y="187199"/>
                  <a:pt x="152556" y="186160"/>
                  <a:pt x="149032" y="184714"/>
                </a:cubicBezTo>
                <a:lnTo>
                  <a:pt x="136050" y="193356"/>
                </a:lnTo>
                <a:cubicBezTo>
                  <a:pt x="132156" y="195952"/>
                  <a:pt x="127000" y="195433"/>
                  <a:pt x="123699" y="192132"/>
                </a:cubicBezTo>
                <a:lnTo>
                  <a:pt x="116577" y="185011"/>
                </a:lnTo>
                <a:cubicBezTo>
                  <a:pt x="113276" y="181709"/>
                  <a:pt x="112757" y="176554"/>
                  <a:pt x="115353" y="172659"/>
                </a:cubicBezTo>
                <a:lnTo>
                  <a:pt x="123996" y="159677"/>
                </a:lnTo>
                <a:cubicBezTo>
                  <a:pt x="123291" y="157934"/>
                  <a:pt x="122660" y="156117"/>
                  <a:pt x="122141" y="154225"/>
                </a:cubicBezTo>
                <a:cubicBezTo>
                  <a:pt x="121622" y="152333"/>
                  <a:pt x="121288" y="150442"/>
                  <a:pt x="121028" y="148587"/>
                </a:cubicBezTo>
                <a:lnTo>
                  <a:pt x="107045" y="141688"/>
                </a:lnTo>
                <a:cubicBezTo>
                  <a:pt x="102854" y="139611"/>
                  <a:pt x="100739" y="134863"/>
                  <a:pt x="101926" y="130375"/>
                </a:cubicBezTo>
                <a:lnTo>
                  <a:pt x="104523" y="120657"/>
                </a:lnTo>
                <a:cubicBezTo>
                  <a:pt x="105747" y="116169"/>
                  <a:pt x="109938" y="113128"/>
                  <a:pt x="114612" y="113425"/>
                </a:cubicBezTo>
                <a:lnTo>
                  <a:pt x="130153" y="114426"/>
                </a:lnTo>
                <a:cubicBezTo>
                  <a:pt x="132489" y="111422"/>
                  <a:pt x="135197" y="108640"/>
                  <a:pt x="138276" y="106266"/>
                </a:cubicBezTo>
                <a:lnTo>
                  <a:pt x="137274" y="90762"/>
                </a:lnTo>
                <a:cubicBezTo>
                  <a:pt x="136978" y="86088"/>
                  <a:pt x="140019" y="81860"/>
                  <a:pt x="144507" y="80673"/>
                </a:cubicBezTo>
                <a:lnTo>
                  <a:pt x="154225" y="78077"/>
                </a:lnTo>
                <a:close/>
                <a:moveTo>
                  <a:pt x="166317" y="126110"/>
                </a:moveTo>
                <a:cubicBezTo>
                  <a:pt x="157309" y="126120"/>
                  <a:pt x="150005" y="133441"/>
                  <a:pt x="150015" y="142448"/>
                </a:cubicBezTo>
                <a:cubicBezTo>
                  <a:pt x="150025" y="151456"/>
                  <a:pt x="157346" y="158760"/>
                  <a:pt x="166354" y="158750"/>
                </a:cubicBezTo>
                <a:cubicBezTo>
                  <a:pt x="175361" y="158740"/>
                  <a:pt x="182665" y="151419"/>
                  <a:pt x="182655" y="142411"/>
                </a:cubicBezTo>
                <a:cubicBezTo>
                  <a:pt x="182645" y="133404"/>
                  <a:pt x="175324" y="126100"/>
                  <a:pt x="166317" y="126110"/>
                </a:cubicBezTo>
                <a:close/>
                <a:moveTo>
                  <a:pt x="83418" y="-16876"/>
                </a:moveTo>
                <a:lnTo>
                  <a:pt x="93136" y="-14280"/>
                </a:lnTo>
                <a:cubicBezTo>
                  <a:pt x="97624" y="-13056"/>
                  <a:pt x="100665" y="-8828"/>
                  <a:pt x="100369" y="-4191"/>
                </a:cubicBezTo>
                <a:lnTo>
                  <a:pt x="99367" y="11313"/>
                </a:lnTo>
                <a:cubicBezTo>
                  <a:pt x="102446" y="13687"/>
                  <a:pt x="105153" y="16431"/>
                  <a:pt x="107490" y="19473"/>
                </a:cubicBezTo>
                <a:lnTo>
                  <a:pt x="123068" y="18471"/>
                </a:lnTo>
                <a:cubicBezTo>
                  <a:pt x="127705" y="18175"/>
                  <a:pt x="131933" y="21216"/>
                  <a:pt x="133157" y="25704"/>
                </a:cubicBezTo>
                <a:lnTo>
                  <a:pt x="135754" y="35422"/>
                </a:lnTo>
                <a:cubicBezTo>
                  <a:pt x="136940" y="39910"/>
                  <a:pt x="134826" y="44658"/>
                  <a:pt x="130635" y="46735"/>
                </a:cubicBezTo>
                <a:lnTo>
                  <a:pt x="116652" y="53634"/>
                </a:lnTo>
                <a:cubicBezTo>
                  <a:pt x="116392" y="55525"/>
                  <a:pt x="116021" y="57417"/>
                  <a:pt x="115539" y="59272"/>
                </a:cubicBezTo>
                <a:cubicBezTo>
                  <a:pt x="115057" y="61126"/>
                  <a:pt x="114389" y="62981"/>
                  <a:pt x="113684" y="64724"/>
                </a:cubicBezTo>
                <a:lnTo>
                  <a:pt x="122327" y="77706"/>
                </a:lnTo>
                <a:cubicBezTo>
                  <a:pt x="124923" y="81600"/>
                  <a:pt x="124404" y="86756"/>
                  <a:pt x="121103" y="90057"/>
                </a:cubicBezTo>
                <a:lnTo>
                  <a:pt x="113981" y="97179"/>
                </a:lnTo>
                <a:cubicBezTo>
                  <a:pt x="110680" y="100480"/>
                  <a:pt x="105524" y="100999"/>
                  <a:pt x="101630" y="98403"/>
                </a:cubicBezTo>
                <a:lnTo>
                  <a:pt x="88648" y="89761"/>
                </a:lnTo>
                <a:cubicBezTo>
                  <a:pt x="85124" y="91207"/>
                  <a:pt x="81378" y="92246"/>
                  <a:pt x="77558" y="92765"/>
                </a:cubicBezTo>
                <a:lnTo>
                  <a:pt x="70659" y="106711"/>
                </a:lnTo>
                <a:cubicBezTo>
                  <a:pt x="68581" y="110902"/>
                  <a:pt x="63834" y="113017"/>
                  <a:pt x="59346" y="111830"/>
                </a:cubicBezTo>
                <a:lnTo>
                  <a:pt x="49628" y="109233"/>
                </a:lnTo>
                <a:cubicBezTo>
                  <a:pt x="45103" y="108009"/>
                  <a:pt x="42098" y="103781"/>
                  <a:pt x="42395" y="99145"/>
                </a:cubicBezTo>
                <a:lnTo>
                  <a:pt x="43397" y="83603"/>
                </a:lnTo>
                <a:cubicBezTo>
                  <a:pt x="40318" y="81230"/>
                  <a:pt x="37610" y="78485"/>
                  <a:pt x="35274" y="75443"/>
                </a:cubicBezTo>
                <a:lnTo>
                  <a:pt x="19695" y="76445"/>
                </a:lnTo>
                <a:cubicBezTo>
                  <a:pt x="15059" y="76742"/>
                  <a:pt x="10831" y="73700"/>
                  <a:pt x="9607" y="69212"/>
                </a:cubicBezTo>
                <a:lnTo>
                  <a:pt x="7010" y="59494"/>
                </a:lnTo>
                <a:cubicBezTo>
                  <a:pt x="5823" y="55006"/>
                  <a:pt x="7938" y="50258"/>
                  <a:pt x="12129" y="48181"/>
                </a:cubicBezTo>
                <a:lnTo>
                  <a:pt x="26112" y="41282"/>
                </a:lnTo>
                <a:cubicBezTo>
                  <a:pt x="26372" y="39391"/>
                  <a:pt x="26743" y="37536"/>
                  <a:pt x="27225" y="35645"/>
                </a:cubicBezTo>
                <a:cubicBezTo>
                  <a:pt x="27744" y="33753"/>
                  <a:pt x="28338" y="31935"/>
                  <a:pt x="29079" y="30192"/>
                </a:cubicBezTo>
                <a:lnTo>
                  <a:pt x="20437" y="17247"/>
                </a:lnTo>
                <a:cubicBezTo>
                  <a:pt x="17841" y="13353"/>
                  <a:pt x="18360" y="8197"/>
                  <a:pt x="21661" y="4896"/>
                </a:cubicBezTo>
                <a:lnTo>
                  <a:pt x="28783" y="-2225"/>
                </a:lnTo>
                <a:cubicBezTo>
                  <a:pt x="32084" y="-5527"/>
                  <a:pt x="37239" y="-6046"/>
                  <a:pt x="41134" y="-3449"/>
                </a:cubicBezTo>
                <a:lnTo>
                  <a:pt x="54116" y="5193"/>
                </a:lnTo>
                <a:cubicBezTo>
                  <a:pt x="57640" y="3746"/>
                  <a:pt x="61386" y="2708"/>
                  <a:pt x="65206" y="2188"/>
                </a:cubicBezTo>
                <a:lnTo>
                  <a:pt x="72105" y="-11758"/>
                </a:lnTo>
                <a:cubicBezTo>
                  <a:pt x="74182" y="-15949"/>
                  <a:pt x="78893" y="-18063"/>
                  <a:pt x="83418" y="-16876"/>
                </a:cubicBezTo>
                <a:close/>
                <a:moveTo>
                  <a:pt x="71363" y="31157"/>
                </a:moveTo>
                <a:cubicBezTo>
                  <a:pt x="62356" y="31157"/>
                  <a:pt x="55043" y="38469"/>
                  <a:pt x="55043" y="47477"/>
                </a:cubicBezTo>
                <a:cubicBezTo>
                  <a:pt x="55043" y="56484"/>
                  <a:pt x="62356" y="63797"/>
                  <a:pt x="71363" y="63797"/>
                </a:cubicBezTo>
                <a:cubicBezTo>
                  <a:pt x="80371" y="63797"/>
                  <a:pt x="87683" y="56484"/>
                  <a:pt x="87683" y="47477"/>
                </a:cubicBezTo>
                <a:cubicBezTo>
                  <a:pt x="87683" y="38469"/>
                  <a:pt x="80371" y="31157"/>
                  <a:pt x="71363" y="3115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24897" y="5611738"/>
            <a:ext cx="2107963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Success Factors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7196" y="6124486"/>
            <a:ext cx="5165458" cy="493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results highlight the importance of </a:t>
            </a:r>
            <a:r>
              <a:rPr lang="en-US" sz="1196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careful feature extraction using TF-IDF</a:t>
            </a:r>
            <a:r>
              <a:rPr lang="en-US" sz="119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hyperparameter tuning to optimize model performance.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50522" y="1922804"/>
            <a:ext cx="5554766" cy="2212411"/>
          </a:xfrm>
          <a:custGeom>
            <a:avLst/>
            <a:gdLst/>
            <a:ahLst/>
            <a:cxnLst/>
            <a:rect l="l" t="t" r="r" b="b"/>
            <a:pathLst>
              <a:path w="5554766" h="2212411">
                <a:moveTo>
                  <a:pt x="151926" y="0"/>
                </a:moveTo>
                <a:lnTo>
                  <a:pt x="5402840" y="0"/>
                </a:lnTo>
                <a:cubicBezTo>
                  <a:pt x="5486747" y="0"/>
                  <a:pt x="5554766" y="68020"/>
                  <a:pt x="5554766" y="151926"/>
                </a:cubicBezTo>
                <a:lnTo>
                  <a:pt x="5554766" y="2060485"/>
                </a:lnTo>
                <a:cubicBezTo>
                  <a:pt x="5554766" y="2144392"/>
                  <a:pt x="5486747" y="2212411"/>
                  <a:pt x="5402840" y="2212411"/>
                </a:cubicBezTo>
                <a:lnTo>
                  <a:pt x="151926" y="2212411"/>
                </a:lnTo>
                <a:cubicBezTo>
                  <a:pt x="68020" y="2212411"/>
                  <a:pt x="0" y="2144392"/>
                  <a:pt x="0" y="2060485"/>
                </a:cubicBezTo>
                <a:lnTo>
                  <a:pt x="0" y="151926"/>
                </a:lnTo>
                <a:cubicBezTo>
                  <a:pt x="0" y="68076"/>
                  <a:pt x="68076" y="0"/>
                  <a:pt x="151926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270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06895" y="2193421"/>
            <a:ext cx="189907" cy="189907"/>
          </a:xfrm>
          <a:custGeom>
            <a:avLst/>
            <a:gdLst/>
            <a:ahLst/>
            <a:cxnLst/>
            <a:rect l="l" t="t" r="r" b="b"/>
            <a:pathLst>
              <a:path w="189907" h="189907">
                <a:moveTo>
                  <a:pt x="124626" y="130561"/>
                </a:moveTo>
                <a:cubicBezTo>
                  <a:pt x="160679" y="130561"/>
                  <a:pt x="189907" y="101333"/>
                  <a:pt x="189907" y="65280"/>
                </a:cubicBezTo>
                <a:cubicBezTo>
                  <a:pt x="189907" y="29228"/>
                  <a:pt x="160679" y="0"/>
                  <a:pt x="124626" y="0"/>
                </a:cubicBezTo>
                <a:cubicBezTo>
                  <a:pt x="88574" y="0"/>
                  <a:pt x="59346" y="29228"/>
                  <a:pt x="59346" y="65280"/>
                </a:cubicBezTo>
                <a:cubicBezTo>
                  <a:pt x="59346" y="72216"/>
                  <a:pt x="60421" y="78930"/>
                  <a:pt x="62424" y="85198"/>
                </a:cubicBezTo>
                <a:lnTo>
                  <a:pt x="2596" y="145026"/>
                </a:lnTo>
                <a:cubicBezTo>
                  <a:pt x="927" y="146695"/>
                  <a:pt x="0" y="148958"/>
                  <a:pt x="0" y="151332"/>
                </a:cubicBezTo>
                <a:lnTo>
                  <a:pt x="0" y="181005"/>
                </a:lnTo>
                <a:cubicBezTo>
                  <a:pt x="0" y="185938"/>
                  <a:pt x="3969" y="189907"/>
                  <a:pt x="8902" y="189907"/>
                </a:cubicBezTo>
                <a:lnTo>
                  <a:pt x="38575" y="189907"/>
                </a:lnTo>
                <a:cubicBezTo>
                  <a:pt x="43508" y="189907"/>
                  <a:pt x="47477" y="185938"/>
                  <a:pt x="47477" y="181005"/>
                </a:cubicBezTo>
                <a:lnTo>
                  <a:pt x="47477" y="166168"/>
                </a:lnTo>
                <a:lnTo>
                  <a:pt x="62313" y="166168"/>
                </a:lnTo>
                <a:cubicBezTo>
                  <a:pt x="67246" y="166168"/>
                  <a:pt x="71215" y="162199"/>
                  <a:pt x="71215" y="157266"/>
                </a:cubicBezTo>
                <a:lnTo>
                  <a:pt x="71215" y="142430"/>
                </a:lnTo>
                <a:lnTo>
                  <a:pt x="86051" y="142430"/>
                </a:lnTo>
                <a:cubicBezTo>
                  <a:pt x="88425" y="142430"/>
                  <a:pt x="90688" y="141503"/>
                  <a:pt x="92357" y="139834"/>
                </a:cubicBezTo>
                <a:lnTo>
                  <a:pt x="104708" y="127482"/>
                </a:lnTo>
                <a:cubicBezTo>
                  <a:pt x="110977" y="129485"/>
                  <a:pt x="117690" y="130561"/>
                  <a:pt x="124626" y="130561"/>
                </a:cubicBezTo>
                <a:close/>
                <a:moveTo>
                  <a:pt x="139463" y="35607"/>
                </a:moveTo>
                <a:cubicBezTo>
                  <a:pt x="147651" y="35607"/>
                  <a:pt x="154299" y="42255"/>
                  <a:pt x="154299" y="50444"/>
                </a:cubicBezTo>
                <a:cubicBezTo>
                  <a:pt x="154299" y="58632"/>
                  <a:pt x="147651" y="65280"/>
                  <a:pt x="139463" y="65280"/>
                </a:cubicBezTo>
                <a:cubicBezTo>
                  <a:pt x="131274" y="65280"/>
                  <a:pt x="124626" y="58632"/>
                  <a:pt x="124626" y="50444"/>
                </a:cubicBezTo>
                <a:cubicBezTo>
                  <a:pt x="124626" y="42255"/>
                  <a:pt x="131274" y="35607"/>
                  <a:pt x="139463" y="3560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540" y="2155439"/>
            <a:ext cx="4947065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83157" y="2592224"/>
            <a:ext cx="227888" cy="227888"/>
          </a:xfrm>
          <a:custGeom>
            <a:avLst/>
            <a:gdLst/>
            <a:ahLst/>
            <a:cxnLst/>
            <a:rect l="l" t="t" r="r" b="b"/>
            <a:pathLst>
              <a:path w="227888" h="227888">
                <a:moveTo>
                  <a:pt x="113944" y="0"/>
                </a:moveTo>
                <a:lnTo>
                  <a:pt x="113944" y="0"/>
                </a:lnTo>
                <a:cubicBezTo>
                  <a:pt x="176831" y="0"/>
                  <a:pt x="227888" y="51057"/>
                  <a:pt x="227888" y="113944"/>
                </a:cubicBezTo>
                <a:lnTo>
                  <a:pt x="227888" y="113944"/>
                </a:lnTo>
                <a:cubicBezTo>
                  <a:pt x="227888" y="176831"/>
                  <a:pt x="176831" y="227888"/>
                  <a:pt x="113944" y="227888"/>
                </a:cubicBezTo>
                <a:lnTo>
                  <a:pt x="113944" y="227888"/>
                </a:lnTo>
                <a:cubicBezTo>
                  <a:pt x="51057" y="227888"/>
                  <a:pt x="0" y="176831"/>
                  <a:pt x="0" y="113944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3" name="Shape 21"/>
          <p:cNvSpPr/>
          <p:nvPr/>
        </p:nvSpPr>
        <p:spPr>
          <a:xfrm>
            <a:off x="6547251" y="2649196"/>
            <a:ext cx="99701" cy="113944"/>
          </a:xfrm>
          <a:custGeom>
            <a:avLst/>
            <a:gdLst/>
            <a:ahLst/>
            <a:cxnLst/>
            <a:rect l="l" t="t" r="r" b="b"/>
            <a:pathLst>
              <a:path w="99701" h="113944">
                <a:moveTo>
                  <a:pt x="96763" y="15601"/>
                </a:moveTo>
                <a:cubicBezTo>
                  <a:pt x="99946" y="17915"/>
                  <a:pt x="100658" y="22366"/>
                  <a:pt x="98343" y="25548"/>
                </a:cubicBezTo>
                <a:lnTo>
                  <a:pt x="41371" y="103885"/>
                </a:lnTo>
                <a:cubicBezTo>
                  <a:pt x="40147" y="105576"/>
                  <a:pt x="38256" y="106622"/>
                  <a:pt x="36164" y="106800"/>
                </a:cubicBezTo>
                <a:cubicBezTo>
                  <a:pt x="34072" y="106978"/>
                  <a:pt x="32047" y="106199"/>
                  <a:pt x="30578" y="104730"/>
                </a:cubicBezTo>
                <a:lnTo>
                  <a:pt x="2092" y="76245"/>
                </a:lnTo>
                <a:cubicBezTo>
                  <a:pt x="-690" y="73463"/>
                  <a:pt x="-690" y="68945"/>
                  <a:pt x="2092" y="66163"/>
                </a:cubicBezTo>
                <a:cubicBezTo>
                  <a:pt x="4874" y="63381"/>
                  <a:pt x="9391" y="63381"/>
                  <a:pt x="12173" y="66163"/>
                </a:cubicBezTo>
                <a:lnTo>
                  <a:pt x="34762" y="88752"/>
                </a:lnTo>
                <a:lnTo>
                  <a:pt x="86838" y="17158"/>
                </a:lnTo>
                <a:cubicBezTo>
                  <a:pt x="89152" y="13976"/>
                  <a:pt x="93603" y="13264"/>
                  <a:pt x="96786" y="155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824989" y="2573234"/>
            <a:ext cx="4310879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 preprocessing</a:t>
            </a:r>
            <a:r>
              <a:rPr lang="en-US" sz="119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critical for accurate sentiment predictions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83157" y="2953047"/>
            <a:ext cx="227888" cy="227888"/>
          </a:xfrm>
          <a:custGeom>
            <a:avLst/>
            <a:gdLst/>
            <a:ahLst/>
            <a:cxnLst/>
            <a:rect l="l" t="t" r="r" b="b"/>
            <a:pathLst>
              <a:path w="227888" h="227888">
                <a:moveTo>
                  <a:pt x="113944" y="0"/>
                </a:moveTo>
                <a:lnTo>
                  <a:pt x="113944" y="0"/>
                </a:lnTo>
                <a:cubicBezTo>
                  <a:pt x="176831" y="0"/>
                  <a:pt x="227888" y="51057"/>
                  <a:pt x="227888" y="113944"/>
                </a:cubicBezTo>
                <a:lnTo>
                  <a:pt x="227888" y="113944"/>
                </a:lnTo>
                <a:cubicBezTo>
                  <a:pt x="227888" y="176831"/>
                  <a:pt x="176831" y="227888"/>
                  <a:pt x="113944" y="227888"/>
                </a:cubicBezTo>
                <a:lnTo>
                  <a:pt x="113944" y="227888"/>
                </a:lnTo>
                <a:cubicBezTo>
                  <a:pt x="51057" y="227888"/>
                  <a:pt x="0" y="176831"/>
                  <a:pt x="0" y="113944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6" name="Shape 24"/>
          <p:cNvSpPr/>
          <p:nvPr/>
        </p:nvSpPr>
        <p:spPr>
          <a:xfrm>
            <a:off x="6547251" y="3010019"/>
            <a:ext cx="99701" cy="113944"/>
          </a:xfrm>
          <a:custGeom>
            <a:avLst/>
            <a:gdLst/>
            <a:ahLst/>
            <a:cxnLst/>
            <a:rect l="l" t="t" r="r" b="b"/>
            <a:pathLst>
              <a:path w="99701" h="113944">
                <a:moveTo>
                  <a:pt x="96763" y="15601"/>
                </a:moveTo>
                <a:cubicBezTo>
                  <a:pt x="99946" y="17915"/>
                  <a:pt x="100658" y="22366"/>
                  <a:pt x="98343" y="25548"/>
                </a:cubicBezTo>
                <a:lnTo>
                  <a:pt x="41371" y="103885"/>
                </a:lnTo>
                <a:cubicBezTo>
                  <a:pt x="40147" y="105576"/>
                  <a:pt x="38256" y="106622"/>
                  <a:pt x="36164" y="106800"/>
                </a:cubicBezTo>
                <a:cubicBezTo>
                  <a:pt x="34072" y="106978"/>
                  <a:pt x="32047" y="106199"/>
                  <a:pt x="30578" y="104730"/>
                </a:cubicBezTo>
                <a:lnTo>
                  <a:pt x="2092" y="76245"/>
                </a:lnTo>
                <a:cubicBezTo>
                  <a:pt x="-690" y="73463"/>
                  <a:pt x="-690" y="68945"/>
                  <a:pt x="2092" y="66163"/>
                </a:cubicBezTo>
                <a:cubicBezTo>
                  <a:pt x="4874" y="63381"/>
                  <a:pt x="9391" y="63381"/>
                  <a:pt x="12173" y="66163"/>
                </a:cubicBezTo>
                <a:lnTo>
                  <a:pt x="34762" y="88752"/>
                </a:lnTo>
                <a:lnTo>
                  <a:pt x="86838" y="17158"/>
                </a:lnTo>
                <a:cubicBezTo>
                  <a:pt x="89152" y="13976"/>
                  <a:pt x="93603" y="13264"/>
                  <a:pt x="96786" y="155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824989" y="2934056"/>
            <a:ext cx="4272897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Appropriate model selection</a:t>
            </a:r>
            <a:r>
              <a:rPr lang="en-US" sz="119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significantly impacts performance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83157" y="3313869"/>
            <a:ext cx="227888" cy="227888"/>
          </a:xfrm>
          <a:custGeom>
            <a:avLst/>
            <a:gdLst/>
            <a:ahLst/>
            <a:cxnLst/>
            <a:rect l="l" t="t" r="r" b="b"/>
            <a:pathLst>
              <a:path w="227888" h="227888">
                <a:moveTo>
                  <a:pt x="113944" y="0"/>
                </a:moveTo>
                <a:lnTo>
                  <a:pt x="113944" y="0"/>
                </a:lnTo>
                <a:cubicBezTo>
                  <a:pt x="176831" y="0"/>
                  <a:pt x="227888" y="51057"/>
                  <a:pt x="227888" y="113944"/>
                </a:cubicBezTo>
                <a:lnTo>
                  <a:pt x="227888" y="113944"/>
                </a:lnTo>
                <a:cubicBezTo>
                  <a:pt x="227888" y="176831"/>
                  <a:pt x="176831" y="227888"/>
                  <a:pt x="113944" y="227888"/>
                </a:cubicBezTo>
                <a:lnTo>
                  <a:pt x="113944" y="227888"/>
                </a:lnTo>
                <a:cubicBezTo>
                  <a:pt x="51057" y="227888"/>
                  <a:pt x="0" y="176831"/>
                  <a:pt x="0" y="113944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9" name="Shape 27"/>
          <p:cNvSpPr/>
          <p:nvPr/>
        </p:nvSpPr>
        <p:spPr>
          <a:xfrm>
            <a:off x="6547251" y="3370841"/>
            <a:ext cx="99701" cy="113944"/>
          </a:xfrm>
          <a:custGeom>
            <a:avLst/>
            <a:gdLst/>
            <a:ahLst/>
            <a:cxnLst/>
            <a:rect l="l" t="t" r="r" b="b"/>
            <a:pathLst>
              <a:path w="99701" h="113944">
                <a:moveTo>
                  <a:pt x="96763" y="15601"/>
                </a:moveTo>
                <a:cubicBezTo>
                  <a:pt x="99946" y="17915"/>
                  <a:pt x="100658" y="22366"/>
                  <a:pt x="98343" y="25548"/>
                </a:cubicBezTo>
                <a:lnTo>
                  <a:pt x="41371" y="103885"/>
                </a:lnTo>
                <a:cubicBezTo>
                  <a:pt x="40147" y="105576"/>
                  <a:pt x="38256" y="106622"/>
                  <a:pt x="36164" y="106800"/>
                </a:cubicBezTo>
                <a:cubicBezTo>
                  <a:pt x="34072" y="106978"/>
                  <a:pt x="32047" y="106199"/>
                  <a:pt x="30578" y="104730"/>
                </a:cubicBezTo>
                <a:lnTo>
                  <a:pt x="2092" y="76245"/>
                </a:lnTo>
                <a:cubicBezTo>
                  <a:pt x="-690" y="73463"/>
                  <a:pt x="-690" y="68945"/>
                  <a:pt x="2092" y="66163"/>
                </a:cubicBezTo>
                <a:cubicBezTo>
                  <a:pt x="4874" y="63381"/>
                  <a:pt x="9391" y="63381"/>
                  <a:pt x="12173" y="66163"/>
                </a:cubicBezTo>
                <a:lnTo>
                  <a:pt x="34762" y="88752"/>
                </a:lnTo>
                <a:lnTo>
                  <a:pt x="86838" y="17158"/>
                </a:lnTo>
                <a:cubicBezTo>
                  <a:pt x="89152" y="13976"/>
                  <a:pt x="93603" y="13264"/>
                  <a:pt x="96786" y="155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824989" y="3294879"/>
            <a:ext cx="3703178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Hyperparameter tuning</a:t>
            </a:r>
            <a:r>
              <a:rPr lang="en-US" sz="119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optimizes model effectiveness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83157" y="3674692"/>
            <a:ext cx="227888" cy="227888"/>
          </a:xfrm>
          <a:custGeom>
            <a:avLst/>
            <a:gdLst/>
            <a:ahLst/>
            <a:cxnLst/>
            <a:rect l="l" t="t" r="r" b="b"/>
            <a:pathLst>
              <a:path w="227888" h="227888">
                <a:moveTo>
                  <a:pt x="113944" y="0"/>
                </a:moveTo>
                <a:lnTo>
                  <a:pt x="113944" y="0"/>
                </a:lnTo>
                <a:cubicBezTo>
                  <a:pt x="176831" y="0"/>
                  <a:pt x="227888" y="51057"/>
                  <a:pt x="227888" y="113944"/>
                </a:cubicBezTo>
                <a:lnTo>
                  <a:pt x="227888" y="113944"/>
                </a:lnTo>
                <a:cubicBezTo>
                  <a:pt x="227888" y="176831"/>
                  <a:pt x="176831" y="227888"/>
                  <a:pt x="113944" y="227888"/>
                </a:cubicBezTo>
                <a:lnTo>
                  <a:pt x="113944" y="227888"/>
                </a:lnTo>
                <a:cubicBezTo>
                  <a:pt x="51057" y="227888"/>
                  <a:pt x="0" y="176831"/>
                  <a:pt x="0" y="113944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2" name="Shape 30"/>
          <p:cNvSpPr/>
          <p:nvPr/>
        </p:nvSpPr>
        <p:spPr>
          <a:xfrm>
            <a:off x="6547251" y="3731664"/>
            <a:ext cx="99701" cy="113944"/>
          </a:xfrm>
          <a:custGeom>
            <a:avLst/>
            <a:gdLst/>
            <a:ahLst/>
            <a:cxnLst/>
            <a:rect l="l" t="t" r="r" b="b"/>
            <a:pathLst>
              <a:path w="99701" h="113944">
                <a:moveTo>
                  <a:pt x="96763" y="15601"/>
                </a:moveTo>
                <a:cubicBezTo>
                  <a:pt x="99946" y="17915"/>
                  <a:pt x="100658" y="22366"/>
                  <a:pt x="98343" y="25548"/>
                </a:cubicBezTo>
                <a:lnTo>
                  <a:pt x="41371" y="103885"/>
                </a:lnTo>
                <a:cubicBezTo>
                  <a:pt x="40147" y="105576"/>
                  <a:pt x="38256" y="106622"/>
                  <a:pt x="36164" y="106800"/>
                </a:cubicBezTo>
                <a:cubicBezTo>
                  <a:pt x="34072" y="106978"/>
                  <a:pt x="32047" y="106199"/>
                  <a:pt x="30578" y="104730"/>
                </a:cubicBezTo>
                <a:lnTo>
                  <a:pt x="2092" y="76245"/>
                </a:lnTo>
                <a:cubicBezTo>
                  <a:pt x="-690" y="73463"/>
                  <a:pt x="-690" y="68945"/>
                  <a:pt x="2092" y="66163"/>
                </a:cubicBezTo>
                <a:cubicBezTo>
                  <a:pt x="4874" y="63381"/>
                  <a:pt x="9391" y="63381"/>
                  <a:pt x="12173" y="66163"/>
                </a:cubicBezTo>
                <a:lnTo>
                  <a:pt x="34762" y="88752"/>
                </a:lnTo>
                <a:lnTo>
                  <a:pt x="86838" y="17158"/>
                </a:lnTo>
                <a:cubicBezTo>
                  <a:pt x="89152" y="13976"/>
                  <a:pt x="93603" y="13264"/>
                  <a:pt x="96786" y="155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824989" y="3655701"/>
            <a:ext cx="4453308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Balanced evaluation metrics</a:t>
            </a:r>
            <a:r>
              <a:rPr lang="en-US" sz="119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are essential for imbalanced datasets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50522" y="4334617"/>
            <a:ext cx="5554766" cy="1851589"/>
          </a:xfrm>
          <a:custGeom>
            <a:avLst/>
            <a:gdLst/>
            <a:ahLst/>
            <a:cxnLst/>
            <a:rect l="l" t="t" r="r" b="b"/>
            <a:pathLst>
              <a:path w="5554766" h="1851589">
                <a:moveTo>
                  <a:pt x="151923" y="0"/>
                </a:moveTo>
                <a:lnTo>
                  <a:pt x="5402843" y="0"/>
                </a:lnTo>
                <a:cubicBezTo>
                  <a:pt x="5486748" y="0"/>
                  <a:pt x="5554766" y="68018"/>
                  <a:pt x="5554766" y="151923"/>
                </a:cubicBezTo>
                <a:lnTo>
                  <a:pt x="5554766" y="1699666"/>
                </a:lnTo>
                <a:cubicBezTo>
                  <a:pt x="5554766" y="1783571"/>
                  <a:pt x="5486748" y="1851589"/>
                  <a:pt x="5402843" y="1851589"/>
                </a:cubicBezTo>
                <a:lnTo>
                  <a:pt x="151923" y="1851589"/>
                </a:lnTo>
                <a:cubicBezTo>
                  <a:pt x="68018" y="1851589"/>
                  <a:pt x="0" y="1783571"/>
                  <a:pt x="0" y="1699666"/>
                </a:cubicBezTo>
                <a:lnTo>
                  <a:pt x="0" y="151923"/>
                </a:lnTo>
                <a:cubicBezTo>
                  <a:pt x="0" y="68018"/>
                  <a:pt x="68018" y="0"/>
                  <a:pt x="15192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06895" y="4605234"/>
            <a:ext cx="189907" cy="189907"/>
          </a:xfrm>
          <a:custGeom>
            <a:avLst/>
            <a:gdLst/>
            <a:ahLst/>
            <a:cxnLst/>
            <a:rect l="l" t="t" r="r" b="b"/>
            <a:pathLst>
              <a:path w="189907" h="189907">
                <a:moveTo>
                  <a:pt x="47477" y="118692"/>
                </a:moveTo>
                <a:lnTo>
                  <a:pt x="9087" y="118692"/>
                </a:lnTo>
                <a:cubicBezTo>
                  <a:pt x="-148" y="118692"/>
                  <a:pt x="-5823" y="108640"/>
                  <a:pt x="-1076" y="100702"/>
                </a:cubicBezTo>
                <a:lnTo>
                  <a:pt x="18546" y="67988"/>
                </a:lnTo>
                <a:cubicBezTo>
                  <a:pt x="21772" y="62610"/>
                  <a:pt x="27559" y="59346"/>
                  <a:pt x="33827" y="59346"/>
                </a:cubicBezTo>
                <a:lnTo>
                  <a:pt x="69064" y="59346"/>
                </a:lnTo>
                <a:cubicBezTo>
                  <a:pt x="97290" y="11535"/>
                  <a:pt x="139388" y="9124"/>
                  <a:pt x="167541" y="13242"/>
                </a:cubicBezTo>
                <a:cubicBezTo>
                  <a:pt x="172288" y="13946"/>
                  <a:pt x="175997" y="17655"/>
                  <a:pt x="176665" y="22366"/>
                </a:cubicBezTo>
                <a:cubicBezTo>
                  <a:pt x="180782" y="50518"/>
                  <a:pt x="178371" y="92617"/>
                  <a:pt x="130561" y="120843"/>
                </a:cubicBezTo>
                <a:lnTo>
                  <a:pt x="130561" y="156079"/>
                </a:lnTo>
                <a:cubicBezTo>
                  <a:pt x="130561" y="162348"/>
                  <a:pt x="127297" y="168134"/>
                  <a:pt x="121919" y="171361"/>
                </a:cubicBezTo>
                <a:lnTo>
                  <a:pt x="89204" y="190982"/>
                </a:lnTo>
                <a:cubicBezTo>
                  <a:pt x="81304" y="195730"/>
                  <a:pt x="71215" y="190018"/>
                  <a:pt x="71215" y="180819"/>
                </a:cubicBezTo>
                <a:lnTo>
                  <a:pt x="71215" y="142430"/>
                </a:lnTo>
                <a:cubicBezTo>
                  <a:pt x="71215" y="129337"/>
                  <a:pt x="60570" y="118692"/>
                  <a:pt x="47477" y="118692"/>
                </a:cubicBezTo>
                <a:lnTo>
                  <a:pt x="47440" y="118692"/>
                </a:lnTo>
                <a:close/>
                <a:moveTo>
                  <a:pt x="148364" y="59346"/>
                </a:moveTo>
                <a:cubicBezTo>
                  <a:pt x="148364" y="49520"/>
                  <a:pt x="140387" y="41542"/>
                  <a:pt x="130561" y="41542"/>
                </a:cubicBezTo>
                <a:cubicBezTo>
                  <a:pt x="120735" y="41542"/>
                  <a:pt x="112757" y="49520"/>
                  <a:pt x="112757" y="59346"/>
                </a:cubicBezTo>
                <a:cubicBezTo>
                  <a:pt x="112757" y="69172"/>
                  <a:pt x="120735" y="77150"/>
                  <a:pt x="130561" y="77150"/>
                </a:cubicBezTo>
                <a:cubicBezTo>
                  <a:pt x="140387" y="77150"/>
                  <a:pt x="148364" y="69172"/>
                  <a:pt x="148364" y="59346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6" name="Text 34"/>
          <p:cNvSpPr/>
          <p:nvPr/>
        </p:nvSpPr>
        <p:spPr>
          <a:xfrm>
            <a:off x="6720540" y="4567252"/>
            <a:ext cx="4947065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Applications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83157" y="4985047"/>
            <a:ext cx="5165458" cy="246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insights gained from this analysis can inform strategies for: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502148" y="5421832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18991" y="18991"/>
                </a:moveTo>
                <a:cubicBezTo>
                  <a:pt x="18991" y="13739"/>
                  <a:pt x="14747" y="9495"/>
                  <a:pt x="9495" y="9495"/>
                </a:cubicBezTo>
                <a:cubicBezTo>
                  <a:pt x="4243" y="9495"/>
                  <a:pt x="0" y="13739"/>
                  <a:pt x="0" y="18991"/>
                </a:cubicBezTo>
                <a:lnTo>
                  <a:pt x="0" y="118692"/>
                </a:lnTo>
                <a:cubicBezTo>
                  <a:pt x="0" y="131807"/>
                  <a:pt x="10623" y="142430"/>
                  <a:pt x="23738" y="142430"/>
                </a:cubicBezTo>
                <a:lnTo>
                  <a:pt x="142430" y="142430"/>
                </a:lnTo>
                <a:cubicBezTo>
                  <a:pt x="147682" y="142430"/>
                  <a:pt x="151925" y="138187"/>
                  <a:pt x="151925" y="132935"/>
                </a:cubicBezTo>
                <a:cubicBezTo>
                  <a:pt x="151925" y="127682"/>
                  <a:pt x="147682" y="123439"/>
                  <a:pt x="142430" y="123439"/>
                </a:cubicBezTo>
                <a:lnTo>
                  <a:pt x="23738" y="123439"/>
                </a:lnTo>
                <a:cubicBezTo>
                  <a:pt x="21127" y="123439"/>
                  <a:pt x="18991" y="121303"/>
                  <a:pt x="18991" y="118692"/>
                </a:cubicBezTo>
                <a:lnTo>
                  <a:pt x="18991" y="18991"/>
                </a:lnTo>
                <a:close/>
                <a:moveTo>
                  <a:pt x="139641" y="44687"/>
                </a:moveTo>
                <a:cubicBezTo>
                  <a:pt x="143350" y="40978"/>
                  <a:pt x="143350" y="34955"/>
                  <a:pt x="139641" y="31246"/>
                </a:cubicBezTo>
                <a:cubicBezTo>
                  <a:pt x="135932" y="27536"/>
                  <a:pt x="129908" y="27536"/>
                  <a:pt x="126199" y="31246"/>
                </a:cubicBezTo>
                <a:lnTo>
                  <a:pt x="94953" y="62521"/>
                </a:lnTo>
                <a:lnTo>
                  <a:pt x="77921" y="45518"/>
                </a:lnTo>
                <a:cubicBezTo>
                  <a:pt x="74212" y="41809"/>
                  <a:pt x="68188" y="41809"/>
                  <a:pt x="64479" y="45518"/>
                </a:cubicBezTo>
                <a:lnTo>
                  <a:pt x="35993" y="74004"/>
                </a:lnTo>
                <a:cubicBezTo>
                  <a:pt x="32284" y="77713"/>
                  <a:pt x="32284" y="83737"/>
                  <a:pt x="35993" y="87446"/>
                </a:cubicBezTo>
                <a:cubicBezTo>
                  <a:pt x="39702" y="91155"/>
                  <a:pt x="45726" y="91155"/>
                  <a:pt x="49435" y="87446"/>
                </a:cubicBezTo>
                <a:lnTo>
                  <a:pt x="71215" y="65666"/>
                </a:lnTo>
                <a:lnTo>
                  <a:pt x="88247" y="82698"/>
                </a:lnTo>
                <a:cubicBezTo>
                  <a:pt x="91956" y="86407"/>
                  <a:pt x="97980" y="86407"/>
                  <a:pt x="101689" y="82698"/>
                </a:cubicBezTo>
                <a:lnTo>
                  <a:pt x="139670" y="44717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9" name="Text 37"/>
          <p:cNvSpPr/>
          <p:nvPr/>
        </p:nvSpPr>
        <p:spPr>
          <a:xfrm>
            <a:off x="6749026" y="5383850"/>
            <a:ext cx="1775626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Monitoring public opinion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083838" y="5421832"/>
            <a:ext cx="189907" cy="151925"/>
          </a:xfrm>
          <a:custGeom>
            <a:avLst/>
            <a:gdLst/>
            <a:ahLst/>
            <a:cxnLst/>
            <a:rect l="l" t="t" r="r" b="b"/>
            <a:pathLst>
              <a:path w="189907" h="151925">
                <a:moveTo>
                  <a:pt x="94953" y="4748"/>
                </a:moveTo>
                <a:cubicBezTo>
                  <a:pt x="111985" y="4748"/>
                  <a:pt x="125813" y="18575"/>
                  <a:pt x="125813" y="35607"/>
                </a:cubicBezTo>
                <a:cubicBezTo>
                  <a:pt x="125813" y="52639"/>
                  <a:pt x="111985" y="66467"/>
                  <a:pt x="94953" y="66467"/>
                </a:cubicBezTo>
                <a:cubicBezTo>
                  <a:pt x="77921" y="66467"/>
                  <a:pt x="64093" y="52639"/>
                  <a:pt x="64093" y="35607"/>
                </a:cubicBezTo>
                <a:cubicBezTo>
                  <a:pt x="64093" y="18575"/>
                  <a:pt x="77921" y="4748"/>
                  <a:pt x="94953" y="4748"/>
                </a:cubicBezTo>
                <a:close/>
                <a:moveTo>
                  <a:pt x="28486" y="26112"/>
                </a:moveTo>
                <a:cubicBezTo>
                  <a:pt x="40277" y="26112"/>
                  <a:pt x="49850" y="35685"/>
                  <a:pt x="49850" y="47477"/>
                </a:cubicBezTo>
                <a:cubicBezTo>
                  <a:pt x="49850" y="59268"/>
                  <a:pt x="40277" y="68841"/>
                  <a:pt x="28486" y="68841"/>
                </a:cubicBezTo>
                <a:cubicBezTo>
                  <a:pt x="16695" y="68841"/>
                  <a:pt x="7121" y="59268"/>
                  <a:pt x="7121" y="47477"/>
                </a:cubicBezTo>
                <a:cubicBezTo>
                  <a:pt x="7121" y="35685"/>
                  <a:pt x="16695" y="26112"/>
                  <a:pt x="28486" y="26112"/>
                </a:cubicBezTo>
                <a:close/>
                <a:moveTo>
                  <a:pt x="0" y="123439"/>
                </a:moveTo>
                <a:cubicBezTo>
                  <a:pt x="0" y="102461"/>
                  <a:pt x="17003" y="85458"/>
                  <a:pt x="37981" y="85458"/>
                </a:cubicBezTo>
                <a:cubicBezTo>
                  <a:pt x="41779" y="85458"/>
                  <a:pt x="45459" y="86022"/>
                  <a:pt x="48931" y="87060"/>
                </a:cubicBezTo>
                <a:cubicBezTo>
                  <a:pt x="39168" y="97980"/>
                  <a:pt x="33234" y="112401"/>
                  <a:pt x="33234" y="128187"/>
                </a:cubicBezTo>
                <a:lnTo>
                  <a:pt x="33234" y="132935"/>
                </a:lnTo>
                <a:cubicBezTo>
                  <a:pt x="33234" y="136317"/>
                  <a:pt x="33946" y="139522"/>
                  <a:pt x="35222" y="142430"/>
                </a:cubicBezTo>
                <a:lnTo>
                  <a:pt x="9495" y="142430"/>
                </a:lnTo>
                <a:cubicBezTo>
                  <a:pt x="4243" y="142430"/>
                  <a:pt x="0" y="138187"/>
                  <a:pt x="0" y="132935"/>
                </a:cubicBezTo>
                <a:lnTo>
                  <a:pt x="0" y="123439"/>
                </a:lnTo>
                <a:close/>
                <a:moveTo>
                  <a:pt x="154685" y="142430"/>
                </a:moveTo>
                <a:cubicBezTo>
                  <a:pt x="155961" y="139522"/>
                  <a:pt x="156673" y="136317"/>
                  <a:pt x="156673" y="132935"/>
                </a:cubicBezTo>
                <a:lnTo>
                  <a:pt x="156673" y="128187"/>
                </a:lnTo>
                <a:cubicBezTo>
                  <a:pt x="156673" y="112401"/>
                  <a:pt x="150738" y="97980"/>
                  <a:pt x="140976" y="87060"/>
                </a:cubicBezTo>
                <a:cubicBezTo>
                  <a:pt x="144448" y="86022"/>
                  <a:pt x="148127" y="85458"/>
                  <a:pt x="151925" y="85458"/>
                </a:cubicBezTo>
                <a:cubicBezTo>
                  <a:pt x="172904" y="85458"/>
                  <a:pt x="189907" y="102461"/>
                  <a:pt x="189907" y="123439"/>
                </a:cubicBezTo>
                <a:lnTo>
                  <a:pt x="189907" y="132935"/>
                </a:lnTo>
                <a:cubicBezTo>
                  <a:pt x="189907" y="138187"/>
                  <a:pt x="185663" y="142430"/>
                  <a:pt x="180411" y="142430"/>
                </a:cubicBezTo>
                <a:lnTo>
                  <a:pt x="154685" y="142430"/>
                </a:lnTo>
                <a:close/>
                <a:moveTo>
                  <a:pt x="140056" y="47477"/>
                </a:moveTo>
                <a:cubicBezTo>
                  <a:pt x="140056" y="35685"/>
                  <a:pt x="149629" y="26112"/>
                  <a:pt x="161421" y="26112"/>
                </a:cubicBezTo>
                <a:cubicBezTo>
                  <a:pt x="173212" y="26112"/>
                  <a:pt x="182785" y="35685"/>
                  <a:pt x="182785" y="47477"/>
                </a:cubicBezTo>
                <a:cubicBezTo>
                  <a:pt x="182785" y="59268"/>
                  <a:pt x="173212" y="68841"/>
                  <a:pt x="161421" y="68841"/>
                </a:cubicBezTo>
                <a:cubicBezTo>
                  <a:pt x="149629" y="68841"/>
                  <a:pt x="140056" y="59268"/>
                  <a:pt x="140056" y="47477"/>
                </a:cubicBezTo>
                <a:close/>
                <a:moveTo>
                  <a:pt x="47477" y="128187"/>
                </a:moveTo>
                <a:cubicBezTo>
                  <a:pt x="47477" y="101956"/>
                  <a:pt x="68722" y="80710"/>
                  <a:pt x="94953" y="80710"/>
                </a:cubicBezTo>
                <a:cubicBezTo>
                  <a:pt x="121184" y="80710"/>
                  <a:pt x="142430" y="101956"/>
                  <a:pt x="142430" y="128187"/>
                </a:cubicBezTo>
                <a:lnTo>
                  <a:pt x="142430" y="132935"/>
                </a:lnTo>
                <a:cubicBezTo>
                  <a:pt x="142430" y="138187"/>
                  <a:pt x="138187" y="142430"/>
                  <a:pt x="132935" y="142430"/>
                </a:cubicBezTo>
                <a:lnTo>
                  <a:pt x="56972" y="142430"/>
                </a:lnTo>
                <a:cubicBezTo>
                  <a:pt x="51720" y="142430"/>
                  <a:pt x="47477" y="138187"/>
                  <a:pt x="47477" y="132935"/>
                </a:cubicBezTo>
                <a:lnTo>
                  <a:pt x="47477" y="128187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1" name="Text 39"/>
          <p:cNvSpPr/>
          <p:nvPr/>
        </p:nvSpPr>
        <p:spPr>
          <a:xfrm>
            <a:off x="9349707" y="5383850"/>
            <a:ext cx="2003514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user behavior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521138" y="5763664"/>
            <a:ext cx="113944" cy="151925"/>
          </a:xfrm>
          <a:custGeom>
            <a:avLst/>
            <a:gdLst/>
            <a:ahLst/>
            <a:cxnLst/>
            <a:rect l="l" t="t" r="r" b="b"/>
            <a:pathLst>
              <a:path w="113944" h="151925">
                <a:moveTo>
                  <a:pt x="86912" y="113944"/>
                </a:moveTo>
                <a:cubicBezTo>
                  <a:pt x="89078" y="107327"/>
                  <a:pt x="93410" y="101333"/>
                  <a:pt x="98306" y="96170"/>
                </a:cubicBezTo>
                <a:cubicBezTo>
                  <a:pt x="108009" y="85962"/>
                  <a:pt x="113944" y="72164"/>
                  <a:pt x="113944" y="56972"/>
                </a:cubicBezTo>
                <a:cubicBezTo>
                  <a:pt x="113944" y="25519"/>
                  <a:pt x="88425" y="0"/>
                  <a:pt x="56972" y="0"/>
                </a:cubicBezTo>
                <a:cubicBezTo>
                  <a:pt x="25519" y="0"/>
                  <a:pt x="0" y="25519"/>
                  <a:pt x="0" y="56972"/>
                </a:cubicBezTo>
                <a:cubicBezTo>
                  <a:pt x="0" y="72164"/>
                  <a:pt x="5935" y="85962"/>
                  <a:pt x="15638" y="96170"/>
                </a:cubicBezTo>
                <a:cubicBezTo>
                  <a:pt x="20534" y="101333"/>
                  <a:pt x="24896" y="107327"/>
                  <a:pt x="27032" y="113944"/>
                </a:cubicBezTo>
                <a:lnTo>
                  <a:pt x="86882" y="113944"/>
                </a:lnTo>
                <a:close/>
                <a:moveTo>
                  <a:pt x="85458" y="128187"/>
                </a:moveTo>
                <a:lnTo>
                  <a:pt x="28486" y="128187"/>
                </a:lnTo>
                <a:lnTo>
                  <a:pt x="28486" y="132935"/>
                </a:lnTo>
                <a:cubicBezTo>
                  <a:pt x="28486" y="146050"/>
                  <a:pt x="39109" y="156673"/>
                  <a:pt x="52224" y="156673"/>
                </a:cubicBezTo>
                <a:lnTo>
                  <a:pt x="61720" y="156673"/>
                </a:lnTo>
                <a:cubicBezTo>
                  <a:pt x="74835" y="156673"/>
                  <a:pt x="85458" y="146050"/>
                  <a:pt x="85458" y="132935"/>
                </a:cubicBezTo>
                <a:lnTo>
                  <a:pt x="85458" y="128187"/>
                </a:lnTo>
                <a:close/>
                <a:moveTo>
                  <a:pt x="54598" y="33234"/>
                </a:moveTo>
                <a:cubicBezTo>
                  <a:pt x="42788" y="33234"/>
                  <a:pt x="33234" y="42788"/>
                  <a:pt x="33234" y="54598"/>
                </a:cubicBezTo>
                <a:cubicBezTo>
                  <a:pt x="33234" y="58545"/>
                  <a:pt x="30059" y="61720"/>
                  <a:pt x="26112" y="61720"/>
                </a:cubicBezTo>
                <a:cubicBezTo>
                  <a:pt x="22166" y="61720"/>
                  <a:pt x="18991" y="58545"/>
                  <a:pt x="18991" y="54598"/>
                </a:cubicBezTo>
                <a:cubicBezTo>
                  <a:pt x="18991" y="34925"/>
                  <a:pt x="34925" y="18991"/>
                  <a:pt x="54598" y="18991"/>
                </a:cubicBezTo>
                <a:cubicBezTo>
                  <a:pt x="58545" y="18991"/>
                  <a:pt x="61720" y="22166"/>
                  <a:pt x="61720" y="26112"/>
                </a:cubicBezTo>
                <a:cubicBezTo>
                  <a:pt x="61720" y="30059"/>
                  <a:pt x="58545" y="33234"/>
                  <a:pt x="54598" y="33234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3" name="Text 41"/>
          <p:cNvSpPr/>
          <p:nvPr/>
        </p:nvSpPr>
        <p:spPr>
          <a:xfrm>
            <a:off x="6749026" y="5725682"/>
            <a:ext cx="2013009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Data-driven decision-making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102829" y="5763664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136851" y="5608"/>
                </a:moveTo>
                <a:cubicBezTo>
                  <a:pt x="140264" y="7121"/>
                  <a:pt x="142430" y="10504"/>
                  <a:pt x="142430" y="14243"/>
                </a:cubicBezTo>
                <a:lnTo>
                  <a:pt x="142430" y="137682"/>
                </a:lnTo>
                <a:cubicBezTo>
                  <a:pt x="142430" y="141421"/>
                  <a:pt x="140264" y="144804"/>
                  <a:pt x="136851" y="146317"/>
                </a:cubicBezTo>
                <a:cubicBezTo>
                  <a:pt x="133439" y="147830"/>
                  <a:pt x="129493" y="147267"/>
                  <a:pt x="126674" y="144804"/>
                </a:cubicBezTo>
                <a:lnTo>
                  <a:pt x="112846" y="132727"/>
                </a:lnTo>
                <a:cubicBezTo>
                  <a:pt x="99909" y="121421"/>
                  <a:pt x="83559" y="114834"/>
                  <a:pt x="66438" y="114033"/>
                </a:cubicBezTo>
                <a:lnTo>
                  <a:pt x="66438" y="142430"/>
                </a:lnTo>
                <a:cubicBezTo>
                  <a:pt x="66438" y="147682"/>
                  <a:pt x="62194" y="151925"/>
                  <a:pt x="56942" y="151925"/>
                </a:cubicBezTo>
                <a:lnTo>
                  <a:pt x="47447" y="151925"/>
                </a:lnTo>
                <a:cubicBezTo>
                  <a:pt x="42195" y="151925"/>
                  <a:pt x="37952" y="147682"/>
                  <a:pt x="37952" y="142430"/>
                </a:cubicBezTo>
                <a:lnTo>
                  <a:pt x="37952" y="113944"/>
                </a:lnTo>
                <a:cubicBezTo>
                  <a:pt x="17003" y="113944"/>
                  <a:pt x="0" y="96941"/>
                  <a:pt x="0" y="75963"/>
                </a:cubicBezTo>
                <a:cubicBezTo>
                  <a:pt x="0" y="54984"/>
                  <a:pt x="17003" y="37981"/>
                  <a:pt x="37981" y="37981"/>
                </a:cubicBezTo>
                <a:lnTo>
                  <a:pt x="63055" y="37981"/>
                </a:lnTo>
                <a:cubicBezTo>
                  <a:pt x="81393" y="37922"/>
                  <a:pt x="99078" y="31246"/>
                  <a:pt x="112876" y="19198"/>
                </a:cubicBezTo>
                <a:lnTo>
                  <a:pt x="126703" y="7121"/>
                </a:lnTo>
                <a:cubicBezTo>
                  <a:pt x="129493" y="4659"/>
                  <a:pt x="133498" y="4095"/>
                  <a:pt x="136881" y="5608"/>
                </a:cubicBezTo>
                <a:close/>
                <a:moveTo>
                  <a:pt x="66467" y="94953"/>
                </a:moveTo>
                <a:lnTo>
                  <a:pt x="66467" y="95013"/>
                </a:lnTo>
                <a:cubicBezTo>
                  <a:pt x="87327" y="95814"/>
                  <a:pt x="107357" y="103469"/>
                  <a:pt x="123439" y="116793"/>
                </a:cubicBezTo>
                <a:lnTo>
                  <a:pt x="123439" y="35103"/>
                </a:lnTo>
                <a:cubicBezTo>
                  <a:pt x="107357" y="48426"/>
                  <a:pt x="87327" y="56082"/>
                  <a:pt x="66467" y="56883"/>
                </a:cubicBezTo>
                <a:lnTo>
                  <a:pt x="66467" y="94953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5" name="Text 43"/>
          <p:cNvSpPr/>
          <p:nvPr/>
        </p:nvSpPr>
        <p:spPr>
          <a:xfrm>
            <a:off x="9349707" y="5725682"/>
            <a:ext cx="2098467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Brand reputation management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 / Recommendations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Guidance for Implementation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62063"/>
            <a:ext cx="5591175" cy="2524125"/>
          </a:xfrm>
          <a:custGeom>
            <a:avLst/>
            <a:gdLst/>
            <a:ahLst/>
            <a:cxnLst/>
            <a:rect l="l" t="t" r="r" b="b"/>
            <a:pathLst>
              <a:path w="5591175" h="2524125">
                <a:moveTo>
                  <a:pt x="152407" y="0"/>
                </a:moveTo>
                <a:lnTo>
                  <a:pt x="5438768" y="0"/>
                </a:lnTo>
                <a:cubicBezTo>
                  <a:pt x="5522940" y="0"/>
                  <a:pt x="5591175" y="68235"/>
                  <a:pt x="5591175" y="152407"/>
                </a:cubicBezTo>
                <a:lnTo>
                  <a:pt x="5591175" y="2371718"/>
                </a:lnTo>
                <a:cubicBezTo>
                  <a:pt x="5591175" y="2455890"/>
                  <a:pt x="5522940" y="2524125"/>
                  <a:pt x="5438768" y="2524125"/>
                </a:cubicBezTo>
                <a:lnTo>
                  <a:pt x="152407" y="2524125"/>
                </a:lnTo>
                <a:cubicBezTo>
                  <a:pt x="68235" y="2524125"/>
                  <a:pt x="0" y="2455890"/>
                  <a:pt x="0" y="2371718"/>
                </a:cubicBezTo>
                <a:lnTo>
                  <a:pt x="0" y="152407"/>
                </a:lnTo>
                <a:cubicBezTo>
                  <a:pt x="0" y="68291"/>
                  <a:pt x="68291" y="0"/>
                  <a:pt x="15240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9125" y="14954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Shape 4"/>
          <p:cNvSpPr/>
          <p:nvPr/>
        </p:nvSpPr>
        <p:spPr>
          <a:xfrm>
            <a:off x="728663" y="16287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228725" y="1495425"/>
            <a:ext cx="2095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Handle Class Imbalance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28725" y="1762125"/>
            <a:ext cx="206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Recommendation 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9125" y="2105025"/>
            <a:ext cx="5200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Consider techniques to further improve performance on underrepresented sentiments: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125" y="27908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" name="Text 9"/>
          <p:cNvSpPr/>
          <p:nvPr/>
        </p:nvSpPr>
        <p:spPr>
          <a:xfrm>
            <a:off x="752475" y="2714625"/>
            <a:ext cx="346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Oversampling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minority classes (SMOTE, ADASYN)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9125" y="30956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3" name="Text 11"/>
          <p:cNvSpPr/>
          <p:nvPr/>
        </p:nvSpPr>
        <p:spPr>
          <a:xfrm>
            <a:off x="752475" y="3019425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Undersampling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majority classes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9125" y="34004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5" name="Text 13"/>
          <p:cNvSpPr/>
          <p:nvPr/>
        </p:nvSpPr>
        <p:spPr>
          <a:xfrm>
            <a:off x="752475" y="3324225"/>
            <a:ext cx="3562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Class-weighted models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penalize misclassification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3" y="3986213"/>
            <a:ext cx="5591175" cy="2276475"/>
          </a:xfrm>
          <a:custGeom>
            <a:avLst/>
            <a:gdLst/>
            <a:ahLst/>
            <a:cxnLst/>
            <a:rect l="l" t="t" r="r" b="b"/>
            <a:pathLst>
              <a:path w="5591175" h="2276475">
                <a:moveTo>
                  <a:pt x="152410" y="0"/>
                </a:moveTo>
                <a:lnTo>
                  <a:pt x="5438765" y="0"/>
                </a:lnTo>
                <a:cubicBezTo>
                  <a:pt x="5522939" y="0"/>
                  <a:pt x="5591175" y="68236"/>
                  <a:pt x="5591175" y="152410"/>
                </a:cubicBezTo>
                <a:lnTo>
                  <a:pt x="5591175" y="2124065"/>
                </a:lnTo>
                <a:cubicBezTo>
                  <a:pt x="5591175" y="2208239"/>
                  <a:pt x="5522939" y="2276475"/>
                  <a:pt x="5438765" y="2276475"/>
                </a:cubicBezTo>
                <a:lnTo>
                  <a:pt x="152410" y="2276475"/>
                </a:lnTo>
                <a:cubicBezTo>
                  <a:pt x="68236" y="2276475"/>
                  <a:pt x="0" y="2208239"/>
                  <a:pt x="0" y="2124065"/>
                </a:cubicBezTo>
                <a:lnTo>
                  <a:pt x="0" y="152410"/>
                </a:lnTo>
                <a:cubicBezTo>
                  <a:pt x="0" y="68236"/>
                  <a:pt x="68236" y="0"/>
                  <a:pt x="15241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125" y="4219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8" name="Shape 16"/>
          <p:cNvSpPr/>
          <p:nvPr/>
        </p:nvSpPr>
        <p:spPr>
          <a:xfrm>
            <a:off x="752475" y="43529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228725" y="4219575"/>
            <a:ext cx="240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Advanced Embeddings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28725" y="4486275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Recommendation 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9125" y="4829175"/>
            <a:ext cx="5200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Explore contextual embeddings for capturing semantic nuances: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125" y="52673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3" name="Text 21"/>
          <p:cNvSpPr/>
          <p:nvPr/>
        </p:nvSpPr>
        <p:spPr>
          <a:xfrm>
            <a:off x="752475" y="5191125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BERT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(Bidirectional Encoder Representations)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125" y="55721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5" name="Text 23"/>
          <p:cNvSpPr/>
          <p:nvPr/>
        </p:nvSpPr>
        <p:spPr>
          <a:xfrm>
            <a:off x="752475" y="5495925"/>
            <a:ext cx="257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RoBERTa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(Robustly Optimized BERT)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125" y="58769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7" name="Text 25"/>
          <p:cNvSpPr/>
          <p:nvPr/>
        </p:nvSpPr>
        <p:spPr>
          <a:xfrm>
            <a:off x="752475" y="5800725"/>
            <a:ext cx="3000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Better handling of </a:t>
            </a: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subtle or sarcastic tweets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5063" y="1262063"/>
            <a:ext cx="5591175" cy="2581275"/>
          </a:xfrm>
          <a:custGeom>
            <a:avLst/>
            <a:gdLst/>
            <a:ahLst/>
            <a:cxnLst/>
            <a:rect l="l" t="t" r="r" b="b"/>
            <a:pathLst>
              <a:path w="5591175" h="2581275">
                <a:moveTo>
                  <a:pt x="152398" y="0"/>
                </a:moveTo>
                <a:lnTo>
                  <a:pt x="5438777" y="0"/>
                </a:lnTo>
                <a:cubicBezTo>
                  <a:pt x="5522944" y="0"/>
                  <a:pt x="5591175" y="68231"/>
                  <a:pt x="5591175" y="152398"/>
                </a:cubicBezTo>
                <a:lnTo>
                  <a:pt x="5591175" y="2428877"/>
                </a:lnTo>
                <a:cubicBezTo>
                  <a:pt x="5591175" y="2513044"/>
                  <a:pt x="5522944" y="2581275"/>
                  <a:pt x="5438777" y="2581275"/>
                </a:cubicBezTo>
                <a:lnTo>
                  <a:pt x="152398" y="2581275"/>
                </a:lnTo>
                <a:cubicBezTo>
                  <a:pt x="68231" y="2581275"/>
                  <a:pt x="0" y="2513044"/>
                  <a:pt x="0" y="242887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8425" y="14954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0" name="Shape 28"/>
          <p:cNvSpPr/>
          <p:nvPr/>
        </p:nvSpPr>
        <p:spPr>
          <a:xfrm>
            <a:off x="6581775" y="16287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7391" y="130969"/>
                </a:moveTo>
                <a:cubicBezTo>
                  <a:pt x="106961" y="130969"/>
                  <a:pt x="130969" y="106961"/>
                  <a:pt x="130969" y="77391"/>
                </a:cubicBezTo>
                <a:cubicBezTo>
                  <a:pt x="130969" y="47820"/>
                  <a:pt x="106961" y="23812"/>
                  <a:pt x="77391" y="23812"/>
                </a:cubicBezTo>
                <a:cubicBezTo>
                  <a:pt x="47820" y="23812"/>
                  <a:pt x="23813" y="47820"/>
                  <a:pt x="23812" y="77391"/>
                </a:cubicBezTo>
                <a:cubicBezTo>
                  <a:pt x="23812" y="106961"/>
                  <a:pt x="47820" y="130969"/>
                  <a:pt x="77391" y="13096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7058025" y="1495425"/>
            <a:ext cx="132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Analysis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58025" y="1762125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Recommendation 03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48425" y="2105025"/>
            <a:ext cx="5200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Review misclassified examples to identify common failure cases: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48425" y="25431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5" name="Text 33"/>
          <p:cNvSpPr/>
          <p:nvPr/>
        </p:nvSpPr>
        <p:spPr>
          <a:xfrm>
            <a:off x="6581775" y="2466975"/>
            <a:ext cx="2085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Sarcasm detection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challenges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48425" y="28479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7" name="Text 35"/>
          <p:cNvSpPr/>
          <p:nvPr/>
        </p:nvSpPr>
        <p:spPr>
          <a:xfrm>
            <a:off x="6581775" y="2776538"/>
            <a:ext cx="196706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Slang and informal language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48425" y="31527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9" name="Text 37"/>
          <p:cNvSpPr/>
          <p:nvPr/>
        </p:nvSpPr>
        <p:spPr>
          <a:xfrm>
            <a:off x="6581775" y="3076575"/>
            <a:ext cx="2505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Ambiguous expressions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context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48425" y="34575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1" name="Text 39"/>
          <p:cNvSpPr/>
          <p:nvPr/>
        </p:nvSpPr>
        <p:spPr>
          <a:xfrm>
            <a:off x="6581775" y="3381375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Consider </a:t>
            </a: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augmenting the dataset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15063" y="4043363"/>
            <a:ext cx="5591175" cy="2581275"/>
          </a:xfrm>
          <a:custGeom>
            <a:avLst/>
            <a:gdLst/>
            <a:ahLst/>
            <a:cxnLst/>
            <a:rect l="l" t="t" r="r" b="b"/>
            <a:pathLst>
              <a:path w="5591175" h="2581275">
                <a:moveTo>
                  <a:pt x="152398" y="0"/>
                </a:moveTo>
                <a:lnTo>
                  <a:pt x="5438777" y="0"/>
                </a:lnTo>
                <a:cubicBezTo>
                  <a:pt x="5522944" y="0"/>
                  <a:pt x="5591175" y="68231"/>
                  <a:pt x="5591175" y="152398"/>
                </a:cubicBezTo>
                <a:lnTo>
                  <a:pt x="5591175" y="2428877"/>
                </a:lnTo>
                <a:cubicBezTo>
                  <a:pt x="5591175" y="2513044"/>
                  <a:pt x="5522944" y="2581275"/>
                  <a:pt x="5438777" y="2581275"/>
                </a:cubicBezTo>
                <a:lnTo>
                  <a:pt x="152398" y="2581275"/>
                </a:lnTo>
                <a:cubicBezTo>
                  <a:pt x="68231" y="2581275"/>
                  <a:pt x="0" y="2513044"/>
                  <a:pt x="0" y="242887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48425" y="4276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4" name="Shape 42"/>
          <p:cNvSpPr/>
          <p:nvPr/>
        </p:nvSpPr>
        <p:spPr>
          <a:xfrm>
            <a:off x="6581775" y="44100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7058025" y="4276725"/>
            <a:ext cx="242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 Considerations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058025" y="4543425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Recommendation 04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48425" y="4886325"/>
            <a:ext cx="5200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real-time sentiment monitoring: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48425" y="53244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9" name="Text 47"/>
          <p:cNvSpPr/>
          <p:nvPr/>
        </p:nvSpPr>
        <p:spPr>
          <a:xfrm>
            <a:off x="6581775" y="5248275"/>
            <a:ext cx="2409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Package the model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into a REST API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48425" y="56292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1" name="Text 49"/>
          <p:cNvSpPr/>
          <p:nvPr/>
        </p:nvSpPr>
        <p:spPr>
          <a:xfrm>
            <a:off x="6581775" y="5553075"/>
            <a:ext cx="2905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Integrate with dashboards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visualization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448425" y="59340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3" name="Text 51"/>
          <p:cNvSpPr/>
          <p:nvPr/>
        </p:nvSpPr>
        <p:spPr>
          <a:xfrm>
            <a:off x="6581775" y="5857875"/>
            <a:ext cx="3028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 up reporting tools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actionable insights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448425" y="62388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5" name="Text 53"/>
          <p:cNvSpPr/>
          <p:nvPr/>
        </p:nvSpPr>
        <p:spPr>
          <a:xfrm>
            <a:off x="6581775" y="6162675"/>
            <a:ext cx="2686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 </a:t>
            </a: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alerting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systems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da200cf9c1a9572fb83112e7b2524193b80746de.jpg"/>
          <p:cNvPicPr>
            <a:picLocks noChangeAspect="1"/>
          </p:cNvPicPr>
          <p:nvPr/>
        </p:nvPicPr>
        <p:blipFill>
          <a:blip r:embed="rId3">
            <a:alphaModFix amt="15000"/>
          </a:blip>
          <a:srcRect t="4311" b="431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AFAFA">
                  <a:alpha val="95000"/>
                </a:srgbClr>
              </a:gs>
              <a:gs pos="50000">
                <a:srgbClr val="FAFAFA">
                  <a:alpha val="90000"/>
                </a:srgbClr>
              </a:gs>
              <a:gs pos="100000">
                <a:srgbClr val="FAFAFA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38800" y="821531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" name="Shape 2"/>
          <p:cNvSpPr/>
          <p:nvPr/>
        </p:nvSpPr>
        <p:spPr>
          <a:xfrm>
            <a:off x="5903119" y="1107281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257175" y="96441"/>
                </a:moveTo>
                <a:cubicBezTo>
                  <a:pt x="257175" y="161538"/>
                  <a:pt x="199579" y="214313"/>
                  <a:pt x="128588" y="214313"/>
                </a:cubicBezTo>
                <a:cubicBezTo>
                  <a:pt x="110706" y="214313"/>
                  <a:pt x="93695" y="210964"/>
                  <a:pt x="78224" y="204936"/>
                </a:cubicBezTo>
                <a:lnTo>
                  <a:pt x="23574" y="233869"/>
                </a:lnTo>
                <a:cubicBezTo>
                  <a:pt x="17346" y="237150"/>
                  <a:pt x="9711" y="236012"/>
                  <a:pt x="4688" y="231056"/>
                </a:cubicBezTo>
                <a:cubicBezTo>
                  <a:pt x="-335" y="226100"/>
                  <a:pt x="-1473" y="218398"/>
                  <a:pt x="1875" y="212169"/>
                </a:cubicBezTo>
                <a:lnTo>
                  <a:pt x="25718" y="167164"/>
                </a:lnTo>
                <a:cubicBezTo>
                  <a:pt x="9577" y="147474"/>
                  <a:pt x="0" y="122962"/>
                  <a:pt x="0" y="96441"/>
                </a:cubicBezTo>
                <a:cubicBezTo>
                  <a:pt x="0" y="31343"/>
                  <a:pt x="57596" y="-21431"/>
                  <a:pt x="128588" y="-21431"/>
                </a:cubicBezTo>
                <a:cubicBezTo>
                  <a:pt x="199579" y="-21431"/>
                  <a:pt x="257175" y="31343"/>
                  <a:pt x="257175" y="96441"/>
                </a:cubicBezTo>
                <a:close/>
                <a:moveTo>
                  <a:pt x="257175" y="342900"/>
                </a:moveTo>
                <a:cubicBezTo>
                  <a:pt x="194154" y="342900"/>
                  <a:pt x="141714" y="301310"/>
                  <a:pt x="130731" y="246459"/>
                </a:cubicBezTo>
                <a:cubicBezTo>
                  <a:pt x="211098" y="245455"/>
                  <a:pt x="280950" y="188260"/>
                  <a:pt x="288652" y="110706"/>
                </a:cubicBezTo>
                <a:cubicBezTo>
                  <a:pt x="344440" y="123565"/>
                  <a:pt x="385763" y="169843"/>
                  <a:pt x="385763" y="225028"/>
                </a:cubicBezTo>
                <a:cubicBezTo>
                  <a:pt x="385763" y="251549"/>
                  <a:pt x="376185" y="276061"/>
                  <a:pt x="360045" y="295751"/>
                </a:cubicBezTo>
                <a:lnTo>
                  <a:pt x="383887" y="340757"/>
                </a:lnTo>
                <a:cubicBezTo>
                  <a:pt x="387169" y="346985"/>
                  <a:pt x="386030" y="354620"/>
                  <a:pt x="381074" y="359643"/>
                </a:cubicBezTo>
                <a:cubicBezTo>
                  <a:pt x="376118" y="364666"/>
                  <a:pt x="368417" y="365805"/>
                  <a:pt x="362188" y="362456"/>
                </a:cubicBezTo>
                <a:lnTo>
                  <a:pt x="307538" y="333524"/>
                </a:lnTo>
                <a:cubicBezTo>
                  <a:pt x="292068" y="339551"/>
                  <a:pt x="275057" y="342900"/>
                  <a:pt x="257175" y="3429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4627811" y="1964531"/>
            <a:ext cx="2933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13536" y="2688431"/>
            <a:ext cx="2762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443163" y="3429001"/>
            <a:ext cx="7305675" cy="1595438"/>
          </a:xfrm>
          <a:custGeom>
            <a:avLst/>
            <a:gdLst/>
            <a:ahLst/>
            <a:cxnLst/>
            <a:rect l="l" t="t" r="r" b="b"/>
            <a:pathLst>
              <a:path w="7305675" h="2238375">
                <a:moveTo>
                  <a:pt x="152411" y="0"/>
                </a:moveTo>
                <a:lnTo>
                  <a:pt x="7153264" y="0"/>
                </a:lnTo>
                <a:cubicBezTo>
                  <a:pt x="7237438" y="0"/>
                  <a:pt x="7305675" y="68237"/>
                  <a:pt x="7305675" y="152411"/>
                </a:cubicBezTo>
                <a:lnTo>
                  <a:pt x="7305675" y="2085964"/>
                </a:lnTo>
                <a:cubicBezTo>
                  <a:pt x="7305675" y="2170138"/>
                  <a:pt x="7237438" y="2238375"/>
                  <a:pt x="7153264" y="2238375"/>
                </a:cubicBezTo>
                <a:lnTo>
                  <a:pt x="152411" y="2238375"/>
                </a:lnTo>
                <a:cubicBezTo>
                  <a:pt x="68237" y="2238375"/>
                  <a:pt x="0" y="2170138"/>
                  <a:pt x="0" y="2085964"/>
                </a:cubicBezTo>
                <a:lnTo>
                  <a:pt x="0" y="152411"/>
                </a:lnTo>
                <a:cubicBezTo>
                  <a:pt x="0" y="68293"/>
                  <a:pt x="68293" y="0"/>
                  <a:pt x="152411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05100" y="3612356"/>
            <a:ext cx="67818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presentation demonstrated how Natural Language Processing can transform unstructured text data into actionable sentiment insights, enabling organizations to better understand and respond to customer opinions at scale.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349925" y="592216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19050"/>
                </a:lnTo>
                <a:cubicBezTo>
                  <a:pt x="38100" y="29564"/>
                  <a:pt x="29564" y="38100"/>
                  <a:pt x="190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1380</Words>
  <Application>Microsoft Office PowerPoint</Application>
  <PresentationFormat>Widescreen</PresentationFormat>
  <Paragraphs>220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</vt:lpstr>
      <vt:lpstr>Liter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 Analysis Using NLP</dc:title>
  <dc:subject>Sentiment Analysis Using NLP</dc:subject>
  <dc:creator>Kimi</dc:creator>
  <cp:lastModifiedBy>User</cp:lastModifiedBy>
  <cp:revision>10</cp:revision>
  <dcterms:created xsi:type="dcterms:W3CDTF">2026-02-04T17:34:55Z</dcterms:created>
  <dcterms:modified xsi:type="dcterms:W3CDTF">2026-02-05T11:08:49Z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{"Label":"Sentiment Analysis Using NLP","ContentProducer":"001191110108MACG2KBH8F10000","ProduceID":"19c29b28-7ab2-8496-8000-000040f933e1","ReservedCode1":"","ContentPropagator":"001191110108MACG2KBH8F20000","PropagateID":"19c29b28-7ab2-8496-8000-000040f9</vt:lpwstr>
  </property>
</Properties>
</file>